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2481"/>
    <p:restoredTop sz="94637"/>
  </p:normalViewPr>
  <p:slideViewPr>
    <p:cSldViewPr snapToGrid="0" snapToObjects="1">
      <p:cViewPr>
        <p:scale>
          <a:sx n="90" d="100"/>
          <a:sy n="90" d="100"/>
        </p:scale>
        <p:origin x="1592"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theme" Target="theme/theme1.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presProps" Target="presProps.xml" /><Relationship Id="rId40"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s>
</file>

<file path=ppt/slideLayouts/_rels/slideLayout1.xml.rels><?xml version="1.0" encoding="UTF-8" standalone="yes"?>
<Relationships xmlns="http://schemas.openxmlformats.org/package/2006/relationships"><Relationship Id="rId3" Type="http://schemas.microsoft.com/office/2007/relationships/hdphoto" Target="../media/hdphoto2.wdp" /><Relationship Id="rId2" Type="http://schemas.openxmlformats.org/officeDocument/2006/relationships/image" Target="../media/image4.png" /><Relationship Id="rId1" Type="http://schemas.openxmlformats.org/officeDocument/2006/relationships/slideMaster" Target="../slideMasters/slideMaster1.xml" /><Relationship Id="rId5" Type="http://schemas.microsoft.com/office/2007/relationships/hdphoto" Target="../media/hdphoto1.wdp" /><Relationship Id="rId4" Type="http://schemas.openxmlformats.org/officeDocument/2006/relationships/image" Target="../media/image3.png"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3" Type="http://schemas.microsoft.com/office/2007/relationships/hdphoto" Target="../media/hdphoto2.wdp" /><Relationship Id="rId2" Type="http://schemas.openxmlformats.org/officeDocument/2006/relationships/image" Target="../media/image4.png" /><Relationship Id="rId1" Type="http://schemas.openxmlformats.org/officeDocument/2006/relationships/slideMaster" Target="../slideMasters/slideMaster1.xml" /><Relationship Id="rId5" Type="http://schemas.microsoft.com/office/2007/relationships/hdphoto" Target="../media/hdphoto1.wdp" /><Relationship Id="rId4" Type="http://schemas.openxmlformats.org/officeDocument/2006/relationships/image" Target="../media/image3.png"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3" Type="http://schemas.microsoft.com/office/2007/relationships/hdphoto" Target="../media/hdphoto2.wdp" /><Relationship Id="rId2" Type="http://schemas.openxmlformats.org/officeDocument/2006/relationships/image" Target="../media/image4.png" /><Relationship Id="rId1" Type="http://schemas.openxmlformats.org/officeDocument/2006/relationships/slideMaster" Target="../slideMasters/slideMaster1.xml" /><Relationship Id="rId5" Type="http://schemas.microsoft.com/office/2007/relationships/hdphoto" Target="../media/hdphoto1.wdp" /><Relationship Id="rId4" Type="http://schemas.openxmlformats.org/officeDocument/2006/relationships/image" Target="../media/image2.png" /></Relationships>
</file>

<file path=ppt/slideLayouts/_rels/slideLayout9.xml.rels><?xml version="1.0" encoding="UTF-8" standalone="yes"?>
<Relationships xmlns="http://schemas.openxmlformats.org/package/2006/relationships"><Relationship Id="rId3" Type="http://schemas.microsoft.com/office/2007/relationships/hdphoto" Target="../media/hdphoto2.wdp" /><Relationship Id="rId2" Type="http://schemas.openxmlformats.org/officeDocument/2006/relationships/image" Target="../media/image4.png" /><Relationship Id="rId1" Type="http://schemas.openxmlformats.org/officeDocument/2006/relationships/slideMaster" Target="../slideMasters/slideMaster1.xml" /><Relationship Id="rId5" Type="http://schemas.microsoft.com/office/2007/relationships/hdphoto" Target="../media/hdphoto1.wdp" /><Relationship Id="rId4" Type="http://schemas.openxmlformats.org/officeDocument/2006/relationships/image" Target="../media/image2.png"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F6E484F-CD5B-E948-976E-82D1A658EF2C}" type="datetimeFigureOut">
              <a:rPr lang="en-US" smtClean="0"/>
              <a:t>8/26/2021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F90864F6-177D-4340-99BA-C44E8D1F644D}" type="slidenum">
              <a:rPr lang="en-US" smtClean="0"/>
              <a:t>‹#›</a:t>
            </a:fld>
            <a:endParaRPr lang="en-US"/>
          </a:p>
        </p:txBody>
      </p:sp>
    </p:spTree>
    <p:extLst>
      <p:ext uri="{BB962C8B-B14F-4D97-AF65-F5344CB8AC3E}">
        <p14:creationId xmlns:p14="http://schemas.microsoft.com/office/powerpoint/2010/main" val="1860753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6E484F-CD5B-E948-976E-82D1A658EF2C}" type="datetimeFigureOut">
              <a:rPr lang="en-US" smtClean="0"/>
              <a:t>8/26/2021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0864F6-177D-4340-99BA-C44E8D1F644D}" type="slidenum">
              <a:rPr lang="en-US" smtClean="0"/>
              <a:t>‹#›</a:t>
            </a:fld>
            <a:endParaRPr lang="en-US"/>
          </a:p>
        </p:txBody>
      </p:sp>
    </p:spTree>
    <p:extLst>
      <p:ext uri="{BB962C8B-B14F-4D97-AF65-F5344CB8AC3E}">
        <p14:creationId xmlns:p14="http://schemas.microsoft.com/office/powerpoint/2010/main" val="2035005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3F6E484F-CD5B-E948-976E-82D1A658EF2C}" type="datetimeFigureOut">
              <a:rPr lang="en-US" smtClean="0"/>
              <a:t>8/26/2021</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F90864F6-177D-4340-99BA-C44E8D1F644D}" type="slidenum">
              <a:rPr lang="en-US" smtClean="0"/>
              <a:t>‹#›</a:t>
            </a:fld>
            <a:endParaRPr lang="en-US"/>
          </a:p>
        </p:txBody>
      </p:sp>
    </p:spTree>
    <p:extLst>
      <p:ext uri="{BB962C8B-B14F-4D97-AF65-F5344CB8AC3E}">
        <p14:creationId xmlns:p14="http://schemas.microsoft.com/office/powerpoint/2010/main" val="1510086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F6E484F-CD5B-E948-976E-82D1A658EF2C}" type="datetimeFigureOut">
              <a:rPr lang="en-US" smtClean="0"/>
              <a:t>8/26/2021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0864F6-177D-4340-99BA-C44E8D1F644D}" type="slidenum">
              <a:rPr lang="en-US" smtClean="0"/>
              <a:t>‹#›</a:t>
            </a:fld>
            <a:endParaRPr lang="en-US"/>
          </a:p>
        </p:txBody>
      </p:sp>
    </p:spTree>
    <p:extLst>
      <p:ext uri="{BB962C8B-B14F-4D97-AF65-F5344CB8AC3E}">
        <p14:creationId xmlns:p14="http://schemas.microsoft.com/office/powerpoint/2010/main" val="1060653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6E484F-CD5B-E948-976E-82D1A658EF2C}" type="datetimeFigureOut">
              <a:rPr lang="en-US" smtClean="0"/>
              <a:t>8/26/2021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0864F6-177D-4340-99BA-C44E8D1F644D}"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41049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3F6E484F-CD5B-E948-976E-82D1A658EF2C}" type="datetimeFigureOut">
              <a:rPr lang="en-US" smtClean="0"/>
              <a:t>8/26/2021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90864F6-177D-4340-99BA-C44E8D1F644D}"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41374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6E484F-CD5B-E948-976E-82D1A658EF2C}" type="datetimeFigureOut">
              <a:rPr lang="en-US" smtClean="0"/>
              <a:t>8/26/2021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90864F6-177D-4340-99BA-C44E8D1F644D}" type="slidenum">
              <a:rPr lang="en-US" smtClean="0"/>
              <a:t>‹#›</a:t>
            </a:fld>
            <a:endParaRPr lang="en-US"/>
          </a:p>
        </p:txBody>
      </p:sp>
    </p:spTree>
    <p:extLst>
      <p:ext uri="{BB962C8B-B14F-4D97-AF65-F5344CB8AC3E}">
        <p14:creationId xmlns:p14="http://schemas.microsoft.com/office/powerpoint/2010/main" val="1963248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F6E484F-CD5B-E948-976E-82D1A658EF2C}" type="datetimeFigureOut">
              <a:rPr lang="en-US" smtClean="0"/>
              <a:t>8/26/2021</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F90864F6-177D-4340-99BA-C44E8D1F644D}" type="slidenum">
              <a:rPr lang="en-US" smtClean="0"/>
              <a:t>‹#›</a:t>
            </a:fld>
            <a:endParaRPr lang="en-US"/>
          </a:p>
        </p:txBody>
      </p:sp>
    </p:spTree>
    <p:extLst>
      <p:ext uri="{BB962C8B-B14F-4D97-AF65-F5344CB8AC3E}">
        <p14:creationId xmlns:p14="http://schemas.microsoft.com/office/powerpoint/2010/main" val="227555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F6E484F-CD5B-E948-976E-82D1A658EF2C}" type="datetimeFigureOut">
              <a:rPr lang="en-US" smtClean="0"/>
              <a:t>8/26/2021</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F90864F6-177D-4340-99BA-C44E8D1F644D}" type="slidenum">
              <a:rPr lang="en-US" smtClean="0"/>
              <a:t>‹#›</a:t>
            </a:fld>
            <a:endParaRPr lang="en-US"/>
          </a:p>
        </p:txBody>
      </p:sp>
    </p:spTree>
    <p:extLst>
      <p:ext uri="{BB962C8B-B14F-4D97-AF65-F5344CB8AC3E}">
        <p14:creationId xmlns:p14="http://schemas.microsoft.com/office/powerpoint/2010/main" val="2002447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6E484F-CD5B-E948-976E-82D1A658EF2C}" type="datetimeFigureOut">
              <a:rPr lang="en-US" smtClean="0"/>
              <a:t>8/26/2021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0864F6-177D-4340-99BA-C44E8D1F644D}" type="slidenum">
              <a:rPr lang="en-US" smtClean="0"/>
              <a:t>‹#›</a:t>
            </a:fld>
            <a:endParaRPr lang="en-US"/>
          </a:p>
        </p:txBody>
      </p:sp>
    </p:spTree>
    <p:extLst>
      <p:ext uri="{BB962C8B-B14F-4D97-AF65-F5344CB8AC3E}">
        <p14:creationId xmlns:p14="http://schemas.microsoft.com/office/powerpoint/2010/main" val="1914328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6E484F-CD5B-E948-976E-82D1A658EF2C}" type="datetimeFigureOut">
              <a:rPr lang="en-US" smtClean="0"/>
              <a:t>8/26/2021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0864F6-177D-4340-99BA-C44E8D1F644D}" type="slidenum">
              <a:rPr lang="en-US" smtClean="0"/>
              <a:t>‹#›</a:t>
            </a:fld>
            <a:endParaRPr lang="en-US"/>
          </a:p>
        </p:txBody>
      </p:sp>
    </p:spTree>
    <p:extLst>
      <p:ext uri="{BB962C8B-B14F-4D97-AF65-F5344CB8AC3E}">
        <p14:creationId xmlns:p14="http://schemas.microsoft.com/office/powerpoint/2010/main" val="525133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2.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image" Target="../media/image3.png"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microsoft.com/office/2007/relationships/hdphoto" Target="../media/hdphoto1.wdp"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3F6E484F-CD5B-E948-976E-82D1A658EF2C}" type="datetimeFigureOut">
              <a:rPr lang="en-US" smtClean="0"/>
              <a:t>8/26/2021</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F90864F6-177D-4340-99BA-C44E8D1F644D}" type="slidenum">
              <a:rPr lang="en-US" smtClean="0"/>
              <a:t>‹#›</a:t>
            </a:fld>
            <a:endParaRPr lang="en-US"/>
          </a:p>
        </p:txBody>
      </p:sp>
    </p:spTree>
    <p:extLst>
      <p:ext uri="{BB962C8B-B14F-4D97-AF65-F5344CB8AC3E}">
        <p14:creationId xmlns:p14="http://schemas.microsoft.com/office/powerpoint/2010/main" val="12926640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5.tiff"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6.tiff"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7.tiff"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8.tiff"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3" Type="http://schemas.openxmlformats.org/officeDocument/2006/relationships/image" Target="../media/image10.tiff" /><Relationship Id="rId2" Type="http://schemas.openxmlformats.org/officeDocument/2006/relationships/image" Target="../media/image9.tiff"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11.tiff"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2" Type="http://schemas.openxmlformats.org/officeDocument/2006/relationships/image" Target="../media/image12.tiff"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3" Type="http://schemas.openxmlformats.org/officeDocument/2006/relationships/image" Target="../media/image14.tiff" /><Relationship Id="rId2" Type="http://schemas.openxmlformats.org/officeDocument/2006/relationships/image" Target="../media/image13.tiff"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2" Type="http://schemas.openxmlformats.org/officeDocument/2006/relationships/image" Target="../media/image15.tiff" /><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2" Type="http://schemas.openxmlformats.org/officeDocument/2006/relationships/image" Target="../media/image16.tiff"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906720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Tap-changing Transformers </a:t>
            </a:r>
            <a:endParaRPr lang="en-US" dirty="0"/>
          </a:p>
        </p:txBody>
      </p:sp>
      <p:sp>
        <p:nvSpPr>
          <p:cNvPr id="3" name="Content Placeholder 2"/>
          <p:cNvSpPr>
            <a:spLocks noGrp="1"/>
          </p:cNvSpPr>
          <p:nvPr>
            <p:ph idx="1"/>
          </p:nvPr>
        </p:nvSpPr>
        <p:spPr>
          <a:xfrm>
            <a:off x="1069848" y="1807083"/>
            <a:ext cx="10058400" cy="4050792"/>
          </a:xfrm>
        </p:spPr>
        <p:txBody>
          <a:bodyPr>
            <a:noAutofit/>
          </a:bodyPr>
          <a:lstStyle/>
          <a:p>
            <a:pPr>
              <a:lnSpc>
                <a:spcPct val="150000"/>
              </a:lnSpc>
            </a:pPr>
            <a:r>
              <a:rPr lang="en-US" sz="2400" dirty="0"/>
              <a:t>Most power transformers have </a:t>
            </a:r>
            <a:r>
              <a:rPr lang="en-US" sz="2400" dirty="0" err="1"/>
              <a:t>tappings</a:t>
            </a:r>
            <a:r>
              <a:rPr lang="en-US" sz="2400" dirty="0"/>
              <a:t> on coils brought out to terminals so that the number of turns on one winding can be changed </a:t>
            </a:r>
          </a:p>
          <a:p>
            <a:pPr>
              <a:lnSpc>
                <a:spcPct val="150000"/>
              </a:lnSpc>
            </a:pPr>
            <a:r>
              <a:rPr lang="en-US" sz="2400" dirty="0"/>
              <a:t>The turns ratios are changed in order </a:t>
            </a:r>
          </a:p>
          <a:p>
            <a:pPr marL="227013" indent="0">
              <a:lnSpc>
                <a:spcPct val="150000"/>
              </a:lnSpc>
              <a:buNone/>
            </a:pPr>
            <a:r>
              <a:rPr lang="en-US" sz="2400" dirty="0"/>
              <a:t>(a) to maintain the secondary voltage at their rated value under the varying conditions of load and power factor. The secondary terminal voltage may vary with changes in load over an undesirably large range, because of changes in the impedance drop in the transmission lines and transformers </a:t>
            </a:r>
          </a:p>
        </p:txBody>
      </p:sp>
    </p:spTree>
    <p:extLst>
      <p:ext uri="{BB962C8B-B14F-4D97-AF65-F5344CB8AC3E}">
        <p14:creationId xmlns:p14="http://schemas.microsoft.com/office/powerpoint/2010/main" val="1931140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Tap-changing Transformers </a:t>
            </a:r>
            <a:endParaRPr lang="en-US" dirty="0"/>
          </a:p>
        </p:txBody>
      </p:sp>
      <p:sp>
        <p:nvSpPr>
          <p:cNvPr id="3" name="Content Placeholder 2"/>
          <p:cNvSpPr>
            <a:spLocks noGrp="1"/>
          </p:cNvSpPr>
          <p:nvPr>
            <p:ph idx="1"/>
          </p:nvPr>
        </p:nvSpPr>
        <p:spPr/>
        <p:txBody>
          <a:bodyPr>
            <a:normAutofit/>
          </a:bodyPr>
          <a:lstStyle/>
          <a:p>
            <a:pPr marL="0" indent="0">
              <a:lnSpc>
                <a:spcPct val="150000"/>
              </a:lnSpc>
              <a:buNone/>
            </a:pPr>
            <a:r>
              <a:rPr lang="en-US" sz="2400" dirty="0"/>
              <a:t>(b) to control the flow of reactive power between two interconnected power systems or between component parts of the same system, at the same time permitting the voltages at specified points to be maintained at desired values. </a:t>
            </a:r>
          </a:p>
          <a:p>
            <a:pPr>
              <a:lnSpc>
                <a:spcPct val="150000"/>
              </a:lnSpc>
            </a:pPr>
            <a:endParaRPr lang="en-US" sz="2400" dirty="0"/>
          </a:p>
        </p:txBody>
      </p:sp>
    </p:spTree>
    <p:extLst>
      <p:ext uri="{BB962C8B-B14F-4D97-AF65-F5344CB8AC3E}">
        <p14:creationId xmlns:p14="http://schemas.microsoft.com/office/powerpoint/2010/main" val="534423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Tap-changing Transformers </a:t>
            </a:r>
            <a:endParaRPr lang="en-US" dirty="0"/>
          </a:p>
        </p:txBody>
      </p:sp>
      <p:sp>
        <p:nvSpPr>
          <p:cNvPr id="3" name="Content Placeholder 2"/>
          <p:cNvSpPr>
            <a:spLocks noGrp="1"/>
          </p:cNvSpPr>
          <p:nvPr>
            <p:ph idx="1"/>
          </p:nvPr>
        </p:nvSpPr>
        <p:spPr>
          <a:xfrm>
            <a:off x="1069848" y="1674840"/>
            <a:ext cx="10058400" cy="4050792"/>
          </a:xfrm>
        </p:spPr>
        <p:txBody>
          <a:bodyPr>
            <a:noAutofit/>
          </a:bodyPr>
          <a:lstStyle/>
          <a:p>
            <a:pPr>
              <a:lnSpc>
                <a:spcPct val="150000"/>
              </a:lnSpc>
            </a:pPr>
            <a:r>
              <a:rPr lang="en-US" sz="2200" dirty="0" err="1"/>
              <a:t>Tappings</a:t>
            </a:r>
            <a:r>
              <a:rPr lang="en-US" sz="2200" dirty="0"/>
              <a:t> on power transformers permit voltage adjustment with ± 5%. </a:t>
            </a:r>
          </a:p>
          <a:p>
            <a:pPr>
              <a:lnSpc>
                <a:spcPct val="150000"/>
              </a:lnSpc>
            </a:pPr>
            <a:r>
              <a:rPr lang="en-US" sz="2200" dirty="0"/>
              <a:t> Low – and medium – power transformers usually have three taps per phase: +5%, 0 and -5% variations in the turns ration</a:t>
            </a:r>
          </a:p>
          <a:p>
            <a:pPr>
              <a:lnSpc>
                <a:spcPct val="150000"/>
              </a:lnSpc>
            </a:pPr>
            <a:r>
              <a:rPr lang="en-US" sz="2200" dirty="0"/>
              <a:t>Higher power usually have five: 5%, +2.5%, 0%, -2.5% and 5% variations in the turns ratio.</a:t>
            </a:r>
          </a:p>
          <a:p>
            <a:pPr>
              <a:lnSpc>
                <a:spcPct val="150000"/>
              </a:lnSpc>
            </a:pPr>
            <a:r>
              <a:rPr lang="en-US" sz="2200" dirty="0"/>
              <a:t>The principal tapping “0” is that to which the rating of the winding is related.</a:t>
            </a:r>
          </a:p>
        </p:txBody>
      </p:sp>
    </p:spTree>
    <p:extLst>
      <p:ext uri="{BB962C8B-B14F-4D97-AF65-F5344CB8AC3E}">
        <p14:creationId xmlns:p14="http://schemas.microsoft.com/office/powerpoint/2010/main" val="990370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Tap-changing Transformers </a:t>
            </a:r>
            <a:endParaRPr lang="en-US" dirty="0"/>
          </a:p>
        </p:txBody>
      </p:sp>
      <p:sp>
        <p:nvSpPr>
          <p:cNvPr id="3" name="Content Placeholder 2"/>
          <p:cNvSpPr>
            <a:spLocks noGrp="1"/>
          </p:cNvSpPr>
          <p:nvPr>
            <p:ph idx="1"/>
          </p:nvPr>
        </p:nvSpPr>
        <p:spPr>
          <a:xfrm>
            <a:off x="1069848" y="2103971"/>
            <a:ext cx="10058400" cy="4050792"/>
          </a:xfrm>
        </p:spPr>
        <p:txBody>
          <a:bodyPr>
            <a:noAutofit/>
          </a:bodyPr>
          <a:lstStyle/>
          <a:p>
            <a:pPr>
              <a:lnSpc>
                <a:spcPct val="150000"/>
              </a:lnSpc>
            </a:pPr>
            <a:r>
              <a:rPr lang="en-US" sz="2800" dirty="0"/>
              <a:t>A positive tapping includes more, and a negative less turns than those of the principal tapping </a:t>
            </a:r>
          </a:p>
          <a:p>
            <a:pPr>
              <a:lnSpc>
                <a:spcPct val="150000"/>
              </a:lnSpc>
            </a:pPr>
            <a:r>
              <a:rPr lang="en-US" sz="2800" dirty="0" err="1"/>
              <a:t>Tappings</a:t>
            </a:r>
            <a:r>
              <a:rPr lang="en-US" sz="2800" dirty="0"/>
              <a:t> are usually fitted on the higher voltage winding to obtain </a:t>
            </a:r>
            <a:r>
              <a:rPr lang="en-US" sz="2800" dirty="0" err="1"/>
              <a:t>tappings</a:t>
            </a:r>
            <a:r>
              <a:rPr lang="en-US" sz="2800" dirty="0"/>
              <a:t> within fine limits. </a:t>
            </a:r>
          </a:p>
          <a:p>
            <a:pPr>
              <a:lnSpc>
                <a:spcPct val="150000"/>
              </a:lnSpc>
            </a:pPr>
            <a:r>
              <a:rPr lang="en-US" sz="2800" dirty="0"/>
              <a:t>Consider say, 11kV / 433 V, 600 kVA delta-star distribution transformer having volts / turn = 10. </a:t>
            </a:r>
          </a:p>
        </p:txBody>
      </p:sp>
    </p:spTree>
    <p:extLst>
      <p:ext uri="{BB962C8B-B14F-4D97-AF65-F5344CB8AC3E}">
        <p14:creationId xmlns:p14="http://schemas.microsoft.com/office/powerpoint/2010/main" val="1165872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Tap-changing Transformers </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a:lnSpc>
                    <a:spcPct val="150000"/>
                  </a:lnSpc>
                </a:pPr>
                <a:r>
                  <a:rPr lang="en-US" sz="2800" dirty="0"/>
                  <a:t>On the low – voltage side, N = 433/10</a:t>
                </a:r>
                <a14:m>
                  <m:oMath xmlns:m="http://schemas.openxmlformats.org/officeDocument/2006/math">
                    <m:rad>
                      <m:radPr>
                        <m:degHide m:val="on"/>
                        <m:ctrlPr>
                          <a:rPr lang="en-US" sz="2800" i="1">
                            <a:latin typeface="Cambria Math" panose="02040503050406030204" pitchFamily="18" charset="0"/>
                          </a:rPr>
                        </m:ctrlPr>
                      </m:radPr>
                      <m:deg/>
                      <m:e>
                        <m:r>
                          <a:rPr lang="en-US" sz="2800" i="1">
                            <a:latin typeface="Cambria Math" charset="0"/>
                          </a:rPr>
                          <m:t>3</m:t>
                        </m:r>
                      </m:e>
                    </m:rad>
                  </m:oMath>
                </a14:m>
                <a:r>
                  <a:rPr lang="en-US" sz="2800" dirty="0"/>
                  <a:t> = 25. adjustment can be in steps of 4%.</a:t>
                </a:r>
              </a:p>
              <a:p>
                <a:pPr>
                  <a:lnSpc>
                    <a:spcPct val="150000"/>
                  </a:lnSpc>
                </a:pPr>
                <a:r>
                  <a:rPr lang="en-US" sz="2800" dirty="0"/>
                  <a:t>If 5% and 10% are required, we shall use 4% and 8%  or 12%.</a:t>
                </a:r>
              </a:p>
              <a:p>
                <a:pPr>
                  <a:lnSpc>
                    <a:spcPct val="150000"/>
                  </a:lnSpc>
                </a:pPr>
                <a:r>
                  <a:rPr lang="en-US" sz="2800" dirty="0"/>
                  <a:t>On the high – voltage side N = 11000/10 =1100 and it is possible to make adjustment in steps of 0.09%.</a:t>
                </a:r>
              </a:p>
              <a:p>
                <a:pPr>
                  <a:lnSpc>
                    <a:spcPct val="150000"/>
                  </a:lnSpc>
                </a:pPr>
                <a:endParaRPr lang="en-US"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848" b="-2105"/>
                </a:stretch>
              </a:blipFill>
            </p:spPr>
            <p:txBody>
              <a:bodyPr/>
              <a:lstStyle/>
              <a:p>
                <a:r>
                  <a:rPr lang="en-US">
                    <a:noFill/>
                  </a:rPr>
                  <a:t> </a:t>
                </a:r>
              </a:p>
            </p:txBody>
          </p:sp>
        </mc:Fallback>
      </mc:AlternateContent>
    </p:spTree>
    <p:extLst>
      <p:ext uri="{BB962C8B-B14F-4D97-AF65-F5344CB8AC3E}">
        <p14:creationId xmlns:p14="http://schemas.microsoft.com/office/powerpoint/2010/main" val="1371294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Changing the taps of transformers </a:t>
            </a:r>
            <a:endParaRPr lang="en-US" dirty="0"/>
          </a:p>
        </p:txBody>
      </p:sp>
      <p:sp>
        <p:nvSpPr>
          <p:cNvPr id="3" name="Content Placeholder 2"/>
          <p:cNvSpPr>
            <a:spLocks noGrp="1"/>
          </p:cNvSpPr>
          <p:nvPr>
            <p:ph idx="1"/>
          </p:nvPr>
        </p:nvSpPr>
        <p:spPr>
          <a:xfrm>
            <a:off x="1069848" y="1945120"/>
            <a:ext cx="10058400" cy="4050792"/>
          </a:xfrm>
        </p:spPr>
        <p:txBody>
          <a:bodyPr>
            <a:noAutofit/>
          </a:bodyPr>
          <a:lstStyle/>
          <a:p>
            <a:pPr marL="0" indent="0">
              <a:lnSpc>
                <a:spcPct val="150000"/>
              </a:lnSpc>
              <a:buNone/>
            </a:pPr>
            <a:r>
              <a:rPr lang="en-US" sz="2400" dirty="0"/>
              <a:t>Tap-changing may be either on-load or off-</a:t>
            </a:r>
            <a:r>
              <a:rPr lang="en-US" sz="2400" dirty="0" err="1"/>
              <a:t>load.tap</a:t>
            </a:r>
            <a:r>
              <a:rPr lang="en-US" sz="2400" dirty="0"/>
              <a:t>-changing </a:t>
            </a:r>
          </a:p>
          <a:p>
            <a:pPr marL="0" indent="0">
              <a:lnSpc>
                <a:spcPct val="150000"/>
              </a:lnSpc>
              <a:buNone/>
            </a:pPr>
            <a:r>
              <a:rPr lang="en-US" sz="2400" i="1" dirty="0"/>
              <a:t>(a) Off-load tap changing</a:t>
            </a:r>
            <a:r>
              <a:rPr lang="en-US" sz="2400" b="1" dirty="0"/>
              <a:t>: </a:t>
            </a:r>
          </a:p>
          <a:p>
            <a:pPr>
              <a:lnSpc>
                <a:spcPct val="150000"/>
              </a:lnSpc>
            </a:pPr>
            <a:r>
              <a:rPr lang="en-US" sz="2400" dirty="0"/>
              <a:t>the changes are made when the transformer is disconnected from the primary circuit. </a:t>
            </a:r>
          </a:p>
          <a:p>
            <a:pPr>
              <a:lnSpc>
                <a:spcPct val="150000"/>
              </a:lnSpc>
            </a:pPr>
            <a:r>
              <a:rPr lang="en-US" sz="2400" dirty="0"/>
              <a:t>The most common off-load tap changing transformer has </a:t>
            </a:r>
            <a:r>
              <a:rPr lang="en-US" sz="2400" dirty="0" err="1"/>
              <a:t>tappings</a:t>
            </a:r>
            <a:r>
              <a:rPr lang="en-US" sz="2400" dirty="0"/>
              <a:t> inside the tank and connected to an internal switch which is operated by an external switch handle (usually by rotary movement of a </a:t>
            </a:r>
            <a:r>
              <a:rPr lang="en-US" sz="2400" dirty="0" err="1"/>
              <a:t>handwheel</a:t>
            </a:r>
            <a:r>
              <a:rPr lang="en-US" sz="2400" dirty="0"/>
              <a:t>). </a:t>
            </a:r>
          </a:p>
        </p:txBody>
      </p:sp>
    </p:spTree>
    <p:extLst>
      <p:ext uri="{BB962C8B-B14F-4D97-AF65-F5344CB8AC3E}">
        <p14:creationId xmlns:p14="http://schemas.microsoft.com/office/powerpoint/2010/main" val="612269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t>Off-load tap changing </a:t>
            </a:r>
          </a:p>
        </p:txBody>
      </p:sp>
      <p:pic>
        <p:nvPicPr>
          <p:cNvPr id="4" name="Content Placeholder 3"/>
          <p:cNvPicPr>
            <a:picLocks noGrp="1" noChangeAspect="1"/>
          </p:cNvPicPr>
          <p:nvPr>
            <p:ph idx="1"/>
          </p:nvPr>
        </p:nvPicPr>
        <p:blipFill>
          <a:blip r:embed="rId2"/>
          <a:stretch>
            <a:fillRect/>
          </a:stretch>
        </p:blipFill>
        <p:spPr>
          <a:xfrm>
            <a:off x="2787318" y="1743103"/>
            <a:ext cx="3311730" cy="4664164"/>
          </a:xfrm>
          <a:prstGeom prst="rect">
            <a:avLst/>
          </a:prstGeom>
        </p:spPr>
      </p:pic>
      <p:sp>
        <p:nvSpPr>
          <p:cNvPr id="5" name="TextBox 4"/>
          <p:cNvSpPr txBox="1"/>
          <p:nvPr/>
        </p:nvSpPr>
        <p:spPr>
          <a:xfrm>
            <a:off x="7229877" y="2009235"/>
            <a:ext cx="3898371" cy="4131900"/>
          </a:xfrm>
          <a:prstGeom prst="rect">
            <a:avLst/>
          </a:prstGeom>
          <a:noFill/>
        </p:spPr>
        <p:txBody>
          <a:bodyPr wrap="square" rtlCol="0">
            <a:spAutoFit/>
          </a:bodyPr>
          <a:lstStyle/>
          <a:p>
            <a:pPr>
              <a:lnSpc>
                <a:spcPct val="150000"/>
              </a:lnSpc>
            </a:pPr>
            <a:r>
              <a:rPr lang="en-US" sz="2500" dirty="0"/>
              <a:t>Off-load tap changing is simple and inexpensive and it is commonly used with distribution transformers where occasional adjustments are required.</a:t>
            </a:r>
          </a:p>
        </p:txBody>
      </p:sp>
    </p:spTree>
    <p:extLst>
      <p:ext uri="{BB962C8B-B14F-4D97-AF65-F5344CB8AC3E}">
        <p14:creationId xmlns:p14="http://schemas.microsoft.com/office/powerpoint/2010/main" val="626598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On-load tap changing </a:t>
            </a:r>
          </a:p>
        </p:txBody>
      </p:sp>
      <p:sp>
        <p:nvSpPr>
          <p:cNvPr id="3" name="Content Placeholder 2"/>
          <p:cNvSpPr>
            <a:spLocks noGrp="1"/>
          </p:cNvSpPr>
          <p:nvPr>
            <p:ph idx="1"/>
          </p:nvPr>
        </p:nvSpPr>
        <p:spPr/>
        <p:txBody>
          <a:bodyPr>
            <a:noAutofit/>
          </a:bodyPr>
          <a:lstStyle/>
          <a:p>
            <a:pPr>
              <a:lnSpc>
                <a:spcPct val="150000"/>
              </a:lnSpc>
            </a:pPr>
            <a:r>
              <a:rPr lang="en-US" sz="2600" dirty="0"/>
              <a:t>Daily and short-time adjustment is generally by means of on-load tap-changing gear </a:t>
            </a:r>
          </a:p>
          <a:p>
            <a:pPr>
              <a:lnSpc>
                <a:spcPct val="150000"/>
              </a:lnSpc>
            </a:pPr>
            <a:r>
              <a:rPr lang="en-US" sz="2600" dirty="0"/>
              <a:t>Tap changing is done without breaking the circuit </a:t>
            </a:r>
          </a:p>
          <a:p>
            <a:pPr>
              <a:lnSpc>
                <a:spcPct val="150000"/>
              </a:lnSpc>
            </a:pPr>
            <a:r>
              <a:rPr lang="en-US" sz="2600" dirty="0"/>
              <a:t>Momentary connection must be made simultaneously to two adjacent taps during the transition, and the short-circuit current between them must be limited by some form of impedance known as transition impedance. </a:t>
            </a:r>
          </a:p>
        </p:txBody>
      </p:sp>
    </p:spTree>
    <p:extLst>
      <p:ext uri="{BB962C8B-B14F-4D97-AF65-F5344CB8AC3E}">
        <p14:creationId xmlns:p14="http://schemas.microsoft.com/office/powerpoint/2010/main" val="1826028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lnSpc>
                <a:spcPct val="150000"/>
              </a:lnSpc>
              <a:buNone/>
            </a:pPr>
            <a:r>
              <a:rPr lang="en-US" dirty="0"/>
              <a:t>Centre-tapped iron-core inductors (the reactor method) or resistors (the resistor method) are used for this purpose </a:t>
            </a:r>
          </a:p>
          <a:p>
            <a:pPr marL="514350" indent="-514350">
              <a:lnSpc>
                <a:spcPct val="150000"/>
              </a:lnSpc>
              <a:buAutoNum type="romanLcParenBoth"/>
            </a:pPr>
            <a:r>
              <a:rPr lang="en-US" i="1" dirty="0"/>
              <a:t>Reactor method</a:t>
            </a:r>
            <a:r>
              <a:rPr lang="en-US" dirty="0"/>
              <a:t>: This method has now almost entirely been superseded by the resistor method. </a:t>
            </a:r>
          </a:p>
          <a:p>
            <a:pPr marL="514350" indent="-514350">
              <a:lnSpc>
                <a:spcPct val="150000"/>
              </a:lnSpc>
              <a:buAutoNum type="romanLcParenBoth"/>
            </a:pPr>
            <a:r>
              <a:rPr lang="en-US" i="1" dirty="0"/>
              <a:t>Resistor method</a:t>
            </a:r>
            <a:r>
              <a:rPr lang="en-US" dirty="0"/>
              <a:t>: In modern designs the transition impedance is almost invariably obtained by means of a pair of resistors. </a:t>
            </a:r>
          </a:p>
        </p:txBody>
      </p:sp>
    </p:spTree>
    <p:extLst>
      <p:ext uri="{BB962C8B-B14F-4D97-AF65-F5344CB8AC3E}">
        <p14:creationId xmlns:p14="http://schemas.microsoft.com/office/powerpoint/2010/main" val="1975372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53622" y="0"/>
            <a:ext cx="7489332" cy="6858000"/>
          </a:xfrm>
          <a:prstGeom prst="rect">
            <a:avLst/>
          </a:prstGeom>
        </p:spPr>
      </p:pic>
    </p:spTree>
    <p:extLst>
      <p:ext uri="{BB962C8B-B14F-4D97-AF65-F5344CB8AC3E}">
        <p14:creationId xmlns:p14="http://schemas.microsoft.com/office/powerpoint/2010/main" val="1747053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AUTOTRANSFORMER</a:t>
            </a:r>
          </a:p>
        </p:txBody>
      </p:sp>
      <p:sp>
        <p:nvSpPr>
          <p:cNvPr id="3" name="Content Placeholder 2"/>
          <p:cNvSpPr>
            <a:spLocks noGrp="1"/>
          </p:cNvSpPr>
          <p:nvPr>
            <p:ph idx="1"/>
          </p:nvPr>
        </p:nvSpPr>
        <p:spPr>
          <a:xfrm>
            <a:off x="1069848" y="1547249"/>
            <a:ext cx="10058400" cy="4050792"/>
          </a:xfrm>
        </p:spPr>
        <p:txBody>
          <a:bodyPr>
            <a:normAutofit/>
          </a:bodyPr>
          <a:lstStyle/>
          <a:p>
            <a:pPr>
              <a:lnSpc>
                <a:spcPct val="150000"/>
              </a:lnSpc>
            </a:pPr>
            <a:r>
              <a:rPr lang="en-US" sz="2400" dirty="0"/>
              <a:t>An autotransformer has a single winding on an iron core and a part of winding is common to both the primary and secondary circuits</a:t>
            </a:r>
          </a:p>
          <a:p>
            <a:pPr>
              <a:lnSpc>
                <a:spcPct val="150000"/>
              </a:lnSpc>
            </a:pPr>
            <a:r>
              <a:rPr lang="en-US" sz="2400" dirty="0"/>
              <a:t>An autotransformer has a single tapped winding which serves both primary and secondary functions </a:t>
            </a:r>
          </a:p>
        </p:txBody>
      </p:sp>
      <p:pic>
        <p:nvPicPr>
          <p:cNvPr id="4" name="Picture 3"/>
          <p:cNvPicPr>
            <a:picLocks noChangeAspect="1"/>
          </p:cNvPicPr>
          <p:nvPr/>
        </p:nvPicPr>
        <p:blipFill>
          <a:blip r:embed="rId2"/>
          <a:stretch>
            <a:fillRect/>
          </a:stretch>
        </p:blipFill>
        <p:spPr>
          <a:xfrm>
            <a:off x="4365403" y="3806456"/>
            <a:ext cx="7011770" cy="3051544"/>
          </a:xfrm>
          <a:prstGeom prst="rect">
            <a:avLst/>
          </a:prstGeom>
        </p:spPr>
      </p:pic>
    </p:spTree>
    <p:extLst>
      <p:ext uri="{BB962C8B-B14F-4D97-AF65-F5344CB8AC3E}">
        <p14:creationId xmlns:p14="http://schemas.microsoft.com/office/powerpoint/2010/main" val="8250435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AUTOTRANSFORMER</a:t>
            </a:r>
          </a:p>
        </p:txBody>
      </p:sp>
      <p:sp>
        <p:nvSpPr>
          <p:cNvPr id="3" name="Content Placeholder 2"/>
          <p:cNvSpPr>
            <a:spLocks noGrp="1"/>
          </p:cNvSpPr>
          <p:nvPr>
            <p:ph idx="1"/>
          </p:nvPr>
        </p:nvSpPr>
        <p:spPr/>
        <p:txBody>
          <a:bodyPr>
            <a:noAutofit/>
          </a:bodyPr>
          <a:lstStyle/>
          <a:p>
            <a:pPr>
              <a:lnSpc>
                <a:spcPct val="150000"/>
              </a:lnSpc>
            </a:pPr>
            <a:r>
              <a:rPr lang="en-US" sz="2400" dirty="0"/>
              <a:t>In each case, I</a:t>
            </a:r>
            <a:r>
              <a:rPr lang="en-US" sz="2400" baseline="-25000" dirty="0"/>
              <a:t>1</a:t>
            </a:r>
            <a:r>
              <a:rPr lang="en-US" sz="2400" dirty="0"/>
              <a:t> is the input current and I</a:t>
            </a:r>
            <a:r>
              <a:rPr lang="en-US" sz="2400" baseline="-25000" dirty="0"/>
              <a:t>2</a:t>
            </a:r>
            <a:r>
              <a:rPr lang="en-US" sz="2400" dirty="0"/>
              <a:t> is the output or load current.</a:t>
            </a:r>
          </a:p>
          <a:p>
            <a:pPr>
              <a:lnSpc>
                <a:spcPct val="150000"/>
              </a:lnSpc>
            </a:pPr>
            <a:r>
              <a:rPr lang="en-US" sz="2400" dirty="0"/>
              <a:t>Regardless of autotransformer connection (step-up or step-down), the current in the portion of the winding that is common to both the primary and the secondary is the difference between these currents (I</a:t>
            </a:r>
            <a:r>
              <a:rPr lang="en-US" sz="2400" baseline="-25000" dirty="0"/>
              <a:t>1</a:t>
            </a:r>
            <a:r>
              <a:rPr lang="en-US" sz="2400" dirty="0"/>
              <a:t> and I</a:t>
            </a:r>
            <a:r>
              <a:rPr lang="en-US" sz="2400" baseline="-25000" dirty="0"/>
              <a:t>2</a:t>
            </a:r>
            <a:r>
              <a:rPr lang="en-US" sz="2400" dirty="0"/>
              <a:t>).</a:t>
            </a:r>
          </a:p>
          <a:p>
            <a:pPr>
              <a:lnSpc>
                <a:spcPct val="150000"/>
              </a:lnSpc>
            </a:pPr>
            <a:r>
              <a:rPr lang="en-US" sz="2400" dirty="0"/>
              <a:t>The relative direction of the current through the common portion of the winding depends upon the connections of the autotransformer.</a:t>
            </a:r>
          </a:p>
        </p:txBody>
      </p:sp>
    </p:spTree>
    <p:extLst>
      <p:ext uri="{BB962C8B-B14F-4D97-AF65-F5344CB8AC3E}">
        <p14:creationId xmlns:p14="http://schemas.microsoft.com/office/powerpoint/2010/main" val="14048951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AUTOTRANSFORMER</a:t>
            </a:r>
          </a:p>
        </p:txBody>
      </p:sp>
      <p:sp>
        <p:nvSpPr>
          <p:cNvPr id="3" name="Content Placeholder 2"/>
          <p:cNvSpPr>
            <a:spLocks noGrp="1"/>
          </p:cNvSpPr>
          <p:nvPr>
            <p:ph idx="1"/>
          </p:nvPr>
        </p:nvSpPr>
        <p:spPr/>
        <p:txBody>
          <a:bodyPr>
            <a:noAutofit/>
          </a:bodyPr>
          <a:lstStyle/>
          <a:p>
            <a:pPr>
              <a:lnSpc>
                <a:spcPct val="160000"/>
              </a:lnSpc>
            </a:pPr>
            <a:r>
              <a:rPr lang="en-US" sz="2500" dirty="0"/>
              <a:t>It is because the type of connection determines whether input current I</a:t>
            </a:r>
            <a:r>
              <a:rPr lang="en-US" sz="2500" baseline="-25000" dirty="0"/>
              <a:t>1</a:t>
            </a:r>
            <a:r>
              <a:rPr lang="en-US" sz="2500" dirty="0"/>
              <a:t> or output current I</a:t>
            </a:r>
            <a:r>
              <a:rPr lang="en-US" sz="2500" baseline="-25000" dirty="0"/>
              <a:t>2</a:t>
            </a:r>
            <a:r>
              <a:rPr lang="en-US" sz="2500" dirty="0"/>
              <a:t> is larger</a:t>
            </a:r>
          </a:p>
          <a:p>
            <a:pPr>
              <a:lnSpc>
                <a:spcPct val="160000"/>
              </a:lnSpc>
            </a:pPr>
            <a:r>
              <a:rPr lang="en-US" sz="2500" dirty="0"/>
              <a:t>For step-down autotransformer I</a:t>
            </a:r>
            <a:r>
              <a:rPr lang="en-US" sz="2500" baseline="-25000" dirty="0"/>
              <a:t>2</a:t>
            </a:r>
            <a:r>
              <a:rPr lang="en-US" sz="2500" dirty="0"/>
              <a:t> &gt; I</a:t>
            </a:r>
            <a:r>
              <a:rPr lang="en-US" sz="2500" baseline="-25000" dirty="0"/>
              <a:t>1</a:t>
            </a:r>
            <a:r>
              <a:rPr lang="en-US" sz="2500" dirty="0"/>
              <a:t> (as for 2-winding transformer) so that I</a:t>
            </a:r>
            <a:r>
              <a:rPr lang="en-US" sz="2500" baseline="-25000" dirty="0"/>
              <a:t>2</a:t>
            </a:r>
            <a:r>
              <a:rPr lang="en-US" sz="2500" dirty="0"/>
              <a:t> − I</a:t>
            </a:r>
            <a:r>
              <a:rPr lang="en-US" sz="2500" baseline="-25000" dirty="0"/>
              <a:t>1 </a:t>
            </a:r>
            <a:r>
              <a:rPr lang="en-US" sz="2500" dirty="0"/>
              <a:t>current flows through the common portion of the winding</a:t>
            </a:r>
          </a:p>
          <a:p>
            <a:pPr>
              <a:lnSpc>
                <a:spcPct val="160000"/>
              </a:lnSpc>
            </a:pPr>
            <a:r>
              <a:rPr lang="en-US" sz="2500" dirty="0"/>
              <a:t>For step-up autotransformer, I</a:t>
            </a:r>
            <a:r>
              <a:rPr lang="en-US" sz="2500" baseline="-25000" dirty="0"/>
              <a:t>2</a:t>
            </a:r>
            <a:r>
              <a:rPr lang="en-US" sz="2500" dirty="0"/>
              <a:t> &lt; I</a:t>
            </a:r>
            <a:r>
              <a:rPr lang="en-US" sz="2500" baseline="-25000" dirty="0"/>
              <a:t>1</a:t>
            </a:r>
            <a:r>
              <a:rPr lang="en-US" sz="2500" dirty="0"/>
              <a:t>. Therefore, I</a:t>
            </a:r>
            <a:r>
              <a:rPr lang="en-US" sz="2500" baseline="-25000" dirty="0"/>
              <a:t>1</a:t>
            </a:r>
            <a:r>
              <a:rPr lang="en-US" sz="2500" dirty="0"/>
              <a:t> − I</a:t>
            </a:r>
            <a:r>
              <a:rPr lang="en-US" sz="2500" baseline="-25000" dirty="0"/>
              <a:t>2</a:t>
            </a:r>
            <a:r>
              <a:rPr lang="en-US" sz="2500" dirty="0"/>
              <a:t> current flows in the common portion of the winding.</a:t>
            </a:r>
          </a:p>
        </p:txBody>
      </p:sp>
    </p:spTree>
    <p:extLst>
      <p:ext uri="{BB962C8B-B14F-4D97-AF65-F5344CB8AC3E}">
        <p14:creationId xmlns:p14="http://schemas.microsoft.com/office/powerpoint/2010/main" val="1795990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27637" y="1339702"/>
            <a:ext cx="11442796" cy="4189227"/>
          </a:xfrm>
          <a:prstGeom prst="rect">
            <a:avLst/>
          </a:prstGeom>
        </p:spPr>
      </p:pic>
    </p:spTree>
    <p:extLst>
      <p:ext uri="{BB962C8B-B14F-4D97-AF65-F5344CB8AC3E}">
        <p14:creationId xmlns:p14="http://schemas.microsoft.com/office/powerpoint/2010/main" val="13671060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AUTOTRANSFORMER EQUATION</a:t>
            </a:r>
          </a:p>
        </p:txBody>
      </p:sp>
      <p:sp>
        <p:nvSpPr>
          <p:cNvPr id="3" name="Content Placeholder 2"/>
          <p:cNvSpPr>
            <a:spLocks noGrp="1"/>
          </p:cNvSpPr>
          <p:nvPr>
            <p:ph idx="1"/>
          </p:nvPr>
        </p:nvSpPr>
        <p:spPr/>
        <p:txBody>
          <a:bodyPr>
            <a:normAutofit/>
          </a:bodyPr>
          <a:lstStyle/>
          <a:p>
            <a:pPr marL="0" indent="0" algn="ctr">
              <a:buNone/>
            </a:pPr>
            <a:r>
              <a:rPr lang="en-US" sz="2400" dirty="0"/>
              <a:t>If losses, leakage flux and magnetizing current are neglected</a:t>
            </a:r>
          </a:p>
        </p:txBody>
      </p:sp>
      <p:pic>
        <p:nvPicPr>
          <p:cNvPr id="4" name="Picture 3"/>
          <p:cNvPicPr>
            <a:picLocks noChangeAspect="1"/>
          </p:cNvPicPr>
          <p:nvPr/>
        </p:nvPicPr>
        <p:blipFill>
          <a:blip r:embed="rId2"/>
          <a:stretch>
            <a:fillRect/>
          </a:stretch>
        </p:blipFill>
        <p:spPr>
          <a:xfrm>
            <a:off x="4902657" y="2790491"/>
            <a:ext cx="2392782" cy="1009798"/>
          </a:xfrm>
          <a:prstGeom prst="rect">
            <a:avLst/>
          </a:prstGeom>
        </p:spPr>
      </p:pic>
      <p:pic>
        <p:nvPicPr>
          <p:cNvPr id="5" name="Picture 4"/>
          <p:cNvPicPr>
            <a:picLocks noChangeAspect="1"/>
          </p:cNvPicPr>
          <p:nvPr/>
        </p:nvPicPr>
        <p:blipFill>
          <a:blip r:embed="rId3"/>
          <a:stretch>
            <a:fillRect/>
          </a:stretch>
        </p:blipFill>
        <p:spPr>
          <a:xfrm>
            <a:off x="1556444" y="3800289"/>
            <a:ext cx="9085207" cy="2860158"/>
          </a:xfrm>
          <a:prstGeom prst="rect">
            <a:avLst/>
          </a:prstGeom>
        </p:spPr>
      </p:pic>
    </p:spTree>
    <p:extLst>
      <p:ext uri="{BB962C8B-B14F-4D97-AF65-F5344CB8AC3E}">
        <p14:creationId xmlns:p14="http://schemas.microsoft.com/office/powerpoint/2010/main" val="1811734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Advantages of autotransformer over two – winding transformer</a:t>
            </a:r>
          </a:p>
        </p:txBody>
      </p:sp>
      <p:sp>
        <p:nvSpPr>
          <p:cNvPr id="3" name="Content Placeholder 2"/>
          <p:cNvSpPr>
            <a:spLocks noGrp="1"/>
          </p:cNvSpPr>
          <p:nvPr>
            <p:ph idx="1"/>
          </p:nvPr>
        </p:nvSpPr>
        <p:spPr/>
        <p:txBody>
          <a:bodyPr>
            <a:normAutofit/>
          </a:bodyPr>
          <a:lstStyle/>
          <a:p>
            <a:pPr>
              <a:lnSpc>
                <a:spcPct val="150000"/>
              </a:lnSpc>
            </a:pPr>
            <a:r>
              <a:rPr lang="en-US" sz="2500" dirty="0"/>
              <a:t>The main advantage gained in the use of autotransformer is the saving of copper </a:t>
            </a:r>
          </a:p>
          <a:p>
            <a:pPr>
              <a:lnSpc>
                <a:spcPct val="150000"/>
              </a:lnSpc>
            </a:pPr>
            <a:r>
              <a:rPr lang="en-US" sz="2500" dirty="0"/>
              <a:t>For a two-winding transformer and an autotransformer which can perform the same duty (they should have the same voltage per turn and therefore the same flux. We can also assume the same mean length per turn) </a:t>
            </a:r>
          </a:p>
        </p:txBody>
      </p:sp>
    </p:spTree>
    <p:extLst>
      <p:ext uri="{BB962C8B-B14F-4D97-AF65-F5344CB8AC3E}">
        <p14:creationId xmlns:p14="http://schemas.microsoft.com/office/powerpoint/2010/main" val="951146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56055" y="2093976"/>
            <a:ext cx="11935945" cy="4342549"/>
          </a:xfrm>
          <a:prstGeom prst="rect">
            <a:avLst/>
          </a:prstGeom>
        </p:spPr>
      </p:pic>
      <p:sp>
        <p:nvSpPr>
          <p:cNvPr id="5" name="Title 1"/>
          <p:cNvSpPr>
            <a:spLocks noGrp="1"/>
          </p:cNvSpPr>
          <p:nvPr>
            <p:ph type="title"/>
          </p:nvPr>
        </p:nvSpPr>
        <p:spPr>
          <a:xfrm>
            <a:off x="1069848" y="484632"/>
            <a:ext cx="10058400" cy="1609344"/>
          </a:xfrm>
        </p:spPr>
        <p:txBody>
          <a:bodyPr>
            <a:normAutofit/>
          </a:bodyPr>
          <a:lstStyle/>
          <a:p>
            <a:pPr algn="ctr"/>
            <a:r>
              <a:rPr lang="en-US" dirty="0"/>
              <a:t>Advantages of autotransformer over two – winding transformer</a:t>
            </a:r>
          </a:p>
        </p:txBody>
      </p:sp>
    </p:spTree>
    <p:extLst>
      <p:ext uri="{BB962C8B-B14F-4D97-AF65-F5344CB8AC3E}">
        <p14:creationId xmlns:p14="http://schemas.microsoft.com/office/powerpoint/2010/main" val="657815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Advantages of autotransformer over two – winding transformer</a:t>
            </a:r>
          </a:p>
        </p:txBody>
      </p:sp>
      <p:sp>
        <p:nvSpPr>
          <p:cNvPr id="3" name="Content Placeholder 2"/>
          <p:cNvSpPr>
            <a:spLocks noGrp="1"/>
          </p:cNvSpPr>
          <p:nvPr>
            <p:ph idx="1"/>
          </p:nvPr>
        </p:nvSpPr>
        <p:spPr>
          <a:xfrm>
            <a:off x="1069848" y="1930022"/>
            <a:ext cx="10058400" cy="4050792"/>
          </a:xfrm>
        </p:spPr>
        <p:txBody>
          <a:bodyPr>
            <a:noAutofit/>
          </a:bodyPr>
          <a:lstStyle/>
          <a:p>
            <a:pPr>
              <a:lnSpc>
                <a:spcPct val="150000"/>
              </a:lnSpc>
            </a:pPr>
            <a:r>
              <a:rPr lang="en-US" sz="2400" dirty="0"/>
              <a:t>An autotransformer operates at a higher efficiency than a two-winding transformer of similar rating</a:t>
            </a:r>
          </a:p>
          <a:p>
            <a:pPr>
              <a:lnSpc>
                <a:spcPct val="150000"/>
              </a:lnSpc>
            </a:pPr>
            <a:r>
              <a:rPr lang="en-US" sz="2400" dirty="0"/>
              <a:t>An autotransformer has better voltage regulation than a two-winding transformer of the same rating.</a:t>
            </a:r>
          </a:p>
          <a:p>
            <a:pPr>
              <a:lnSpc>
                <a:spcPct val="150000"/>
              </a:lnSpc>
            </a:pPr>
            <a:r>
              <a:rPr lang="en-US" sz="2400" dirty="0"/>
              <a:t>An autotransformer has smaller size than a two-winding transformer of the same rating</a:t>
            </a:r>
          </a:p>
          <a:p>
            <a:pPr>
              <a:lnSpc>
                <a:spcPct val="150000"/>
              </a:lnSpc>
            </a:pPr>
            <a:r>
              <a:rPr lang="en-US" sz="2400" dirty="0"/>
              <a:t>An autotransformer requires smaller exciting current than a two-winding transformer of the same rating</a:t>
            </a:r>
          </a:p>
        </p:txBody>
      </p:sp>
    </p:spTree>
    <p:extLst>
      <p:ext uri="{BB962C8B-B14F-4D97-AF65-F5344CB8AC3E}">
        <p14:creationId xmlns:p14="http://schemas.microsoft.com/office/powerpoint/2010/main" val="19401734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disadvantages of autotransformer over two – winding transformer</a:t>
            </a:r>
          </a:p>
        </p:txBody>
      </p:sp>
      <p:sp>
        <p:nvSpPr>
          <p:cNvPr id="3" name="Content Placeholder 2"/>
          <p:cNvSpPr>
            <a:spLocks noGrp="1"/>
          </p:cNvSpPr>
          <p:nvPr>
            <p:ph idx="1"/>
          </p:nvPr>
        </p:nvSpPr>
        <p:spPr>
          <a:xfrm>
            <a:off x="1069848" y="2610506"/>
            <a:ext cx="10058400" cy="4050792"/>
          </a:xfrm>
        </p:spPr>
        <p:txBody>
          <a:bodyPr>
            <a:noAutofit/>
          </a:bodyPr>
          <a:lstStyle/>
          <a:p>
            <a:pPr>
              <a:lnSpc>
                <a:spcPct val="150000"/>
              </a:lnSpc>
            </a:pPr>
            <a:r>
              <a:rPr lang="en-US" sz="2800" dirty="0"/>
              <a:t>There is a direct connection between the primary and secondary. Therefore, the output is no longer isolated from the input</a:t>
            </a:r>
          </a:p>
        </p:txBody>
      </p:sp>
    </p:spTree>
    <p:extLst>
      <p:ext uri="{BB962C8B-B14F-4D97-AF65-F5344CB8AC3E}">
        <p14:creationId xmlns:p14="http://schemas.microsoft.com/office/powerpoint/2010/main" val="6232691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disadvantages of autotransformer over two – winding transformer</a:t>
            </a:r>
          </a:p>
        </p:txBody>
      </p:sp>
      <p:sp>
        <p:nvSpPr>
          <p:cNvPr id="3" name="Content Placeholder 2"/>
          <p:cNvSpPr>
            <a:spLocks noGrp="1"/>
          </p:cNvSpPr>
          <p:nvPr>
            <p:ph idx="1"/>
          </p:nvPr>
        </p:nvSpPr>
        <p:spPr/>
        <p:txBody>
          <a:bodyPr>
            <a:noAutofit/>
          </a:bodyPr>
          <a:lstStyle/>
          <a:p>
            <a:pPr>
              <a:lnSpc>
                <a:spcPct val="150000"/>
              </a:lnSpc>
            </a:pPr>
            <a:r>
              <a:rPr lang="en-US" sz="2400" dirty="0"/>
              <a:t>An autotransformer is not safe for stepping down a high voltage to a low voltage. As an illustration, the Figure on the next slide shows 11000/230 V step-down autotransformer. If an open circuit develops in the common portion 2-3 of the winding, then full-primary voltage (i.e., 11000 V in this case) will appear across the load. In such a case, any one coming in contact with the secondary is subjected to high voltage. This could be dangerous to both the persons and equipment. For this reason, autotransformers are prohibited for general use.</a:t>
            </a:r>
          </a:p>
          <a:p>
            <a:pPr>
              <a:lnSpc>
                <a:spcPct val="150000"/>
              </a:lnSpc>
            </a:pPr>
            <a:endParaRPr lang="en-US" sz="2400" dirty="0"/>
          </a:p>
        </p:txBody>
      </p:sp>
    </p:spTree>
    <p:extLst>
      <p:ext uri="{BB962C8B-B14F-4D97-AF65-F5344CB8AC3E}">
        <p14:creationId xmlns:p14="http://schemas.microsoft.com/office/powerpoint/2010/main" val="10806531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disadvantages of autotransformer over two – winding transformer</a:t>
            </a:r>
          </a:p>
        </p:txBody>
      </p:sp>
      <p:pic>
        <p:nvPicPr>
          <p:cNvPr id="5" name="Content Placeholder 4"/>
          <p:cNvPicPr>
            <a:picLocks noGrp="1" noChangeAspect="1"/>
          </p:cNvPicPr>
          <p:nvPr>
            <p:ph idx="1"/>
          </p:nvPr>
        </p:nvPicPr>
        <p:blipFill>
          <a:blip r:embed="rId2"/>
          <a:stretch>
            <a:fillRect/>
          </a:stretch>
        </p:blipFill>
        <p:spPr>
          <a:xfrm>
            <a:off x="3483107" y="2439877"/>
            <a:ext cx="6593101" cy="4051300"/>
          </a:xfrm>
          <a:prstGeom prst="rect">
            <a:avLst/>
          </a:prstGeom>
        </p:spPr>
      </p:pic>
    </p:spTree>
    <p:extLst>
      <p:ext uri="{BB962C8B-B14F-4D97-AF65-F5344CB8AC3E}">
        <p14:creationId xmlns:p14="http://schemas.microsoft.com/office/powerpoint/2010/main" val="14934035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disadvantages of autotransformer over two – winding transformer</a:t>
            </a:r>
          </a:p>
        </p:txBody>
      </p:sp>
      <p:sp>
        <p:nvSpPr>
          <p:cNvPr id="3" name="Content Placeholder 2"/>
          <p:cNvSpPr>
            <a:spLocks noGrp="1"/>
          </p:cNvSpPr>
          <p:nvPr>
            <p:ph idx="1"/>
          </p:nvPr>
        </p:nvSpPr>
        <p:spPr/>
        <p:txBody>
          <a:bodyPr>
            <a:normAutofit/>
          </a:bodyPr>
          <a:lstStyle/>
          <a:p>
            <a:pPr>
              <a:lnSpc>
                <a:spcPct val="150000"/>
              </a:lnSpc>
            </a:pPr>
            <a:r>
              <a:rPr lang="en-US" sz="2800" dirty="0"/>
              <a:t>The short-circuit current is much larger than for the two-winding transformer of the same rating. It can be seen from the Figure on the previous slide that a short-circuited secondary causes part of the primary also to be </a:t>
            </a:r>
            <a:r>
              <a:rPr lang="en-US" sz="2800" dirty="0" err="1"/>
              <a:t>shortcircuited</a:t>
            </a:r>
            <a:r>
              <a:rPr lang="en-US" sz="2800" dirty="0"/>
              <a:t>. This reduces the effective resistance and reactance.</a:t>
            </a:r>
          </a:p>
        </p:txBody>
      </p:sp>
    </p:spTree>
    <p:extLst>
      <p:ext uri="{BB962C8B-B14F-4D97-AF65-F5344CB8AC3E}">
        <p14:creationId xmlns:p14="http://schemas.microsoft.com/office/powerpoint/2010/main" val="1760415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512064"/>
            <a:ext cx="10058400" cy="1609344"/>
          </a:xfrm>
        </p:spPr>
        <p:txBody>
          <a:bodyPr/>
          <a:lstStyle/>
          <a:p>
            <a:pPr algn="ctr"/>
            <a:r>
              <a:rPr lang="en-US" dirty="0"/>
              <a:t>question</a:t>
            </a:r>
          </a:p>
        </p:txBody>
      </p:sp>
      <p:sp>
        <p:nvSpPr>
          <p:cNvPr id="3" name="Content Placeholder 2"/>
          <p:cNvSpPr>
            <a:spLocks noGrp="1"/>
          </p:cNvSpPr>
          <p:nvPr>
            <p:ph idx="1"/>
          </p:nvPr>
        </p:nvSpPr>
        <p:spPr>
          <a:xfrm>
            <a:off x="1069848" y="2073774"/>
            <a:ext cx="10058400" cy="4050792"/>
          </a:xfrm>
        </p:spPr>
        <p:txBody>
          <a:bodyPr>
            <a:noAutofit/>
          </a:bodyPr>
          <a:lstStyle/>
          <a:p>
            <a:pPr marL="0" indent="0">
              <a:lnSpc>
                <a:spcPct val="150000"/>
              </a:lnSpc>
              <a:buNone/>
            </a:pPr>
            <a:r>
              <a:rPr lang="en-US" sz="2800" dirty="0"/>
              <a:t>An autotransformer is required to step up a voltage from 220 to 250 V. The total number of turns is 2000. Determine (a) the position of the tapping point (b) the approximate value of the current in each part of the winding when the output is 10 kVA and (c) the economy in copper over the two winding transformer having the same peak flux and the same mean length per turn. </a:t>
            </a:r>
          </a:p>
        </p:txBody>
      </p:sp>
    </p:spTree>
    <p:extLst>
      <p:ext uri="{BB962C8B-B14F-4D97-AF65-F5344CB8AC3E}">
        <p14:creationId xmlns:p14="http://schemas.microsoft.com/office/powerpoint/2010/main" val="2684877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SOLUTION</a:t>
            </a:r>
          </a:p>
        </p:txBody>
      </p:sp>
      <p:pic>
        <p:nvPicPr>
          <p:cNvPr id="7" name="Picture 6"/>
          <p:cNvPicPr>
            <a:picLocks noChangeAspect="1"/>
          </p:cNvPicPr>
          <p:nvPr/>
        </p:nvPicPr>
        <p:blipFill>
          <a:blip r:embed="rId2"/>
          <a:stretch>
            <a:fillRect/>
          </a:stretch>
        </p:blipFill>
        <p:spPr>
          <a:xfrm>
            <a:off x="177799" y="2093976"/>
            <a:ext cx="5190173" cy="3586468"/>
          </a:xfrm>
          <a:prstGeom prst="rect">
            <a:avLst/>
          </a:prstGeom>
        </p:spPr>
      </p:pic>
      <p:pic>
        <p:nvPicPr>
          <p:cNvPr id="8" name="Picture 7"/>
          <p:cNvPicPr>
            <a:picLocks noChangeAspect="1"/>
          </p:cNvPicPr>
          <p:nvPr/>
        </p:nvPicPr>
        <p:blipFill>
          <a:blip r:embed="rId3"/>
          <a:stretch>
            <a:fillRect/>
          </a:stretch>
        </p:blipFill>
        <p:spPr>
          <a:xfrm>
            <a:off x="5367972" y="2469039"/>
            <a:ext cx="6642622" cy="2836341"/>
          </a:xfrm>
          <a:prstGeom prst="rect">
            <a:avLst/>
          </a:prstGeom>
        </p:spPr>
      </p:pic>
    </p:spTree>
    <p:extLst>
      <p:ext uri="{BB962C8B-B14F-4D97-AF65-F5344CB8AC3E}">
        <p14:creationId xmlns:p14="http://schemas.microsoft.com/office/powerpoint/2010/main" val="20378592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b="1" dirty="0"/>
              <a:t>Two-winding transformer connected as an autotransformer </a:t>
            </a:r>
            <a:endParaRPr lang="en-US" sz="4800" dirty="0"/>
          </a:p>
        </p:txBody>
      </p:sp>
      <p:sp>
        <p:nvSpPr>
          <p:cNvPr id="3" name="Content Placeholder 2"/>
          <p:cNvSpPr>
            <a:spLocks noGrp="1"/>
          </p:cNvSpPr>
          <p:nvPr>
            <p:ph idx="1"/>
          </p:nvPr>
        </p:nvSpPr>
        <p:spPr/>
        <p:txBody>
          <a:bodyPr>
            <a:normAutofit/>
          </a:bodyPr>
          <a:lstStyle/>
          <a:p>
            <a:pPr marL="0" indent="0">
              <a:lnSpc>
                <a:spcPct val="150000"/>
              </a:lnSpc>
              <a:buNone/>
            </a:pPr>
            <a:r>
              <a:rPr lang="en-US" sz="2400" dirty="0"/>
              <a:t>A two-winding transformer can be changed into an autotransformer by connecting the primary and secondary windings in series. The following rules apply whenever a two-winding transformer is connected as autotransformer: </a:t>
            </a:r>
          </a:p>
          <a:p>
            <a:pPr marL="0" indent="0">
              <a:lnSpc>
                <a:spcPct val="150000"/>
              </a:lnSpc>
              <a:buNone/>
            </a:pPr>
            <a:r>
              <a:rPr lang="en-US" sz="2400" dirty="0"/>
              <a:t>(a) the current in any winding should not exceed its current rating </a:t>
            </a:r>
          </a:p>
          <a:p>
            <a:pPr marL="0" indent="0">
              <a:lnSpc>
                <a:spcPct val="150000"/>
              </a:lnSpc>
              <a:buNone/>
            </a:pPr>
            <a:r>
              <a:rPr lang="en-US" sz="2400" dirty="0"/>
              <a:t>(b) the voltage across any winding should not exceed its voltage rating </a:t>
            </a:r>
          </a:p>
        </p:txBody>
      </p:sp>
    </p:spTree>
    <p:extLst>
      <p:ext uri="{BB962C8B-B14F-4D97-AF65-F5344CB8AC3E}">
        <p14:creationId xmlns:p14="http://schemas.microsoft.com/office/powerpoint/2010/main" val="690160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b="1"/>
              <a:t>Two-winding transformer connected as an autotransformer </a:t>
            </a:r>
            <a:endParaRPr lang="en-US" sz="4800"/>
          </a:p>
        </p:txBody>
      </p:sp>
      <p:sp>
        <p:nvSpPr>
          <p:cNvPr id="3" name="Content Placeholder 2"/>
          <p:cNvSpPr>
            <a:spLocks noGrp="1"/>
          </p:cNvSpPr>
          <p:nvPr>
            <p:ph idx="1"/>
          </p:nvPr>
        </p:nvSpPr>
        <p:spPr>
          <a:xfrm>
            <a:off x="1069848" y="1908756"/>
            <a:ext cx="10058400" cy="4050792"/>
          </a:xfrm>
        </p:spPr>
        <p:txBody>
          <a:bodyPr>
            <a:noAutofit/>
          </a:bodyPr>
          <a:lstStyle/>
          <a:p>
            <a:pPr marL="0" indent="0">
              <a:lnSpc>
                <a:spcPct val="150000"/>
              </a:lnSpc>
              <a:buNone/>
            </a:pPr>
            <a:r>
              <a:rPr lang="en-US" sz="2400" dirty="0"/>
              <a:t>(c) rated current in one winding gives rise to rated current in the other </a:t>
            </a:r>
          </a:p>
          <a:p>
            <a:pPr marL="0" indent="0">
              <a:lnSpc>
                <a:spcPct val="150000"/>
              </a:lnSpc>
              <a:buNone/>
            </a:pPr>
            <a:r>
              <a:rPr lang="en-US" sz="2400" dirty="0"/>
              <a:t>(d) rated voltage across one winding gives rise to rated voltage across the other </a:t>
            </a:r>
          </a:p>
          <a:p>
            <a:pPr marL="0" indent="0">
              <a:lnSpc>
                <a:spcPct val="150000"/>
              </a:lnSpc>
              <a:buNone/>
            </a:pPr>
            <a:r>
              <a:rPr lang="en-US" sz="2400" dirty="0"/>
              <a:t>(e) if current in one winding flows from say A</a:t>
            </a:r>
            <a:r>
              <a:rPr lang="en-US" sz="2400" baseline="-25000" dirty="0"/>
              <a:t>2</a:t>
            </a:r>
            <a:r>
              <a:rPr lang="en-US" sz="2400" dirty="0"/>
              <a:t> to A</a:t>
            </a:r>
            <a:r>
              <a:rPr lang="en-US" sz="2400" baseline="-25000" dirty="0"/>
              <a:t>1</a:t>
            </a:r>
            <a:r>
              <a:rPr lang="en-US" sz="2400" dirty="0"/>
              <a:t>, then current in the other winding must flow from a1 to a2 and vice versa </a:t>
            </a:r>
          </a:p>
          <a:p>
            <a:pPr marL="0" indent="0">
              <a:lnSpc>
                <a:spcPct val="150000"/>
              </a:lnSpc>
              <a:buNone/>
            </a:pPr>
            <a:r>
              <a:rPr lang="en-US" sz="2400" dirty="0"/>
              <a:t>(f) the voltages add when terminals of opposite polarity (A</a:t>
            </a:r>
            <a:r>
              <a:rPr lang="en-US" sz="2400" baseline="-25000" dirty="0"/>
              <a:t>1</a:t>
            </a:r>
            <a:r>
              <a:rPr lang="en-US" sz="2400" dirty="0"/>
              <a:t> and a</a:t>
            </a:r>
            <a:r>
              <a:rPr lang="en-US" sz="2400" baseline="-25000" dirty="0"/>
              <a:t>2</a:t>
            </a:r>
            <a:r>
              <a:rPr lang="en-US" sz="2400" dirty="0"/>
              <a:t> or A</a:t>
            </a:r>
            <a:r>
              <a:rPr lang="en-US" sz="2400" baseline="-25000" dirty="0"/>
              <a:t>2 </a:t>
            </a:r>
            <a:r>
              <a:rPr lang="en-US" sz="2400" dirty="0"/>
              <a:t>and a</a:t>
            </a:r>
            <a:r>
              <a:rPr lang="en-US" sz="2400" baseline="-25000" dirty="0"/>
              <a:t>1</a:t>
            </a:r>
            <a:r>
              <a:rPr lang="en-US" sz="2400" dirty="0"/>
              <a:t>) are connected together by a jumper. The voltages subtract when A</a:t>
            </a:r>
            <a:r>
              <a:rPr lang="en-US" sz="2400" baseline="-25000" dirty="0"/>
              <a:t>1</a:t>
            </a:r>
            <a:r>
              <a:rPr lang="en-US" sz="2400" dirty="0"/>
              <a:t> and a</a:t>
            </a:r>
            <a:r>
              <a:rPr lang="en-US" sz="2400" baseline="-25000" dirty="0"/>
              <a:t>1</a:t>
            </a:r>
            <a:r>
              <a:rPr lang="en-US" sz="2400" dirty="0"/>
              <a:t> (or A</a:t>
            </a:r>
            <a:r>
              <a:rPr lang="en-US" sz="2400" baseline="-25000" dirty="0"/>
              <a:t>2</a:t>
            </a:r>
            <a:r>
              <a:rPr lang="en-US" sz="2400" dirty="0"/>
              <a:t> and a</a:t>
            </a:r>
            <a:r>
              <a:rPr lang="en-US" sz="2400" baseline="-25000" dirty="0"/>
              <a:t>2</a:t>
            </a:r>
            <a:r>
              <a:rPr lang="en-US" sz="2400" dirty="0"/>
              <a:t>) are connected together. </a:t>
            </a:r>
          </a:p>
          <a:p>
            <a:pPr>
              <a:lnSpc>
                <a:spcPct val="150000"/>
              </a:lnSpc>
            </a:pPr>
            <a:endParaRPr lang="en-US" sz="2400" dirty="0"/>
          </a:p>
        </p:txBody>
      </p:sp>
    </p:spTree>
    <p:extLst>
      <p:ext uri="{BB962C8B-B14F-4D97-AF65-F5344CB8AC3E}">
        <p14:creationId xmlns:p14="http://schemas.microsoft.com/office/powerpoint/2010/main" val="14481503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Applications of Autotransformers</a:t>
            </a:r>
          </a:p>
        </p:txBody>
      </p:sp>
      <p:sp>
        <p:nvSpPr>
          <p:cNvPr id="3" name="Content Placeholder 2"/>
          <p:cNvSpPr>
            <a:spLocks noGrp="1"/>
          </p:cNvSpPr>
          <p:nvPr>
            <p:ph idx="1"/>
          </p:nvPr>
        </p:nvSpPr>
        <p:spPr>
          <a:xfrm>
            <a:off x="1069848" y="2082705"/>
            <a:ext cx="10058400" cy="4050792"/>
          </a:xfrm>
        </p:spPr>
        <p:txBody>
          <a:bodyPr>
            <a:normAutofit/>
          </a:bodyPr>
          <a:lstStyle/>
          <a:p>
            <a:pPr>
              <a:lnSpc>
                <a:spcPct val="150000"/>
              </a:lnSpc>
            </a:pPr>
            <a:r>
              <a:rPr lang="en-US" sz="2400" dirty="0"/>
              <a:t>Autotransformers are used to compensate for voltage drops in transmission and distribution lines. When used for this purpose, they are known as booster transformers.</a:t>
            </a:r>
          </a:p>
          <a:p>
            <a:pPr>
              <a:lnSpc>
                <a:spcPct val="150000"/>
              </a:lnSpc>
            </a:pPr>
            <a:r>
              <a:rPr lang="en-US" sz="2400" dirty="0"/>
              <a:t>Autotransformers are used for reducing the voltage supplied to </a:t>
            </a:r>
            <a:r>
              <a:rPr lang="en-US" sz="2400" dirty="0" err="1"/>
              <a:t>a.c</a:t>
            </a:r>
            <a:r>
              <a:rPr lang="en-US" sz="2400" dirty="0"/>
              <a:t>. motors during the starting period.</a:t>
            </a:r>
          </a:p>
          <a:p>
            <a:pPr>
              <a:lnSpc>
                <a:spcPct val="150000"/>
              </a:lnSpc>
            </a:pPr>
            <a:r>
              <a:rPr lang="en-US" sz="2400" dirty="0"/>
              <a:t>Autotransformers are used for continuously variable supply</a:t>
            </a:r>
          </a:p>
        </p:txBody>
      </p:sp>
    </p:spTree>
    <p:extLst>
      <p:ext uri="{BB962C8B-B14F-4D97-AF65-F5344CB8AC3E}">
        <p14:creationId xmlns:p14="http://schemas.microsoft.com/office/powerpoint/2010/main" val="15479218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INSTRUMENT TRANSFORMERS</a:t>
            </a:r>
          </a:p>
        </p:txBody>
      </p:sp>
      <p:sp>
        <p:nvSpPr>
          <p:cNvPr id="3" name="Content Placeholder 2"/>
          <p:cNvSpPr>
            <a:spLocks noGrp="1"/>
          </p:cNvSpPr>
          <p:nvPr>
            <p:ph idx="1"/>
          </p:nvPr>
        </p:nvSpPr>
        <p:spPr/>
        <p:txBody>
          <a:bodyPr>
            <a:noAutofit/>
          </a:bodyPr>
          <a:lstStyle/>
          <a:p>
            <a:pPr marL="0" indent="0">
              <a:lnSpc>
                <a:spcPct val="150000"/>
              </a:lnSpc>
              <a:buNone/>
            </a:pPr>
            <a:r>
              <a:rPr lang="en-US" sz="2400" dirty="0"/>
              <a:t>They are used in ac circuits to serve these purposes: </a:t>
            </a:r>
          </a:p>
          <a:p>
            <a:pPr marL="0" indent="0">
              <a:lnSpc>
                <a:spcPct val="150000"/>
              </a:lnSpc>
              <a:buNone/>
            </a:pPr>
            <a:r>
              <a:rPr lang="en-US" sz="2400" dirty="0"/>
              <a:t>(a) to make possible the measurement of high voltages with low-voltage instruments or large currents with low current ammeters </a:t>
            </a:r>
          </a:p>
          <a:p>
            <a:pPr marL="0" indent="0">
              <a:lnSpc>
                <a:spcPct val="150000"/>
              </a:lnSpc>
              <a:buNone/>
            </a:pPr>
            <a:r>
              <a:rPr lang="en-US" sz="2400" dirty="0"/>
              <a:t>(b) to insulate high voltage circuits being monitored from measuring circuit in order to protect the measuring apparatus and operator </a:t>
            </a:r>
          </a:p>
          <a:p>
            <a:pPr marL="0" indent="0">
              <a:lnSpc>
                <a:spcPct val="150000"/>
              </a:lnSpc>
              <a:buNone/>
            </a:pPr>
            <a:r>
              <a:rPr lang="en-US" sz="2400" dirty="0"/>
              <a:t>(c) to energize relays for the operation of protective and automatic control devices</a:t>
            </a:r>
          </a:p>
        </p:txBody>
      </p:sp>
    </p:spTree>
    <p:extLst>
      <p:ext uri="{BB962C8B-B14F-4D97-AF65-F5344CB8AC3E}">
        <p14:creationId xmlns:p14="http://schemas.microsoft.com/office/powerpoint/2010/main" val="2109644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marL="0" indent="0">
              <a:lnSpc>
                <a:spcPct val="150000"/>
              </a:lnSpc>
              <a:buNone/>
            </a:pPr>
            <a:r>
              <a:rPr lang="en-US" sz="2800" dirty="0"/>
              <a:t>The load on the secondary of an instrument transformer is called its burden and is expressed in volt-amperes (VA). There are two types of instrument transformers: the voltage (or potential) transformer and the current transformer</a:t>
            </a:r>
          </a:p>
        </p:txBody>
      </p:sp>
    </p:spTree>
    <p:extLst>
      <p:ext uri="{BB962C8B-B14F-4D97-AF65-F5344CB8AC3E}">
        <p14:creationId xmlns:p14="http://schemas.microsoft.com/office/powerpoint/2010/main" val="9861101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The voltage or potential transformers (VT</a:t>
            </a:r>
            <a:r>
              <a:rPr lang="en-US" b="1" cap="none" dirty="0"/>
              <a:t>s</a:t>
            </a:r>
            <a:r>
              <a:rPr lang="en-US" b="1" dirty="0"/>
              <a:t> or PT</a:t>
            </a:r>
            <a:r>
              <a:rPr lang="en-US" b="1" cap="none" dirty="0"/>
              <a:t>s</a:t>
            </a:r>
            <a:r>
              <a:rPr lang="en-US" b="1" dirty="0"/>
              <a:t>)</a:t>
            </a:r>
            <a:endParaRPr lang="en-US" dirty="0"/>
          </a:p>
        </p:txBody>
      </p:sp>
      <p:sp>
        <p:nvSpPr>
          <p:cNvPr id="3" name="Content Placeholder 2"/>
          <p:cNvSpPr>
            <a:spLocks noGrp="1"/>
          </p:cNvSpPr>
          <p:nvPr>
            <p:ph idx="1"/>
          </p:nvPr>
        </p:nvSpPr>
        <p:spPr/>
        <p:txBody>
          <a:bodyPr>
            <a:normAutofit/>
          </a:bodyPr>
          <a:lstStyle/>
          <a:p>
            <a:pPr>
              <a:lnSpc>
                <a:spcPct val="150000"/>
              </a:lnSpc>
            </a:pPr>
            <a:r>
              <a:rPr lang="en-US" sz="2400" dirty="0"/>
              <a:t>The primary is connected directly to the power circuit either between two phases or between a phase and ground and the secondary is connected to instruments and coils of relays</a:t>
            </a:r>
          </a:p>
          <a:p>
            <a:pPr>
              <a:lnSpc>
                <a:spcPct val="150000"/>
              </a:lnSpc>
            </a:pPr>
            <a:r>
              <a:rPr lang="en-US" sz="2400" dirty="0"/>
              <a:t>Sufficient insulation is provided between the primary and the secondary to withstand the full line voltage as well as the very high impulse voltage.</a:t>
            </a:r>
          </a:p>
        </p:txBody>
      </p:sp>
    </p:spTree>
    <p:extLst>
      <p:ext uri="{BB962C8B-B14F-4D97-AF65-F5344CB8AC3E}">
        <p14:creationId xmlns:p14="http://schemas.microsoft.com/office/powerpoint/2010/main" val="20686663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The voltage or potential transformers (VT</a:t>
            </a:r>
            <a:r>
              <a:rPr lang="en-US" b="1" cap="none" dirty="0"/>
              <a:t>s</a:t>
            </a:r>
            <a:r>
              <a:rPr lang="en-US" b="1" dirty="0"/>
              <a:t> or PT</a:t>
            </a:r>
            <a:r>
              <a:rPr lang="en-US" b="1" cap="none" dirty="0"/>
              <a:t>s</a:t>
            </a:r>
            <a:r>
              <a:rPr lang="en-US" b="1" dirty="0"/>
              <a:t>)</a:t>
            </a:r>
            <a:endParaRPr lang="en-US" dirty="0"/>
          </a:p>
        </p:txBody>
      </p:sp>
      <p:sp>
        <p:nvSpPr>
          <p:cNvPr id="3" name="Content Placeholder 2"/>
          <p:cNvSpPr>
            <a:spLocks noGrp="1"/>
          </p:cNvSpPr>
          <p:nvPr>
            <p:ph idx="1"/>
          </p:nvPr>
        </p:nvSpPr>
        <p:spPr/>
        <p:txBody>
          <a:bodyPr>
            <a:normAutofit/>
          </a:bodyPr>
          <a:lstStyle/>
          <a:p>
            <a:pPr>
              <a:lnSpc>
                <a:spcPct val="150000"/>
              </a:lnSpc>
            </a:pPr>
            <a:r>
              <a:rPr lang="en-US" sz="2400" dirty="0"/>
              <a:t>Voltage transformers are designed to step down the primary voltage to a nominal or rated voltage of 110 V so that standard instruments and relays can be used.</a:t>
            </a:r>
          </a:p>
          <a:p>
            <a:pPr>
              <a:lnSpc>
                <a:spcPct val="150000"/>
              </a:lnSpc>
            </a:pPr>
            <a:endParaRPr lang="en-US" sz="2400" dirty="0"/>
          </a:p>
        </p:txBody>
      </p:sp>
    </p:spTree>
    <p:extLst>
      <p:ext uri="{BB962C8B-B14F-4D97-AF65-F5344CB8AC3E}">
        <p14:creationId xmlns:p14="http://schemas.microsoft.com/office/powerpoint/2010/main" val="255686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The voltage or potential transformers (VT</a:t>
            </a:r>
            <a:r>
              <a:rPr lang="en-US" b="1" cap="none" dirty="0"/>
              <a:t>s</a:t>
            </a:r>
            <a:r>
              <a:rPr lang="en-US" b="1" dirty="0"/>
              <a:t> or PT</a:t>
            </a:r>
            <a:r>
              <a:rPr lang="en-US" b="1" cap="none" dirty="0"/>
              <a:t>s</a:t>
            </a:r>
            <a:r>
              <a:rPr lang="en-US" b="1" dirty="0"/>
              <a:t>)</a:t>
            </a:r>
            <a:endParaRPr lang="en-US" dirty="0"/>
          </a:p>
        </p:txBody>
      </p:sp>
      <p:pic>
        <p:nvPicPr>
          <p:cNvPr id="4" name="Picture 3"/>
          <p:cNvPicPr>
            <a:picLocks noChangeAspect="1"/>
          </p:cNvPicPr>
          <p:nvPr/>
        </p:nvPicPr>
        <p:blipFill>
          <a:blip r:embed="rId2"/>
          <a:stretch>
            <a:fillRect/>
          </a:stretch>
        </p:blipFill>
        <p:spPr>
          <a:xfrm>
            <a:off x="3243263" y="1864232"/>
            <a:ext cx="6077401" cy="4842678"/>
          </a:xfrm>
          <a:prstGeom prst="rect">
            <a:avLst/>
          </a:prstGeom>
        </p:spPr>
      </p:pic>
    </p:spTree>
    <p:extLst>
      <p:ext uri="{BB962C8B-B14F-4D97-AF65-F5344CB8AC3E}">
        <p14:creationId xmlns:p14="http://schemas.microsoft.com/office/powerpoint/2010/main" val="9780570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Current transformers (CT</a:t>
            </a:r>
            <a:r>
              <a:rPr lang="en-US" b="1" cap="none" dirty="0"/>
              <a:t>s</a:t>
            </a:r>
            <a:r>
              <a:rPr lang="en-US" b="1" dirty="0"/>
              <a:t>) </a:t>
            </a:r>
            <a:endParaRPr lang="en-US" dirty="0"/>
          </a:p>
        </p:txBody>
      </p:sp>
      <p:sp>
        <p:nvSpPr>
          <p:cNvPr id="3" name="Content Placeholder 2"/>
          <p:cNvSpPr>
            <a:spLocks noGrp="1"/>
          </p:cNvSpPr>
          <p:nvPr>
            <p:ph idx="1"/>
          </p:nvPr>
        </p:nvSpPr>
        <p:spPr/>
        <p:txBody>
          <a:bodyPr>
            <a:noAutofit/>
          </a:bodyPr>
          <a:lstStyle/>
          <a:p>
            <a:pPr>
              <a:lnSpc>
                <a:spcPct val="150000"/>
              </a:lnSpc>
            </a:pPr>
            <a:r>
              <a:rPr lang="en-US" sz="2400" dirty="0"/>
              <a:t>Their primary consists of small number of turns connected in series with the power circuit load </a:t>
            </a:r>
          </a:p>
          <a:p>
            <a:pPr>
              <a:lnSpc>
                <a:spcPct val="150000"/>
              </a:lnSpc>
            </a:pPr>
            <a:r>
              <a:rPr lang="en-US" sz="2400" dirty="0"/>
              <a:t>The secondary consists of a larger number of turns and it is connected to ammeter, current coils of other instruments or current coils of relays. </a:t>
            </a:r>
          </a:p>
          <a:p>
            <a:pPr>
              <a:lnSpc>
                <a:spcPct val="150000"/>
              </a:lnSpc>
            </a:pPr>
            <a:r>
              <a:rPr lang="en-US" sz="2400" dirty="0"/>
              <a:t>The nominal or rated secondary currents are usually 5 A or 1 A, irrespective of the primary current rating. </a:t>
            </a:r>
          </a:p>
        </p:txBody>
      </p:sp>
    </p:spTree>
    <p:extLst>
      <p:ext uri="{BB962C8B-B14F-4D97-AF65-F5344CB8AC3E}">
        <p14:creationId xmlns:p14="http://schemas.microsoft.com/office/powerpoint/2010/main" val="16523548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Current transformers (CTs) </a:t>
            </a:r>
            <a:endParaRPr lang="en-US" dirty="0"/>
          </a:p>
        </p:txBody>
      </p:sp>
      <p:pic>
        <p:nvPicPr>
          <p:cNvPr id="4" name="Picture 3"/>
          <p:cNvPicPr>
            <a:picLocks noChangeAspect="1"/>
          </p:cNvPicPr>
          <p:nvPr/>
        </p:nvPicPr>
        <p:blipFill>
          <a:blip r:embed="rId2"/>
          <a:stretch>
            <a:fillRect/>
          </a:stretch>
        </p:blipFill>
        <p:spPr>
          <a:xfrm>
            <a:off x="3827462" y="1771904"/>
            <a:ext cx="4965700" cy="4749800"/>
          </a:xfrm>
          <a:prstGeom prst="rect">
            <a:avLst/>
          </a:prstGeom>
        </p:spPr>
      </p:pic>
    </p:spTree>
    <p:extLst>
      <p:ext uri="{BB962C8B-B14F-4D97-AF65-F5344CB8AC3E}">
        <p14:creationId xmlns:p14="http://schemas.microsoft.com/office/powerpoint/2010/main" val="15703267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2579</TotalTime>
  <Words>1633</Words>
  <Application>Microsoft Office PowerPoint</Application>
  <PresentationFormat>Widescreen</PresentationFormat>
  <Paragraphs>95</Paragraphs>
  <Slides>35</Slides>
  <Notes>0</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Wood Type</vt:lpstr>
      <vt:lpstr>PowerPoint Presentation</vt:lpstr>
      <vt:lpstr>Tap-changing Transformers </vt:lpstr>
      <vt:lpstr>Tap-changing Transformers </vt:lpstr>
      <vt:lpstr>Tap-changing Transformers </vt:lpstr>
      <vt:lpstr>Tap-changing Transformers </vt:lpstr>
      <vt:lpstr>Tap-changing Transformers </vt:lpstr>
      <vt:lpstr>Changing the taps of transformers </vt:lpstr>
      <vt:lpstr>Off-load tap changing </vt:lpstr>
      <vt:lpstr>On-load tap changing </vt:lpstr>
      <vt:lpstr>PowerPoint Presentation</vt:lpstr>
      <vt:lpstr>PowerPoint Presentation</vt:lpstr>
      <vt:lpstr>AUTOTRANSFORMER</vt:lpstr>
      <vt:lpstr>AUTOTRANSFORMER</vt:lpstr>
      <vt:lpstr>AUTOTRANSFORMER</vt:lpstr>
      <vt:lpstr>PowerPoint Presentation</vt:lpstr>
      <vt:lpstr>AUTOTRANSFORMER EQUATION</vt:lpstr>
      <vt:lpstr>Advantages of autotransformer over two – winding transformer</vt:lpstr>
      <vt:lpstr>Advantages of autotransformer over two – winding transformer</vt:lpstr>
      <vt:lpstr>Advantages of autotransformer over two – winding transformer</vt:lpstr>
      <vt:lpstr>disadvantages of autotransformer over two – winding transformer</vt:lpstr>
      <vt:lpstr>disadvantages of autotransformer over two – winding transformer</vt:lpstr>
      <vt:lpstr>disadvantages of autotransformer over two – winding transformer</vt:lpstr>
      <vt:lpstr>disadvantages of autotransformer over two – winding transformer</vt:lpstr>
      <vt:lpstr>question</vt:lpstr>
      <vt:lpstr>SOLUTION</vt:lpstr>
      <vt:lpstr>Two-winding transformer connected as an autotransformer </vt:lpstr>
      <vt:lpstr>Two-winding transformer connected as an autotransformer </vt:lpstr>
      <vt:lpstr>Applications of Autotransformers</vt:lpstr>
      <vt:lpstr>INSTRUMENT TRANSFORMERS</vt:lpstr>
      <vt:lpstr>PowerPoint Presentation</vt:lpstr>
      <vt:lpstr>The voltage or potential transformers (VTs or PTs)</vt:lpstr>
      <vt:lpstr>The voltage or potential transformers (VTs or PTs)</vt:lpstr>
      <vt:lpstr>The voltage or potential transformers (VTs or PTs)</vt:lpstr>
      <vt:lpstr>Current transformers (CTs) </vt:lpstr>
      <vt:lpstr>Current transformers (CTs)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Unknown User</cp:lastModifiedBy>
  <cp:revision>17</cp:revision>
  <dcterms:created xsi:type="dcterms:W3CDTF">2019-04-08T07:55:19Z</dcterms:created>
  <dcterms:modified xsi:type="dcterms:W3CDTF">2021-08-26T12:34:13Z</dcterms:modified>
</cp:coreProperties>
</file>