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59"/>
  </p:notesMasterIdLst>
  <p:handoutMasterIdLst>
    <p:handoutMasterId r:id="rId60"/>
  </p:handoutMasterIdLst>
  <p:sldIdLst>
    <p:sldId id="324" r:id="rId2"/>
    <p:sldId id="396" r:id="rId3"/>
    <p:sldId id="365" r:id="rId4"/>
    <p:sldId id="391" r:id="rId5"/>
    <p:sldId id="294" r:id="rId6"/>
    <p:sldId id="295" r:id="rId7"/>
    <p:sldId id="296" r:id="rId8"/>
    <p:sldId id="297" r:id="rId9"/>
    <p:sldId id="366" r:id="rId10"/>
    <p:sldId id="379" r:id="rId11"/>
    <p:sldId id="380" r:id="rId12"/>
    <p:sldId id="381" r:id="rId13"/>
    <p:sldId id="382" r:id="rId14"/>
    <p:sldId id="389" r:id="rId15"/>
    <p:sldId id="390" r:id="rId16"/>
    <p:sldId id="397" r:id="rId17"/>
    <p:sldId id="414" r:id="rId18"/>
    <p:sldId id="430" r:id="rId19"/>
    <p:sldId id="431" r:id="rId20"/>
    <p:sldId id="408" r:id="rId21"/>
    <p:sldId id="415" r:id="rId22"/>
    <p:sldId id="416" r:id="rId23"/>
    <p:sldId id="417" r:id="rId24"/>
    <p:sldId id="418" r:id="rId25"/>
    <p:sldId id="410" r:id="rId26"/>
    <p:sldId id="411" r:id="rId27"/>
    <p:sldId id="412" r:id="rId28"/>
    <p:sldId id="419" r:id="rId29"/>
    <p:sldId id="420" r:id="rId30"/>
    <p:sldId id="421" r:id="rId31"/>
    <p:sldId id="422" r:id="rId32"/>
    <p:sldId id="423" r:id="rId33"/>
    <p:sldId id="424" r:id="rId34"/>
    <p:sldId id="425" r:id="rId35"/>
    <p:sldId id="426" r:id="rId36"/>
    <p:sldId id="427" r:id="rId37"/>
    <p:sldId id="428" r:id="rId38"/>
    <p:sldId id="429" r:id="rId39"/>
    <p:sldId id="398" r:id="rId40"/>
    <p:sldId id="432" r:id="rId41"/>
    <p:sldId id="433" r:id="rId42"/>
    <p:sldId id="434" r:id="rId43"/>
    <p:sldId id="435" r:id="rId44"/>
    <p:sldId id="436" r:id="rId45"/>
    <p:sldId id="437" r:id="rId46"/>
    <p:sldId id="438" r:id="rId47"/>
    <p:sldId id="439" r:id="rId48"/>
    <p:sldId id="440" r:id="rId49"/>
    <p:sldId id="441" r:id="rId50"/>
    <p:sldId id="442" r:id="rId51"/>
    <p:sldId id="443" r:id="rId52"/>
    <p:sldId id="444" r:id="rId53"/>
    <p:sldId id="445" r:id="rId54"/>
    <p:sldId id="446" r:id="rId55"/>
    <p:sldId id="447" r:id="rId56"/>
    <p:sldId id="448" r:id="rId57"/>
    <p:sldId id="449" r:id="rId5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67" autoAdjust="0"/>
    <p:restoredTop sz="89194" autoAdjust="0"/>
  </p:normalViewPr>
  <p:slideViewPr>
    <p:cSldViewPr>
      <p:cViewPr>
        <p:scale>
          <a:sx n="60" d="100"/>
          <a:sy n="60" d="100"/>
        </p:scale>
        <p:origin x="-396" y="-192"/>
      </p:cViewPr>
      <p:guideLst>
        <p:guide orient="horz" pos="2160"/>
        <p:guide pos="2880"/>
      </p:guideLst>
    </p:cSldViewPr>
  </p:slideViewPr>
  <p:outlineViewPr>
    <p:cViewPr>
      <p:scale>
        <a:sx n="33" d="100"/>
        <a:sy n="33" d="100"/>
      </p:scale>
      <p:origin x="0" y="425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9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03.wmf"/><Relationship Id="rId1" Type="http://schemas.openxmlformats.org/officeDocument/2006/relationships/image" Target="../media/image10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63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63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63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6E1144A-BA2C-4D42-968A-244E450FF3EE}"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6A869-033E-459A-8C0C-EA9FD213776F}" type="datetimeFigureOut">
              <a:rPr lang="en-US" smtClean="0"/>
              <a:pPr/>
              <a:t>2/14/2013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6193EA-BC67-4A31-9BB2-7B934A018E9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76193EA-BC67-4A31-9BB2-7B934A018E9B}"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particle is said to be at equilibrium when the resultant of all the forces acting on</a:t>
            </a:r>
            <a:r>
              <a:rPr lang="en-US" baseline="0" dirty="0" smtClean="0"/>
              <a:t> it is zero. If two forces are involved on a body in equilibrium, then the forces are equal and opposite. If there are three forces, when resolving, the triangle of forces will close, if they are in equilibrium. </a:t>
            </a:r>
            <a:r>
              <a:rPr lang="en-US" dirty="0" smtClean="0"/>
              <a:t>If there are more than three forces, the polygon of forces will be closed if the particle is in equilibrium. </a:t>
            </a:r>
          </a:p>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t>Newton’s First Law</a:t>
            </a:r>
            <a:r>
              <a:rPr lang="en-US" dirty="0" smtClean="0"/>
              <a:t>:  If the resultant force on a particle is zero, the particle will remain at rest or will continue at constant speed in a straight line.</a:t>
            </a:r>
          </a:p>
          <a:p>
            <a:endParaRPr lang="en-US" dirty="0"/>
          </a:p>
        </p:txBody>
      </p:sp>
      <p:sp>
        <p:nvSpPr>
          <p:cNvPr id="4" name="Slide Number Placeholder 3"/>
          <p:cNvSpPr>
            <a:spLocks noGrp="1"/>
          </p:cNvSpPr>
          <p:nvPr>
            <p:ph type="sldNum" sz="quarter" idx="10"/>
          </p:nvPr>
        </p:nvSpPr>
        <p:spPr/>
        <p:txBody>
          <a:bodyPr/>
          <a:lstStyle/>
          <a:p>
            <a:fld id="{B76193EA-BC67-4A31-9BB2-7B934A018E9B}"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latin typeface="Arial" charset="0"/>
                <a:cs typeface="Arial" charset="0"/>
              </a:rPr>
              <a:t>#1: These include active forces - tend to set the particle in motion e.g.  from cables and weights and reactive forces caused by constraints or supports that prevent motion.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#3: </a:t>
            </a:r>
            <a:r>
              <a:rPr lang="en-GB" dirty="0" smtClean="0">
                <a:latin typeface="Arial" charset="0"/>
                <a:cs typeface="Arial" charset="0"/>
              </a:rPr>
              <a:t>Assume direction of force which may be corrected later.</a:t>
            </a:r>
          </a:p>
          <a:p>
            <a:endParaRPr lang="en-US" dirty="0"/>
          </a:p>
        </p:txBody>
      </p:sp>
      <p:sp>
        <p:nvSpPr>
          <p:cNvPr id="4" name="Slide Number Placeholder 3"/>
          <p:cNvSpPr>
            <a:spLocks noGrp="1"/>
          </p:cNvSpPr>
          <p:nvPr>
            <p:ph type="sldNum" sz="quarter" idx="10"/>
          </p:nvPr>
        </p:nvSpPr>
        <p:spPr/>
        <p:txBody>
          <a:bodyPr/>
          <a:lstStyle/>
          <a:p>
            <a:fld id="{B76193EA-BC67-4A31-9BB2-7B934A018E9B}" type="slidenum">
              <a:rPr lang="en-US" smtClean="0"/>
              <a:pPr/>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sense of M depends on the direction in which F tends to rotate the body The right-hand rule, Fig.1c, is used to identify this sense. The moment of F about O-O is represented as a vector pointing in the direction of the thumb, with the finger curled in the direction of the rotational tendency. </a:t>
            </a:r>
          </a:p>
          <a:p>
            <a:r>
              <a:rPr lang="en-US" sz="1200" kern="1200" baseline="0" dirty="0" smtClean="0">
                <a:solidFill>
                  <a:schemeClr val="tx1"/>
                </a:solidFill>
                <a:latin typeface="+mn-lt"/>
                <a:ea typeface="+mn-ea"/>
                <a:cs typeface="+mn-cs"/>
              </a:rPr>
              <a:t>Moment directions may be accounted for by using a stated sign convention. such as a plus sign (+) for counterclockwise moment and a minus sign! (+) for clockwise moments, or vice versa. Sign consistency within a given problem is essential. For the sign convention of </a:t>
            </a:r>
            <a:r>
              <a:rPr lang="en-US" sz="1200" kern="1200" baseline="0" dirty="0" err="1" smtClean="0">
                <a:solidFill>
                  <a:schemeClr val="tx1"/>
                </a:solidFill>
                <a:latin typeface="+mn-lt"/>
                <a:ea typeface="+mn-ea"/>
                <a:cs typeface="+mn-cs"/>
              </a:rPr>
              <a:t>Fig.d</a:t>
            </a:r>
            <a:r>
              <a:rPr lang="en-US" sz="1200" kern="1200" baseline="0" dirty="0" smtClean="0">
                <a:solidFill>
                  <a:schemeClr val="tx1"/>
                </a:solidFill>
                <a:latin typeface="+mn-lt"/>
                <a:ea typeface="+mn-ea"/>
                <a:cs typeface="+mn-cs"/>
              </a:rPr>
              <a:t>, the moment of F about point A (or about the z-axis passing through point A) is positive. The curved arrow of the figure is a convenient way to represent moments in two-dimensional analysis. </a:t>
            </a:r>
            <a:endParaRPr lang="en-US" dirty="0"/>
          </a:p>
        </p:txBody>
      </p:sp>
      <p:sp>
        <p:nvSpPr>
          <p:cNvPr id="4" name="Slide Number Placeholder 3"/>
          <p:cNvSpPr>
            <a:spLocks noGrp="1"/>
          </p:cNvSpPr>
          <p:nvPr>
            <p:ph type="sldNum" sz="quarter" idx="10"/>
          </p:nvPr>
        </p:nvSpPr>
        <p:spPr/>
        <p:txBody>
          <a:bodyPr/>
          <a:lstStyle/>
          <a:p>
            <a:fld id="{B76193EA-BC67-4A31-9BB2-7B934A018E9B}" type="slidenum">
              <a:rPr lang="en-US" smtClean="0"/>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6018" name="Rectangle 2"/>
          <p:cNvSpPr>
            <a:spLocks noChangeArrowheads="1"/>
          </p:cNvSpPr>
          <p:nvPr/>
        </p:nvSpPr>
        <p:spPr bwMode="hidden">
          <a:xfrm>
            <a:off x="228600" y="3200400"/>
            <a:ext cx="8763000" cy="1341438"/>
          </a:xfrm>
          <a:prstGeom prst="rect">
            <a:avLst/>
          </a:prstGeom>
          <a:gradFill rotWithShape="0">
            <a:gsLst>
              <a:gs pos="0">
                <a:schemeClr val="bg2"/>
              </a:gs>
              <a:gs pos="100000">
                <a:schemeClr val="bg1"/>
              </a:gs>
            </a:gsLst>
            <a:path path="shape">
              <a:fillToRect l="50000" t="50000" r="50000" b="50000"/>
            </a:path>
          </a:gradFill>
          <a:ln w="9525">
            <a:noFill/>
            <a:miter lim="800000"/>
            <a:headEnd/>
            <a:tailEnd/>
          </a:ln>
          <a:effectLst/>
        </p:spPr>
        <p:txBody>
          <a:bodyPr wrap="none" anchor="ctr"/>
          <a:lstStyle/>
          <a:p>
            <a:pPr algn="ctr"/>
            <a:endParaRPr kumimoji="1" lang="en-GB"/>
          </a:p>
        </p:txBody>
      </p:sp>
      <p:pic>
        <p:nvPicPr>
          <p:cNvPr id="86019" name="Picture 3" descr="D:\FRONTPAGE THEMES\NATURE\ANABNR2.PNG"/>
          <p:cNvPicPr>
            <a:picLocks noChangeAspect="1" noChangeArrowheads="1"/>
          </p:cNvPicPr>
          <p:nvPr/>
        </p:nvPicPr>
        <p:blipFill>
          <a:blip r:embed="rId2" cstate="print"/>
          <a:srcRect l="-900" t="-1314" r="-2" b="-36961"/>
          <a:stretch>
            <a:fillRect/>
          </a:stretch>
        </p:blipFill>
        <p:spPr bwMode="auto">
          <a:xfrm>
            <a:off x="533400" y="3200400"/>
            <a:ext cx="8458200" cy="1158875"/>
          </a:xfrm>
          <a:prstGeom prst="rect">
            <a:avLst/>
          </a:prstGeom>
          <a:noFill/>
        </p:spPr>
      </p:pic>
      <p:sp>
        <p:nvSpPr>
          <p:cNvPr id="86020" name="Rectangle 4"/>
          <p:cNvSpPr>
            <a:spLocks noChangeArrowheads="1"/>
          </p:cNvSpPr>
          <p:nvPr/>
        </p:nvSpPr>
        <p:spPr bwMode="hidden">
          <a:xfrm>
            <a:off x="795338" y="2895600"/>
            <a:ext cx="304800" cy="990600"/>
          </a:xfrm>
          <a:prstGeom prst="rect">
            <a:avLst/>
          </a:prstGeom>
          <a:solidFill>
            <a:schemeClr val="accent2">
              <a:alpha val="50000"/>
            </a:schemeClr>
          </a:solidFill>
          <a:ln w="9525">
            <a:noFill/>
            <a:miter lim="800000"/>
            <a:headEnd/>
            <a:tailEnd/>
          </a:ln>
          <a:effectLst/>
        </p:spPr>
        <p:txBody>
          <a:bodyPr wrap="none" anchor="ctr"/>
          <a:lstStyle/>
          <a:p>
            <a:pPr algn="ctr"/>
            <a:endParaRPr kumimoji="1" lang="en-GB"/>
          </a:p>
        </p:txBody>
      </p:sp>
      <p:sp>
        <p:nvSpPr>
          <p:cNvPr id="86021" name="Rectangle 5"/>
          <p:cNvSpPr>
            <a:spLocks noGrp="1" noChangeArrowheads="1"/>
          </p:cNvSpPr>
          <p:nvPr>
            <p:ph type="ctrTitle"/>
          </p:nvPr>
        </p:nvSpPr>
        <p:spPr>
          <a:xfrm>
            <a:off x="1143000" y="1981200"/>
            <a:ext cx="7772400" cy="1143000"/>
          </a:xfrm>
        </p:spPr>
        <p:txBody>
          <a:bodyPr/>
          <a:lstStyle>
            <a:lvl1pPr>
              <a:defRPr/>
            </a:lvl1pPr>
          </a:lstStyle>
          <a:p>
            <a:r>
              <a:rPr lang="en-GB"/>
              <a:t>Click to edit Master title style</a:t>
            </a:r>
          </a:p>
        </p:txBody>
      </p:sp>
      <p:sp>
        <p:nvSpPr>
          <p:cNvPr id="86022" name="Rectangle 6"/>
          <p:cNvSpPr>
            <a:spLocks noGrp="1" noChangeArrowheads="1"/>
          </p:cNvSpPr>
          <p:nvPr>
            <p:ph type="subTitle" idx="1"/>
          </p:nvPr>
        </p:nvSpPr>
        <p:spPr>
          <a:xfrm>
            <a:off x="2038350" y="4351338"/>
            <a:ext cx="6400800" cy="1371600"/>
          </a:xfrm>
        </p:spPr>
        <p:txBody>
          <a:bodyPr/>
          <a:lstStyle>
            <a:lvl1pPr marL="0" indent="0">
              <a:buFont typeface="Wingdings" pitchFamily="2" charset="2"/>
              <a:buNone/>
              <a:defRPr/>
            </a:lvl1pPr>
          </a:lstStyle>
          <a:p>
            <a:r>
              <a:rPr lang="en-GB"/>
              <a:t>Click to edit Master subtitle style</a:t>
            </a:r>
          </a:p>
        </p:txBody>
      </p:sp>
      <p:sp>
        <p:nvSpPr>
          <p:cNvPr id="86023" name="Rectangle 7"/>
          <p:cNvSpPr>
            <a:spLocks noGrp="1" noChangeArrowheads="1"/>
          </p:cNvSpPr>
          <p:nvPr>
            <p:ph type="dt" sz="half" idx="2"/>
          </p:nvPr>
        </p:nvSpPr>
        <p:spPr>
          <a:xfrm>
            <a:off x="685800" y="6324600"/>
            <a:ext cx="1905000" cy="457200"/>
          </a:xfrm>
        </p:spPr>
        <p:txBody>
          <a:bodyPr/>
          <a:lstStyle>
            <a:lvl1pPr>
              <a:defRPr/>
            </a:lvl1pPr>
          </a:lstStyle>
          <a:p>
            <a:r>
              <a:rPr lang="en-US" smtClean="0"/>
              <a:t>Engineering Mechanics</a:t>
            </a:r>
            <a:endParaRPr lang="en-GB"/>
          </a:p>
        </p:txBody>
      </p:sp>
      <p:sp>
        <p:nvSpPr>
          <p:cNvPr id="86024" name="Rectangle 8"/>
          <p:cNvSpPr>
            <a:spLocks noGrp="1" noChangeArrowheads="1"/>
          </p:cNvSpPr>
          <p:nvPr>
            <p:ph type="ftr" sz="quarter" idx="3"/>
          </p:nvPr>
        </p:nvSpPr>
        <p:spPr>
          <a:xfrm>
            <a:off x="3124200" y="6324600"/>
            <a:ext cx="2895600" cy="457200"/>
          </a:xfrm>
        </p:spPr>
        <p:txBody>
          <a:bodyPr/>
          <a:lstStyle>
            <a:lvl1pPr>
              <a:defRPr/>
            </a:lvl1pPr>
          </a:lstStyle>
          <a:p>
            <a:r>
              <a:rPr lang="fi-FI" smtClean="0"/>
              <a:t>Dr. Nana Sarfo Agyemang Derkyi</a:t>
            </a:r>
            <a:endParaRPr lang="en-GB"/>
          </a:p>
        </p:txBody>
      </p:sp>
      <p:sp>
        <p:nvSpPr>
          <p:cNvPr id="86025" name="Rectangle 9"/>
          <p:cNvSpPr>
            <a:spLocks noGrp="1" noChangeArrowheads="1"/>
          </p:cNvSpPr>
          <p:nvPr>
            <p:ph type="sldNum" sz="quarter" idx="4"/>
          </p:nvPr>
        </p:nvSpPr>
        <p:spPr>
          <a:xfrm>
            <a:off x="6553200" y="6324600"/>
            <a:ext cx="1905000" cy="457200"/>
          </a:xfrm>
        </p:spPr>
        <p:txBody>
          <a:bodyPr/>
          <a:lstStyle>
            <a:lvl1pPr>
              <a:defRPr sz="1400"/>
            </a:lvl1pPr>
          </a:lstStyle>
          <a:p>
            <a:fld id="{50EC8D57-5504-4563-9F5C-A59812DB1E36}" type="slidenum">
              <a:rPr lang="en-GB"/>
              <a:pPr/>
              <a:t>‹#›</a:t>
            </a:fld>
            <a:endParaRPr lang="en-GB"/>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r>
              <a:rPr lang="en-US" smtClean="0"/>
              <a:t>Engineering Mechanics</a:t>
            </a:r>
            <a:endParaRPr lang="en-GB"/>
          </a:p>
        </p:txBody>
      </p:sp>
      <p:sp>
        <p:nvSpPr>
          <p:cNvPr id="5" name="Footer Placeholder 4"/>
          <p:cNvSpPr>
            <a:spLocks noGrp="1"/>
          </p:cNvSpPr>
          <p:nvPr>
            <p:ph type="ftr" sz="quarter" idx="11"/>
          </p:nvPr>
        </p:nvSpPr>
        <p:spPr/>
        <p:txBody>
          <a:bodyPr/>
          <a:lstStyle>
            <a:lvl1pPr>
              <a:defRPr/>
            </a:lvl1pPr>
          </a:lstStyle>
          <a:p>
            <a:r>
              <a:rPr lang="fi-FI" smtClean="0"/>
              <a:t>Dr. Nana Sarfo Agyemang Derkyi</a:t>
            </a:r>
            <a:endParaRPr lang="en-GB"/>
          </a:p>
        </p:txBody>
      </p:sp>
      <p:sp>
        <p:nvSpPr>
          <p:cNvPr id="6" name="Slide Number Placeholder 5"/>
          <p:cNvSpPr>
            <a:spLocks noGrp="1"/>
          </p:cNvSpPr>
          <p:nvPr>
            <p:ph type="sldNum" sz="quarter" idx="12"/>
          </p:nvPr>
        </p:nvSpPr>
        <p:spPr/>
        <p:txBody>
          <a:bodyPr/>
          <a:lstStyle>
            <a:lvl1pPr>
              <a:defRPr/>
            </a:lvl1pPr>
          </a:lstStyle>
          <a:p>
            <a:fld id="{D2AC8ED3-FCA2-46E2-B7FF-E9B8229EFB1E}" type="slidenum">
              <a:rPr lang="en-GB"/>
              <a:pPr/>
              <a:t>‹#›</a:t>
            </a:fld>
            <a:endParaRPr lang="en-GB" sz="1400"/>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r>
              <a:rPr lang="en-US" smtClean="0"/>
              <a:t>Engineering Mechanics</a:t>
            </a:r>
            <a:endParaRPr lang="en-GB"/>
          </a:p>
        </p:txBody>
      </p:sp>
      <p:sp>
        <p:nvSpPr>
          <p:cNvPr id="5" name="Footer Placeholder 4"/>
          <p:cNvSpPr>
            <a:spLocks noGrp="1"/>
          </p:cNvSpPr>
          <p:nvPr>
            <p:ph type="ftr" sz="quarter" idx="11"/>
          </p:nvPr>
        </p:nvSpPr>
        <p:spPr/>
        <p:txBody>
          <a:bodyPr/>
          <a:lstStyle>
            <a:lvl1pPr>
              <a:defRPr/>
            </a:lvl1pPr>
          </a:lstStyle>
          <a:p>
            <a:r>
              <a:rPr lang="fi-FI" smtClean="0"/>
              <a:t>Dr. Nana Sarfo Agyemang Derkyi</a:t>
            </a:r>
            <a:endParaRPr lang="en-GB"/>
          </a:p>
        </p:txBody>
      </p:sp>
      <p:sp>
        <p:nvSpPr>
          <p:cNvPr id="6" name="Slide Number Placeholder 5"/>
          <p:cNvSpPr>
            <a:spLocks noGrp="1"/>
          </p:cNvSpPr>
          <p:nvPr>
            <p:ph type="sldNum" sz="quarter" idx="12"/>
          </p:nvPr>
        </p:nvSpPr>
        <p:spPr/>
        <p:txBody>
          <a:bodyPr/>
          <a:lstStyle>
            <a:lvl1pPr>
              <a:defRPr/>
            </a:lvl1pPr>
          </a:lstStyle>
          <a:p>
            <a:fld id="{6DEE98E9-C992-4B07-A0A3-ADA4A29A9A1E}" type="slidenum">
              <a:rPr lang="en-GB"/>
              <a:pPr/>
              <a:t>‹#›</a:t>
            </a:fld>
            <a:endParaRPr lang="en-GB" sz="1400"/>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668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r>
              <a:rPr lang="en-US" smtClean="0"/>
              <a:t>Engineering Mechanics</a:t>
            </a:r>
            <a:endParaRPr lang="en-GB"/>
          </a:p>
        </p:txBody>
      </p:sp>
      <p:sp>
        <p:nvSpPr>
          <p:cNvPr id="6" name="Footer Placeholder 5"/>
          <p:cNvSpPr>
            <a:spLocks noGrp="1"/>
          </p:cNvSpPr>
          <p:nvPr>
            <p:ph type="ftr" sz="quarter" idx="11"/>
          </p:nvPr>
        </p:nvSpPr>
        <p:spPr/>
        <p:txBody>
          <a:bodyPr/>
          <a:lstStyle>
            <a:lvl1pPr>
              <a:defRPr/>
            </a:lvl1pPr>
          </a:lstStyle>
          <a:p>
            <a:r>
              <a:rPr lang="fi-FI" smtClean="0"/>
              <a:t>Dr. Nana Sarfo Agyemang Derkyi</a:t>
            </a:r>
            <a:endParaRPr lang="en-GB"/>
          </a:p>
        </p:txBody>
      </p:sp>
      <p:sp>
        <p:nvSpPr>
          <p:cNvPr id="7" name="Slide Number Placeholder 6"/>
          <p:cNvSpPr>
            <a:spLocks noGrp="1"/>
          </p:cNvSpPr>
          <p:nvPr>
            <p:ph type="sldNum" sz="quarter" idx="12"/>
          </p:nvPr>
        </p:nvSpPr>
        <p:spPr/>
        <p:txBody>
          <a:bodyPr/>
          <a:lstStyle>
            <a:lvl1pPr>
              <a:defRPr/>
            </a:lvl1pPr>
          </a:lstStyle>
          <a:p>
            <a:fld id="{69DF43F8-FE0C-44AE-856E-347CEC3D66D6}" type="slidenum">
              <a:rPr lang="en-GB"/>
              <a:pPr/>
              <a:t>‹#›</a:t>
            </a:fld>
            <a:endParaRPr lang="en-GB" sz="1400"/>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r>
              <a:rPr lang="en-US" smtClean="0"/>
              <a:t>Engineering Mechanics</a:t>
            </a:r>
            <a:endParaRPr lang="en-GB"/>
          </a:p>
        </p:txBody>
      </p:sp>
      <p:sp>
        <p:nvSpPr>
          <p:cNvPr id="8" name="Footer Placeholder 7"/>
          <p:cNvSpPr>
            <a:spLocks noGrp="1"/>
          </p:cNvSpPr>
          <p:nvPr>
            <p:ph type="ftr" sz="quarter" idx="11"/>
          </p:nvPr>
        </p:nvSpPr>
        <p:spPr/>
        <p:txBody>
          <a:bodyPr/>
          <a:lstStyle>
            <a:lvl1pPr>
              <a:defRPr/>
            </a:lvl1pPr>
          </a:lstStyle>
          <a:p>
            <a:r>
              <a:rPr lang="fi-FI" smtClean="0"/>
              <a:t>Dr. Nana Sarfo Agyemang Derkyi</a:t>
            </a:r>
            <a:endParaRPr lang="en-GB"/>
          </a:p>
        </p:txBody>
      </p:sp>
      <p:sp>
        <p:nvSpPr>
          <p:cNvPr id="9" name="Slide Number Placeholder 8"/>
          <p:cNvSpPr>
            <a:spLocks noGrp="1"/>
          </p:cNvSpPr>
          <p:nvPr>
            <p:ph type="sldNum" sz="quarter" idx="12"/>
          </p:nvPr>
        </p:nvSpPr>
        <p:spPr/>
        <p:txBody>
          <a:bodyPr/>
          <a:lstStyle>
            <a:lvl1pPr>
              <a:defRPr/>
            </a:lvl1pPr>
          </a:lstStyle>
          <a:p>
            <a:fld id="{C8A77980-CE35-4BAE-91AA-62CAE188ED01}" type="slidenum">
              <a:rPr lang="en-GB"/>
              <a:pPr/>
              <a:t>‹#›</a:t>
            </a:fld>
            <a:endParaRPr lang="en-GB" sz="1400"/>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r>
              <a:rPr lang="en-US" smtClean="0"/>
              <a:t>Engineering Mechanics</a:t>
            </a:r>
            <a:endParaRPr lang="en-GB"/>
          </a:p>
        </p:txBody>
      </p:sp>
      <p:sp>
        <p:nvSpPr>
          <p:cNvPr id="4" name="Footer Placeholder 3"/>
          <p:cNvSpPr>
            <a:spLocks noGrp="1"/>
          </p:cNvSpPr>
          <p:nvPr>
            <p:ph type="ftr" sz="quarter" idx="11"/>
          </p:nvPr>
        </p:nvSpPr>
        <p:spPr/>
        <p:txBody>
          <a:bodyPr/>
          <a:lstStyle>
            <a:lvl1pPr>
              <a:defRPr/>
            </a:lvl1pPr>
          </a:lstStyle>
          <a:p>
            <a:r>
              <a:rPr lang="fi-FI" smtClean="0"/>
              <a:t>Dr. Nana Sarfo Agyemang Derkyi</a:t>
            </a:r>
            <a:endParaRPr lang="en-GB"/>
          </a:p>
        </p:txBody>
      </p:sp>
      <p:sp>
        <p:nvSpPr>
          <p:cNvPr id="5" name="Slide Number Placeholder 4"/>
          <p:cNvSpPr>
            <a:spLocks noGrp="1"/>
          </p:cNvSpPr>
          <p:nvPr>
            <p:ph type="sldNum" sz="quarter" idx="12"/>
          </p:nvPr>
        </p:nvSpPr>
        <p:spPr/>
        <p:txBody>
          <a:bodyPr/>
          <a:lstStyle>
            <a:lvl1pPr>
              <a:defRPr/>
            </a:lvl1pPr>
          </a:lstStyle>
          <a:p>
            <a:fld id="{DAE1B9F5-D994-44C1-ABFE-3725D93B0B3F}" type="slidenum">
              <a:rPr lang="en-GB"/>
              <a:pPr/>
              <a:t>‹#›</a:t>
            </a:fld>
            <a:endParaRPr lang="en-GB" sz="1400"/>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smtClean="0"/>
              <a:t>Engineering Mechanics</a:t>
            </a:r>
            <a:endParaRPr lang="en-GB"/>
          </a:p>
        </p:txBody>
      </p:sp>
      <p:sp>
        <p:nvSpPr>
          <p:cNvPr id="3" name="Footer Placeholder 2"/>
          <p:cNvSpPr>
            <a:spLocks noGrp="1"/>
          </p:cNvSpPr>
          <p:nvPr>
            <p:ph type="ftr" sz="quarter" idx="11"/>
          </p:nvPr>
        </p:nvSpPr>
        <p:spPr/>
        <p:txBody>
          <a:bodyPr/>
          <a:lstStyle>
            <a:lvl1pPr>
              <a:defRPr/>
            </a:lvl1pPr>
          </a:lstStyle>
          <a:p>
            <a:r>
              <a:rPr lang="fi-FI" smtClean="0"/>
              <a:t>Dr. Nana Sarfo Agyemang Derkyi</a:t>
            </a:r>
            <a:endParaRPr lang="en-GB"/>
          </a:p>
        </p:txBody>
      </p:sp>
      <p:sp>
        <p:nvSpPr>
          <p:cNvPr id="4" name="Slide Number Placeholder 3"/>
          <p:cNvSpPr>
            <a:spLocks noGrp="1"/>
          </p:cNvSpPr>
          <p:nvPr>
            <p:ph type="sldNum" sz="quarter" idx="12"/>
          </p:nvPr>
        </p:nvSpPr>
        <p:spPr/>
        <p:txBody>
          <a:bodyPr/>
          <a:lstStyle>
            <a:lvl1pPr>
              <a:defRPr/>
            </a:lvl1pPr>
          </a:lstStyle>
          <a:p>
            <a:fld id="{DB10C3B1-16EE-431A-AA36-A6263D26C7DA}" type="slidenum">
              <a:rPr lang="en-GB"/>
              <a:pPr/>
              <a:t>‹#›</a:t>
            </a:fld>
            <a:endParaRPr lang="en-GB" sz="1400"/>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r>
              <a:rPr lang="en-US" smtClean="0"/>
              <a:t>Engineering Mechanics</a:t>
            </a:r>
            <a:endParaRPr lang="en-GB"/>
          </a:p>
        </p:txBody>
      </p:sp>
      <p:sp>
        <p:nvSpPr>
          <p:cNvPr id="6" name="Footer Placeholder 5"/>
          <p:cNvSpPr>
            <a:spLocks noGrp="1"/>
          </p:cNvSpPr>
          <p:nvPr>
            <p:ph type="ftr" sz="quarter" idx="11"/>
          </p:nvPr>
        </p:nvSpPr>
        <p:spPr/>
        <p:txBody>
          <a:bodyPr/>
          <a:lstStyle>
            <a:lvl1pPr>
              <a:defRPr/>
            </a:lvl1pPr>
          </a:lstStyle>
          <a:p>
            <a:r>
              <a:rPr lang="fi-FI" smtClean="0"/>
              <a:t>Dr. Nana Sarfo Agyemang Derkyi</a:t>
            </a:r>
            <a:endParaRPr lang="en-GB"/>
          </a:p>
        </p:txBody>
      </p:sp>
      <p:sp>
        <p:nvSpPr>
          <p:cNvPr id="7" name="Slide Number Placeholder 6"/>
          <p:cNvSpPr>
            <a:spLocks noGrp="1"/>
          </p:cNvSpPr>
          <p:nvPr>
            <p:ph type="sldNum" sz="quarter" idx="12"/>
          </p:nvPr>
        </p:nvSpPr>
        <p:spPr/>
        <p:txBody>
          <a:bodyPr/>
          <a:lstStyle>
            <a:lvl1pPr>
              <a:defRPr/>
            </a:lvl1pPr>
          </a:lstStyle>
          <a:p>
            <a:fld id="{39842DB9-B9BC-4B33-AE57-959B17531340}" type="slidenum">
              <a:rPr lang="en-GB"/>
              <a:pPr/>
              <a:t>‹#›</a:t>
            </a:fld>
            <a:endParaRPr lang="en-GB" sz="1400"/>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r>
              <a:rPr lang="en-US" smtClean="0"/>
              <a:t>Engineering Mechanics</a:t>
            </a:r>
            <a:endParaRPr lang="en-GB"/>
          </a:p>
        </p:txBody>
      </p:sp>
      <p:sp>
        <p:nvSpPr>
          <p:cNvPr id="6" name="Footer Placeholder 5"/>
          <p:cNvSpPr>
            <a:spLocks noGrp="1"/>
          </p:cNvSpPr>
          <p:nvPr>
            <p:ph type="ftr" sz="quarter" idx="11"/>
          </p:nvPr>
        </p:nvSpPr>
        <p:spPr/>
        <p:txBody>
          <a:bodyPr/>
          <a:lstStyle>
            <a:lvl1pPr>
              <a:defRPr/>
            </a:lvl1pPr>
          </a:lstStyle>
          <a:p>
            <a:r>
              <a:rPr lang="fi-FI" smtClean="0"/>
              <a:t>Dr. Nana Sarfo Agyemang Derkyi</a:t>
            </a:r>
            <a:endParaRPr lang="en-GB"/>
          </a:p>
        </p:txBody>
      </p:sp>
      <p:sp>
        <p:nvSpPr>
          <p:cNvPr id="7" name="Slide Number Placeholder 6"/>
          <p:cNvSpPr>
            <a:spLocks noGrp="1"/>
          </p:cNvSpPr>
          <p:nvPr>
            <p:ph type="sldNum" sz="quarter" idx="12"/>
          </p:nvPr>
        </p:nvSpPr>
        <p:spPr/>
        <p:txBody>
          <a:bodyPr/>
          <a:lstStyle>
            <a:lvl1pPr>
              <a:defRPr/>
            </a:lvl1pPr>
          </a:lstStyle>
          <a:p>
            <a:fld id="{29677323-7858-49B3-A2D5-0E4764B69E5A}" type="slidenum">
              <a:rPr lang="en-GB"/>
              <a:pPr/>
              <a:t>‹#›</a:t>
            </a:fld>
            <a:endParaRPr lang="en-GB" sz="1400"/>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r>
              <a:rPr lang="en-US" smtClean="0"/>
              <a:t>Engineering Mechanics</a:t>
            </a:r>
            <a:endParaRPr lang="en-GB"/>
          </a:p>
        </p:txBody>
      </p:sp>
      <p:sp>
        <p:nvSpPr>
          <p:cNvPr id="5" name="Footer Placeholder 4"/>
          <p:cNvSpPr>
            <a:spLocks noGrp="1"/>
          </p:cNvSpPr>
          <p:nvPr>
            <p:ph type="ftr" sz="quarter" idx="11"/>
          </p:nvPr>
        </p:nvSpPr>
        <p:spPr/>
        <p:txBody>
          <a:bodyPr/>
          <a:lstStyle>
            <a:lvl1pPr>
              <a:defRPr/>
            </a:lvl1pPr>
          </a:lstStyle>
          <a:p>
            <a:r>
              <a:rPr lang="fi-FI" smtClean="0"/>
              <a:t>Dr. Nana Sarfo Agyemang Derkyi</a:t>
            </a:r>
            <a:endParaRPr lang="en-GB"/>
          </a:p>
        </p:txBody>
      </p:sp>
      <p:sp>
        <p:nvSpPr>
          <p:cNvPr id="6" name="Slide Number Placeholder 5"/>
          <p:cNvSpPr>
            <a:spLocks noGrp="1"/>
          </p:cNvSpPr>
          <p:nvPr>
            <p:ph type="sldNum" sz="quarter" idx="12"/>
          </p:nvPr>
        </p:nvSpPr>
        <p:spPr/>
        <p:txBody>
          <a:bodyPr/>
          <a:lstStyle>
            <a:lvl1pPr>
              <a:defRPr/>
            </a:lvl1pPr>
          </a:lstStyle>
          <a:p>
            <a:fld id="{279BBC6C-3723-4F25-BBBD-C552701D0D58}" type="slidenum">
              <a:rPr lang="en-GB"/>
              <a:pPr/>
              <a:t>‹#›</a:t>
            </a:fld>
            <a:endParaRPr lang="en-GB" sz="1400"/>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100" y="838200"/>
            <a:ext cx="1943100" cy="53784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66800" y="838200"/>
            <a:ext cx="5676900"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r>
              <a:rPr lang="en-US" smtClean="0"/>
              <a:t>Engineering Mechanics</a:t>
            </a:r>
            <a:endParaRPr lang="en-GB"/>
          </a:p>
        </p:txBody>
      </p:sp>
      <p:sp>
        <p:nvSpPr>
          <p:cNvPr id="5" name="Footer Placeholder 4"/>
          <p:cNvSpPr>
            <a:spLocks noGrp="1"/>
          </p:cNvSpPr>
          <p:nvPr>
            <p:ph type="ftr" sz="quarter" idx="11"/>
          </p:nvPr>
        </p:nvSpPr>
        <p:spPr/>
        <p:txBody>
          <a:bodyPr/>
          <a:lstStyle>
            <a:lvl1pPr>
              <a:defRPr/>
            </a:lvl1pPr>
          </a:lstStyle>
          <a:p>
            <a:r>
              <a:rPr lang="fi-FI" smtClean="0"/>
              <a:t>Dr. Nana Sarfo Agyemang Derkyi</a:t>
            </a:r>
            <a:endParaRPr lang="en-GB"/>
          </a:p>
        </p:txBody>
      </p:sp>
      <p:sp>
        <p:nvSpPr>
          <p:cNvPr id="6" name="Slide Number Placeholder 5"/>
          <p:cNvSpPr>
            <a:spLocks noGrp="1"/>
          </p:cNvSpPr>
          <p:nvPr>
            <p:ph type="sldNum" sz="quarter" idx="12"/>
          </p:nvPr>
        </p:nvSpPr>
        <p:spPr/>
        <p:txBody>
          <a:bodyPr/>
          <a:lstStyle>
            <a:lvl1pPr>
              <a:defRPr/>
            </a:lvl1pPr>
          </a:lstStyle>
          <a:p>
            <a:fld id="{2ECA7A37-67D6-4632-8DE5-AE9F9EC957C2}" type="slidenum">
              <a:rPr lang="en-GB"/>
              <a:pPr/>
              <a:t>‹#›</a:t>
            </a:fld>
            <a:endParaRPr lang="en-GB" sz="1400"/>
          </a:p>
        </p:txBody>
      </p:sp>
    </p:spTree>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ChangeArrowheads="1"/>
          </p:cNvSpPr>
          <p:nvPr/>
        </p:nvSpPr>
        <p:spPr bwMode="hidden">
          <a:xfrm>
            <a:off x="152400" y="0"/>
            <a:ext cx="1447800" cy="685800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endParaRPr kumimoji="1" lang="en-GB"/>
          </a:p>
        </p:txBody>
      </p:sp>
      <p:sp>
        <p:nvSpPr>
          <p:cNvPr id="84995" name="Rectangle 3"/>
          <p:cNvSpPr>
            <a:spLocks noChangeArrowheads="1"/>
          </p:cNvSpPr>
          <p:nvPr/>
        </p:nvSpPr>
        <p:spPr bwMode="hidden">
          <a:xfrm>
            <a:off x="1676400" y="0"/>
            <a:ext cx="7467600" cy="1219200"/>
          </a:xfrm>
          <a:prstGeom prst="rect">
            <a:avLst/>
          </a:prstGeom>
          <a:gradFill rotWithShape="0">
            <a:gsLst>
              <a:gs pos="0">
                <a:schemeClr val="bg2"/>
              </a:gs>
              <a:gs pos="100000">
                <a:schemeClr val="bg1"/>
              </a:gs>
            </a:gsLst>
            <a:path path="shape">
              <a:fillToRect l="50000" t="50000" r="50000" b="50000"/>
            </a:path>
          </a:gradFill>
          <a:ln w="9525">
            <a:noFill/>
            <a:miter lim="800000"/>
            <a:headEnd/>
            <a:tailEnd/>
          </a:ln>
          <a:effectLst/>
        </p:spPr>
        <p:txBody>
          <a:bodyPr wrap="none" anchor="ctr"/>
          <a:lstStyle/>
          <a:p>
            <a:pPr algn="ctr"/>
            <a:endParaRPr kumimoji="1" lang="en-GB"/>
          </a:p>
        </p:txBody>
      </p:sp>
      <p:sp>
        <p:nvSpPr>
          <p:cNvPr id="84996" name="Rectangle 4" descr="Stationery"/>
          <p:cNvSpPr>
            <a:spLocks noChangeArrowheads="1"/>
          </p:cNvSpPr>
          <p:nvPr/>
        </p:nvSpPr>
        <p:spPr bwMode="auto">
          <a:xfrm>
            <a:off x="457200" y="0"/>
            <a:ext cx="1219200" cy="762000"/>
          </a:xfrm>
          <a:prstGeom prst="rect">
            <a:avLst/>
          </a:prstGeom>
          <a:blipFill dpi="0" rotWithShape="0">
            <a:blip r:embed="rId13" cstate="print"/>
            <a:srcRect/>
            <a:tile tx="0" ty="0" sx="100000" sy="100000" flip="none" algn="tl"/>
          </a:blipFill>
          <a:ln w="9525">
            <a:noFill/>
            <a:miter lim="800000"/>
            <a:headEnd/>
            <a:tailEnd/>
          </a:ln>
          <a:effectLst/>
        </p:spPr>
        <p:txBody>
          <a:bodyPr wrap="none" anchor="ctr"/>
          <a:lstStyle/>
          <a:p>
            <a:pPr algn="ctr"/>
            <a:endParaRPr kumimoji="1" lang="en-GB"/>
          </a:p>
        </p:txBody>
      </p:sp>
      <p:sp>
        <p:nvSpPr>
          <p:cNvPr id="84997" name="Rectangle 5" descr="Stationery"/>
          <p:cNvSpPr>
            <a:spLocks noChangeArrowheads="1"/>
          </p:cNvSpPr>
          <p:nvPr/>
        </p:nvSpPr>
        <p:spPr bwMode="auto">
          <a:xfrm>
            <a:off x="0" y="0"/>
            <a:ext cx="457200" cy="6858000"/>
          </a:xfrm>
          <a:prstGeom prst="rect">
            <a:avLst/>
          </a:prstGeom>
          <a:blipFill dpi="0" rotWithShape="0">
            <a:blip r:embed="rId13" cstate="print"/>
            <a:srcRect/>
            <a:tile tx="0" ty="0" sx="100000" sy="100000" flip="none" algn="tl"/>
          </a:blipFill>
          <a:ln w="9525">
            <a:noFill/>
            <a:miter lim="800000"/>
            <a:headEnd/>
            <a:tailEnd/>
          </a:ln>
          <a:effectLst/>
        </p:spPr>
        <p:txBody>
          <a:bodyPr wrap="none" anchor="ctr"/>
          <a:lstStyle/>
          <a:p>
            <a:pPr algn="ctr"/>
            <a:endParaRPr kumimoji="1" lang="en-GB"/>
          </a:p>
        </p:txBody>
      </p:sp>
      <p:sp>
        <p:nvSpPr>
          <p:cNvPr id="84998" name="Rectangle 6"/>
          <p:cNvSpPr>
            <a:spLocks noGrp="1" noChangeArrowheads="1"/>
          </p:cNvSpPr>
          <p:nvPr>
            <p:ph type="title"/>
          </p:nvPr>
        </p:nvSpPr>
        <p:spPr bwMode="auto">
          <a:xfrm>
            <a:off x="1066800" y="838200"/>
            <a:ext cx="7772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GB" smtClean="0"/>
              <a:t>Click to edit Master title style</a:t>
            </a:r>
          </a:p>
        </p:txBody>
      </p:sp>
      <p:sp>
        <p:nvSpPr>
          <p:cNvPr id="84999" name="Rectangle 7"/>
          <p:cNvSpPr>
            <a:spLocks noGrp="1" noChangeArrowheads="1"/>
          </p:cNvSpPr>
          <p:nvPr>
            <p:ph type="dt" sz="half" idx="2"/>
          </p:nvPr>
        </p:nvSpPr>
        <p:spPr bwMode="auto">
          <a:xfrm>
            <a:off x="1066800" y="64135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solidFill>
                  <a:schemeClr val="tx2"/>
                </a:solidFill>
              </a:defRPr>
            </a:lvl1pPr>
          </a:lstStyle>
          <a:p>
            <a:r>
              <a:rPr lang="en-US" smtClean="0"/>
              <a:t>Engineering Mechanics</a:t>
            </a:r>
            <a:endParaRPr lang="en-GB"/>
          </a:p>
        </p:txBody>
      </p:sp>
      <p:sp>
        <p:nvSpPr>
          <p:cNvPr id="85000" name="Rectangle 8"/>
          <p:cNvSpPr>
            <a:spLocks noGrp="1" noChangeArrowheads="1"/>
          </p:cNvSpPr>
          <p:nvPr>
            <p:ph type="ftr" sz="quarter" idx="3"/>
          </p:nvPr>
        </p:nvSpPr>
        <p:spPr bwMode="auto">
          <a:xfrm>
            <a:off x="3429000" y="64135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chemeClr val="tx2"/>
                </a:solidFill>
              </a:defRPr>
            </a:lvl1pPr>
          </a:lstStyle>
          <a:p>
            <a:r>
              <a:rPr lang="fi-FI" smtClean="0"/>
              <a:t>Dr. Nana Sarfo Agyemang Derkyi</a:t>
            </a:r>
            <a:endParaRPr lang="en-GB"/>
          </a:p>
        </p:txBody>
      </p:sp>
      <p:pic>
        <p:nvPicPr>
          <p:cNvPr id="85001" name="Picture 9" descr="C:\Wendy\anabnr2.GIF"/>
          <p:cNvPicPr>
            <a:picLocks noChangeAspect="1" noChangeArrowheads="1"/>
          </p:cNvPicPr>
          <p:nvPr/>
        </p:nvPicPr>
        <p:blipFill>
          <a:blip r:embed="rId14" cstate="print"/>
          <a:srcRect/>
          <a:stretch>
            <a:fillRect/>
          </a:stretch>
        </p:blipFill>
        <p:spPr bwMode="auto">
          <a:xfrm>
            <a:off x="1228725" y="0"/>
            <a:ext cx="7915275" cy="754063"/>
          </a:xfrm>
          <a:prstGeom prst="rect">
            <a:avLst/>
          </a:prstGeom>
          <a:noFill/>
        </p:spPr>
      </p:pic>
      <p:sp>
        <p:nvSpPr>
          <p:cNvPr id="85002" name="Rectangle 10"/>
          <p:cNvSpPr>
            <a:spLocks noChangeArrowheads="1"/>
          </p:cNvSpPr>
          <p:nvPr/>
        </p:nvSpPr>
        <p:spPr bwMode="auto">
          <a:xfrm>
            <a:off x="304800" y="457200"/>
            <a:ext cx="2514600" cy="304800"/>
          </a:xfrm>
          <a:prstGeom prst="rect">
            <a:avLst/>
          </a:prstGeom>
          <a:solidFill>
            <a:schemeClr val="accent2">
              <a:alpha val="50000"/>
            </a:schemeClr>
          </a:solidFill>
          <a:ln w="9525">
            <a:noFill/>
            <a:miter lim="800000"/>
            <a:headEnd/>
            <a:tailEnd/>
          </a:ln>
          <a:effectLst/>
        </p:spPr>
        <p:txBody>
          <a:bodyPr wrap="none" anchor="ctr"/>
          <a:lstStyle/>
          <a:p>
            <a:pPr algn="ctr"/>
            <a:endParaRPr kumimoji="1" lang="en-GB"/>
          </a:p>
        </p:txBody>
      </p:sp>
      <p:sp>
        <p:nvSpPr>
          <p:cNvPr id="85003" name="Rectangle 11"/>
          <p:cNvSpPr>
            <a:spLocks noGrp="1" noChangeArrowheads="1"/>
          </p:cNvSpPr>
          <p:nvPr>
            <p:ph type="sldNum" sz="quarter" idx="4"/>
          </p:nvPr>
        </p:nvSpPr>
        <p:spPr bwMode="auto">
          <a:xfrm>
            <a:off x="8229600" y="6413500"/>
            <a:ext cx="914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a:solidFill>
                  <a:schemeClr val="tx2"/>
                </a:solidFill>
              </a:defRPr>
            </a:lvl1pPr>
          </a:lstStyle>
          <a:p>
            <a:fld id="{5176F622-8AE1-4BF5-8DEE-906D084E33AC}" type="slidenum">
              <a:rPr lang="en-GB"/>
              <a:pPr/>
              <a:t>‹#›</a:t>
            </a:fld>
            <a:endParaRPr lang="en-GB" sz="1400"/>
          </a:p>
        </p:txBody>
      </p:sp>
      <p:sp>
        <p:nvSpPr>
          <p:cNvPr id="85004" name="Rectangle 12"/>
          <p:cNvSpPr>
            <a:spLocks noGrp="1" noChangeArrowheads="1"/>
          </p:cNvSpPr>
          <p:nvPr>
            <p:ph type="body" idx="1"/>
          </p:nvPr>
        </p:nvSpPr>
        <p:spPr bwMode="auto">
          <a:xfrm>
            <a:off x="1066800" y="210185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ransition>
    <p:dissolve/>
  </p:transition>
  <p:hf hdr="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imes New Roman" pitchFamily="18" charset="0"/>
        </a:defRPr>
      </a:lvl2pPr>
      <a:lvl3pPr algn="l" rtl="0" fontAlgn="base">
        <a:spcBef>
          <a:spcPct val="0"/>
        </a:spcBef>
        <a:spcAft>
          <a:spcPct val="0"/>
        </a:spcAft>
        <a:defRPr sz="4400">
          <a:solidFill>
            <a:schemeClr val="tx2"/>
          </a:solidFill>
          <a:latin typeface="Times New Roman" pitchFamily="18" charset="0"/>
        </a:defRPr>
      </a:lvl3pPr>
      <a:lvl4pPr algn="l" rtl="0" fontAlgn="base">
        <a:spcBef>
          <a:spcPct val="0"/>
        </a:spcBef>
        <a:spcAft>
          <a:spcPct val="0"/>
        </a:spcAft>
        <a:defRPr sz="4400">
          <a:solidFill>
            <a:schemeClr val="tx2"/>
          </a:solidFill>
          <a:latin typeface="Times New Roman" pitchFamily="18" charset="0"/>
        </a:defRPr>
      </a:lvl4pPr>
      <a:lvl5pPr algn="l" rtl="0" fontAlgn="base">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457200" indent="-457200" algn="l" rtl="0" fontAlgn="base">
        <a:spcBef>
          <a:spcPct val="20000"/>
        </a:spcBef>
        <a:spcAft>
          <a:spcPct val="0"/>
        </a:spcAft>
        <a:buClr>
          <a:srgbClr val="A50021"/>
        </a:buClr>
        <a:buSzPct val="75000"/>
        <a:buFont typeface="Wingdings" pitchFamily="2" charset="2"/>
        <a:buChar char="n"/>
        <a:defRPr sz="3200">
          <a:solidFill>
            <a:schemeClr val="tx1"/>
          </a:solidFill>
          <a:latin typeface="+mn-lt"/>
          <a:ea typeface="+mn-ea"/>
          <a:cs typeface="+mn-cs"/>
        </a:defRPr>
      </a:lvl1pPr>
      <a:lvl2pPr marL="1027113" indent="-455613" algn="l" rtl="0" fontAlgn="base">
        <a:spcBef>
          <a:spcPct val="20000"/>
        </a:spcBef>
        <a:spcAft>
          <a:spcPct val="0"/>
        </a:spcAft>
        <a:buClr>
          <a:schemeClr val="accent2"/>
        </a:buClr>
        <a:buSzPct val="75000"/>
        <a:buFont typeface="Wingdings" pitchFamily="2" charset="2"/>
        <a:buChar char="n"/>
        <a:defRPr sz="2800">
          <a:solidFill>
            <a:schemeClr val="tx1"/>
          </a:solidFill>
          <a:latin typeface="+mn-lt"/>
        </a:defRPr>
      </a:lvl2pPr>
      <a:lvl3pPr marL="1370013" indent="-228600" algn="l" rtl="0" fontAlgn="base">
        <a:spcBef>
          <a:spcPct val="20000"/>
        </a:spcBef>
        <a:spcAft>
          <a:spcPct val="0"/>
        </a:spcAft>
        <a:buClr>
          <a:srgbClr val="666699"/>
        </a:buClr>
        <a:buSzPct val="70000"/>
        <a:buFont typeface="Wingdings" pitchFamily="2" charset="2"/>
        <a:buChar char="n"/>
        <a:defRPr sz="2400">
          <a:solidFill>
            <a:schemeClr val="tx1"/>
          </a:solidFill>
          <a:latin typeface="+mn-lt"/>
        </a:defRPr>
      </a:lvl3pPr>
      <a:lvl4pPr marL="1712913" indent="-228600" algn="l" rtl="0" fontAlgn="base">
        <a:spcBef>
          <a:spcPct val="20000"/>
        </a:spcBef>
        <a:spcAft>
          <a:spcPct val="0"/>
        </a:spcAft>
        <a:buSzPct val="60000"/>
        <a:buFont typeface="Wingdings" pitchFamily="2" charset="2"/>
        <a:buChar char="n"/>
        <a:defRPr sz="2000">
          <a:solidFill>
            <a:schemeClr val="tx1"/>
          </a:solidFill>
          <a:latin typeface="+mn-lt"/>
        </a:defRPr>
      </a:lvl4pPr>
      <a:lvl5pPr marL="20574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34.png"/><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3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3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3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6.xml"/><Relationship Id="rId1" Type="http://schemas.openxmlformats.org/officeDocument/2006/relationships/vmlDrawing" Target="../drawings/vmlDrawing9.vml"/><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3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0.jpeg"/><Relationship Id="rId1" Type="http://schemas.openxmlformats.org/officeDocument/2006/relationships/slideLayout" Target="../slideLayouts/slideLayout6.xml"/><Relationship Id="rId5" Type="http://schemas.openxmlformats.org/officeDocument/2006/relationships/image" Target="../media/image49.jpeg"/><Relationship Id="rId4" Type="http://schemas.openxmlformats.org/officeDocument/2006/relationships/image" Target="../media/image46.jpeg"/></Relationships>
</file>

<file path=ppt/slides/_rels/slide3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53.jpeg"/><Relationship Id="rId5" Type="http://schemas.openxmlformats.org/officeDocument/2006/relationships/oleObject" Target="../embeddings/oleObject19.bin"/><Relationship Id="rId4" Type="http://schemas.openxmlformats.org/officeDocument/2006/relationships/image" Target="../media/image52.jpeg"/></Relationships>
</file>

<file path=ppt/slides/_rels/slide3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oleObject" Target="../embeddings/oleObject20.bin"/><Relationship Id="rId4" Type="http://schemas.openxmlformats.org/officeDocument/2006/relationships/image" Target="../media/image55.jpeg"/></Relationships>
</file>

<file path=ppt/slides/_rels/slide36.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60.jpeg"/><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3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13.vml"/><Relationship Id="rId4" Type="http://schemas.openxmlformats.org/officeDocument/2006/relationships/oleObject" Target="../embeddings/oleObject25.bin"/></Relationships>
</file>

<file path=ppt/slides/_rels/slide4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oleObject" Target="../embeddings/oleObject26.bin"/></Relationships>
</file>

<file path=ppt/slides/_rels/slide45.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81.jpeg"/><Relationship Id="rId7"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oleObject" Target="../embeddings/oleObject29.bin"/><Relationship Id="rId9"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6.xml"/><Relationship Id="rId4" Type="http://schemas.openxmlformats.org/officeDocument/2006/relationships/image" Target="../media/image84.jpeg"/></Relationships>
</file>

<file path=ppt/slides/_rels/slide4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6.xml"/><Relationship Id="rId4" Type="http://schemas.openxmlformats.org/officeDocument/2006/relationships/image" Target="../media/image87.jpeg"/></Relationships>
</file>

<file path=ppt/slides/_rels/slide49.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image" Target="../media/image92.jpeg"/></Relationships>
</file>

<file path=ppt/slides/_rels/slide5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slideLayout" Target="../slideLayouts/slideLayout6.xml"/><Relationship Id="rId1" Type="http://schemas.openxmlformats.org/officeDocument/2006/relationships/vmlDrawing" Target="../drawings/vmlDrawing17.vml"/><Relationship Id="rId5" Type="http://schemas.openxmlformats.org/officeDocument/2006/relationships/oleObject" Target="../embeddings/oleObject38.bin"/><Relationship Id="rId4" Type="http://schemas.openxmlformats.org/officeDocument/2006/relationships/oleObject" Target="../embeddings/oleObject37.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6.xml"/><Relationship Id="rId1" Type="http://schemas.openxmlformats.org/officeDocument/2006/relationships/vmlDrawing" Target="../drawings/vmlDrawing18.vml"/><Relationship Id="rId4" Type="http://schemas.openxmlformats.org/officeDocument/2006/relationships/oleObject" Target="../embeddings/oleObject40.bin"/></Relationships>
</file>

<file path=ppt/slides/_rels/slide53.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slideLayout" Target="../slideLayouts/slideLayout6.xml"/><Relationship Id="rId1" Type="http://schemas.openxmlformats.org/officeDocument/2006/relationships/vmlDrawing" Target="../drawings/vmlDrawing19.vml"/><Relationship Id="rId4" Type="http://schemas.openxmlformats.org/officeDocument/2006/relationships/oleObject" Target="../embeddings/oleObject41.bin"/></Relationships>
</file>

<file path=ppt/slides/_rels/slide5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slideLayout" Target="../slideLayouts/slideLayout6.xml"/><Relationship Id="rId1" Type="http://schemas.openxmlformats.org/officeDocument/2006/relationships/vmlDrawing" Target="../drawings/vmlDrawing20.vml"/><Relationship Id="rId5" Type="http://schemas.openxmlformats.org/officeDocument/2006/relationships/oleObject" Target="../embeddings/oleObject43.bin"/><Relationship Id="rId4" Type="http://schemas.openxmlformats.org/officeDocument/2006/relationships/oleObject" Target="../embeddings/oleObject42.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762000" y="1981200"/>
            <a:ext cx="8153400" cy="1143000"/>
          </a:xfrm>
        </p:spPr>
        <p:txBody>
          <a:bodyPr/>
          <a:lstStyle/>
          <a:p>
            <a:r>
              <a:rPr lang="en-US" dirty="0" smtClean="0"/>
              <a:t>MECH 106: BASIC MECHANICS</a:t>
            </a:r>
            <a:endParaRPr lang="en-GB" dirty="0"/>
          </a:p>
        </p:txBody>
      </p:sp>
      <p:sp>
        <p:nvSpPr>
          <p:cNvPr id="81923" name="Rectangle 3"/>
          <p:cNvSpPr>
            <a:spLocks noGrp="1" noChangeArrowheads="1"/>
          </p:cNvSpPr>
          <p:nvPr>
            <p:ph type="subTitle" idx="1"/>
          </p:nvPr>
        </p:nvSpPr>
        <p:spPr/>
        <p:txBody>
          <a:bodyPr/>
          <a:lstStyle/>
          <a:p>
            <a:endParaRPr lang="en-GB" sz="4400"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0-#ppt_w/2"/>
                                          </p:val>
                                        </p:tav>
                                        <p:tav tm="100000">
                                          <p:val>
                                            <p:strVal val="#ppt_x"/>
                                          </p:val>
                                        </p:tav>
                                      </p:tavLst>
                                    </p:anim>
                                    <p:anim calcmode="lin" valueType="num">
                                      <p:cBhvr additive="base">
                                        <p:cTn id="8" dur="500" fill="hold"/>
                                        <p:tgtEl>
                                          <p:spTgt spid="81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81923">
                                            <p:txEl>
                                              <p:pRg st="0" end="0"/>
                                            </p:txEl>
                                          </p:spTgt>
                                        </p:tgtEl>
                                        <p:attrNameLst>
                                          <p:attrName>style.visibility</p:attrName>
                                        </p:attrNameLst>
                                      </p:cBhvr>
                                      <p:to>
                                        <p:strVal val="visible"/>
                                      </p:to>
                                    </p:set>
                                    <p:anim calcmode="lin" valueType="num">
                                      <p:cBhvr additive="base">
                                        <p:cTn id="13" dur="500" fill="hold"/>
                                        <p:tgtEl>
                                          <p:spTgt spid="81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P spid="81923"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APPLICATION OF STATICS OF PARTICLES</a:t>
            </a:r>
            <a:endParaRPr lang="en-US" dirty="0"/>
          </a:p>
        </p:txBody>
      </p:sp>
      <p:sp>
        <p:nvSpPr>
          <p:cNvPr id="7" name="Subtitle 6"/>
          <p:cNvSpPr>
            <a:spLocks noGrp="1"/>
          </p:cNvSpPr>
          <p:nvPr>
            <p:ph type="subTitle" idx="1"/>
          </p:nvPr>
        </p:nvSpPr>
        <p:spPr/>
        <p:txBody>
          <a:bodyPr/>
          <a:lstStyle/>
          <a:p>
            <a:endParaRPr lang="en-US"/>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990600" y="-571500"/>
            <a:ext cx="7772400" cy="1143000"/>
          </a:xfrm>
        </p:spPr>
        <p:txBody>
          <a:bodyPr/>
          <a:lstStyle/>
          <a:p>
            <a:r>
              <a:rPr lang="en-US" smtClean="0">
                <a:ea typeface="ＭＳ Ｐゴシック" charset="-128"/>
              </a:rPr>
              <a:t>Equilibrium of a Particle</a:t>
            </a:r>
          </a:p>
        </p:txBody>
      </p:sp>
      <p:sp>
        <p:nvSpPr>
          <p:cNvPr id="24581" name="Text Box 7"/>
          <p:cNvSpPr txBox="1">
            <a:spLocks noChangeArrowheads="1"/>
          </p:cNvSpPr>
          <p:nvPr/>
        </p:nvSpPr>
        <p:spPr bwMode="auto">
          <a:xfrm>
            <a:off x="476250" y="949325"/>
            <a:ext cx="7967663" cy="7016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When the resultant of all forces acting on a particle is zero, the particle is in </a:t>
            </a:r>
            <a:r>
              <a:rPr lang="en-US" i="1" dirty="0"/>
              <a:t>equilibrium</a:t>
            </a:r>
            <a:r>
              <a:rPr lang="en-US" dirty="0"/>
              <a:t>.</a:t>
            </a:r>
          </a:p>
        </p:txBody>
      </p:sp>
      <p:grpSp>
        <p:nvGrpSpPr>
          <p:cNvPr id="2" name="Group 13"/>
          <p:cNvGrpSpPr>
            <a:grpSpLocks/>
          </p:cNvGrpSpPr>
          <p:nvPr/>
        </p:nvGrpSpPr>
        <p:grpSpPr bwMode="auto">
          <a:xfrm>
            <a:off x="381000" y="2684463"/>
            <a:ext cx="3063875" cy="4173537"/>
            <a:chOff x="240" y="1691"/>
            <a:chExt cx="1930" cy="2629"/>
          </a:xfrm>
        </p:grpSpPr>
        <p:pic>
          <p:nvPicPr>
            <p:cNvPr id="24589" name="Picture 4" descr="C:\DOCUME~1\WALTOL~1\LOCALS~1\Temp\\msotw9_temp0.jpg"/>
            <p:cNvPicPr>
              <a:picLocks noChangeAspect="1" noChangeArrowheads="1"/>
            </p:cNvPicPr>
            <p:nvPr/>
          </p:nvPicPr>
          <p:blipFill>
            <a:blip r:embed="rId4" cstate="print"/>
            <a:srcRect/>
            <a:stretch>
              <a:fillRect/>
            </a:stretch>
          </p:blipFill>
          <p:spPr bwMode="auto">
            <a:xfrm>
              <a:off x="602" y="1691"/>
              <a:ext cx="1032" cy="1065"/>
            </a:xfrm>
            <a:prstGeom prst="rect">
              <a:avLst/>
            </a:prstGeom>
            <a:noFill/>
            <a:ln w="9525">
              <a:noFill/>
              <a:miter lim="800000"/>
              <a:headEnd/>
              <a:tailEnd/>
            </a:ln>
          </p:spPr>
        </p:pic>
        <p:sp>
          <p:nvSpPr>
            <p:cNvPr id="24590" name="Text Box 8"/>
            <p:cNvSpPr txBox="1">
              <a:spLocks noChangeArrowheads="1"/>
            </p:cNvSpPr>
            <p:nvPr/>
          </p:nvSpPr>
          <p:spPr bwMode="auto">
            <a:xfrm>
              <a:off x="240" y="2726"/>
              <a:ext cx="1930" cy="1594"/>
            </a:xfrm>
            <a:prstGeom prst="rect">
              <a:avLst/>
            </a:prstGeom>
            <a:noFill/>
            <a:ln w="9525">
              <a:noFill/>
              <a:miter lim="800000"/>
              <a:headEnd/>
              <a:tailEnd/>
            </a:ln>
          </p:spPr>
          <p:txBody>
            <a:bodyPr>
              <a:spAutoFit/>
            </a:bodyPr>
            <a:lstStyle/>
            <a:p>
              <a:pPr marL="227013" indent="-227013">
                <a:spcBef>
                  <a:spcPct val="20000"/>
                </a:spcBef>
                <a:buFontTx/>
                <a:buChar char="•"/>
              </a:pPr>
              <a:r>
                <a:rPr lang="en-US" dirty="0"/>
                <a:t>Particle acted upon by two forces:</a:t>
              </a:r>
            </a:p>
            <a:p>
              <a:pPr marL="574675" lvl="1" indent="-233363">
                <a:spcBef>
                  <a:spcPct val="20000"/>
                </a:spcBef>
                <a:buFontTx/>
                <a:buChar char="-"/>
              </a:pPr>
              <a:r>
                <a:rPr lang="en-US" dirty="0"/>
                <a:t>equal magnitude</a:t>
              </a:r>
            </a:p>
            <a:p>
              <a:pPr marL="574675" lvl="1" indent="-233363">
                <a:spcBef>
                  <a:spcPct val="20000"/>
                </a:spcBef>
                <a:buFontTx/>
                <a:buChar char="-"/>
              </a:pPr>
              <a:r>
                <a:rPr lang="en-US" dirty="0"/>
                <a:t>same line of action</a:t>
              </a:r>
            </a:p>
            <a:p>
              <a:pPr marL="574675" lvl="1" indent="-233363">
                <a:spcBef>
                  <a:spcPct val="20000"/>
                </a:spcBef>
                <a:buFontTx/>
                <a:buChar char="-"/>
              </a:pPr>
              <a:r>
                <a:rPr lang="en-US" dirty="0" smtClean="0"/>
                <a:t>opposite sense</a:t>
              </a:r>
              <a:endParaRPr lang="en-US" dirty="0"/>
            </a:p>
          </p:txBody>
        </p:sp>
      </p:grpSp>
      <p:grpSp>
        <p:nvGrpSpPr>
          <p:cNvPr id="3" name="Group 14"/>
          <p:cNvGrpSpPr>
            <a:grpSpLocks/>
          </p:cNvGrpSpPr>
          <p:nvPr/>
        </p:nvGrpSpPr>
        <p:grpSpPr bwMode="auto">
          <a:xfrm>
            <a:off x="3649663" y="2344738"/>
            <a:ext cx="5449888" cy="4208462"/>
            <a:chOff x="2299" y="1477"/>
            <a:chExt cx="3433" cy="2651"/>
          </a:xfrm>
        </p:grpSpPr>
        <p:pic>
          <p:nvPicPr>
            <p:cNvPr id="24585" name="Picture 5" descr="C:\DOCUME~1\WALTOL~1\LOCALS~1\Temp\\msotw9_temp0.jpg"/>
            <p:cNvPicPr>
              <a:picLocks noChangeAspect="1" noChangeArrowheads="1"/>
            </p:cNvPicPr>
            <p:nvPr/>
          </p:nvPicPr>
          <p:blipFill>
            <a:blip r:embed="rId5" cstate="print"/>
            <a:srcRect/>
            <a:stretch>
              <a:fillRect/>
            </a:stretch>
          </p:blipFill>
          <p:spPr bwMode="auto">
            <a:xfrm>
              <a:off x="2299" y="1477"/>
              <a:ext cx="1479" cy="1383"/>
            </a:xfrm>
            <a:prstGeom prst="rect">
              <a:avLst/>
            </a:prstGeom>
            <a:noFill/>
            <a:ln w="9525">
              <a:noFill/>
              <a:miter lim="800000"/>
              <a:headEnd/>
              <a:tailEnd/>
            </a:ln>
          </p:spPr>
        </p:pic>
        <p:pic>
          <p:nvPicPr>
            <p:cNvPr id="24586" name="Picture 6" descr="C:\DOCUME~1\WALTOL~1\LOCALS~1\Temp\\msotw9_temp0.jpg"/>
            <p:cNvPicPr>
              <a:picLocks noChangeAspect="1" noChangeArrowheads="1"/>
            </p:cNvPicPr>
            <p:nvPr/>
          </p:nvPicPr>
          <p:blipFill>
            <a:blip r:embed="rId6" cstate="print"/>
            <a:srcRect/>
            <a:stretch>
              <a:fillRect/>
            </a:stretch>
          </p:blipFill>
          <p:spPr bwMode="auto">
            <a:xfrm>
              <a:off x="3824" y="1569"/>
              <a:ext cx="1807" cy="1214"/>
            </a:xfrm>
            <a:prstGeom prst="rect">
              <a:avLst/>
            </a:prstGeom>
            <a:noFill/>
            <a:ln w="9525">
              <a:noFill/>
              <a:miter lim="800000"/>
              <a:headEnd/>
              <a:tailEnd/>
            </a:ln>
          </p:spPr>
        </p:pic>
        <p:grpSp>
          <p:nvGrpSpPr>
            <p:cNvPr id="4" name="Group 11"/>
            <p:cNvGrpSpPr>
              <a:grpSpLocks/>
            </p:cNvGrpSpPr>
            <p:nvPr/>
          </p:nvGrpSpPr>
          <p:grpSpPr bwMode="auto">
            <a:xfrm>
              <a:off x="2326" y="2858"/>
              <a:ext cx="3406" cy="1270"/>
              <a:chOff x="2296" y="2491"/>
              <a:chExt cx="3406" cy="1270"/>
            </a:xfrm>
          </p:grpSpPr>
          <p:sp>
            <p:nvSpPr>
              <p:cNvPr id="24588" name="Text Box 9"/>
              <p:cNvSpPr txBox="1">
                <a:spLocks noChangeArrowheads="1"/>
              </p:cNvSpPr>
              <p:nvPr/>
            </p:nvSpPr>
            <p:spPr bwMode="auto">
              <a:xfrm>
                <a:off x="2296" y="2491"/>
                <a:ext cx="3187" cy="710"/>
              </a:xfrm>
              <a:prstGeom prst="rect">
                <a:avLst/>
              </a:prstGeom>
              <a:noFill/>
              <a:ln w="9525">
                <a:noFill/>
                <a:miter lim="800000"/>
                <a:headEnd/>
                <a:tailEnd/>
              </a:ln>
            </p:spPr>
            <p:txBody>
              <a:bodyPr>
                <a:spAutoFit/>
              </a:bodyPr>
              <a:lstStyle/>
              <a:p>
                <a:pPr marL="227013" indent="-227013">
                  <a:spcBef>
                    <a:spcPct val="50000"/>
                  </a:spcBef>
                  <a:buFontTx/>
                  <a:buChar char="•"/>
                </a:pPr>
                <a:r>
                  <a:rPr lang="en-US" dirty="0"/>
                  <a:t>Particle acted upon by three or more forces:</a:t>
                </a:r>
              </a:p>
              <a:p>
                <a:pPr marL="574675" lvl="1" indent="-233363">
                  <a:spcBef>
                    <a:spcPct val="20000"/>
                  </a:spcBef>
                  <a:buFontTx/>
                  <a:buChar char="-"/>
                </a:pPr>
                <a:r>
                  <a:rPr lang="en-US" dirty="0"/>
                  <a:t>graphical solution yields a closed polygon</a:t>
                </a:r>
              </a:p>
              <a:p>
                <a:pPr marL="574675" lvl="1" indent="-233363">
                  <a:spcBef>
                    <a:spcPct val="20000"/>
                  </a:spcBef>
                  <a:buFontTx/>
                  <a:buChar char="-"/>
                </a:pPr>
                <a:r>
                  <a:rPr lang="en-US" dirty="0"/>
                  <a:t>algebraic solution</a:t>
                </a:r>
              </a:p>
            </p:txBody>
          </p:sp>
          <p:graphicFrame>
            <p:nvGraphicFramePr>
              <p:cNvPr id="53248" name="Object 1024"/>
              <p:cNvGraphicFramePr>
                <a:graphicFrameLocks noChangeAspect="1"/>
              </p:cNvGraphicFramePr>
              <p:nvPr/>
            </p:nvGraphicFramePr>
            <p:xfrm>
              <a:off x="4269" y="3233"/>
              <a:ext cx="1433" cy="528"/>
            </p:xfrm>
            <a:graphic>
              <a:graphicData uri="http://schemas.openxmlformats.org/presentationml/2006/ole">
                <p:oleObj spid="_x0000_s265218" name="Equation" r:id="rId7" imgW="1447560" imgH="533160" progId="Equation.3">
                  <p:embed/>
                </p:oleObj>
              </a:graphicData>
            </a:graphic>
          </p:graphicFrame>
        </p:grpSp>
      </p:grpSp>
      <p:sp>
        <p:nvSpPr>
          <p:cNvPr id="13" name="Slide Number Placeholder 12"/>
          <p:cNvSpPr>
            <a:spLocks noGrp="1"/>
          </p:cNvSpPr>
          <p:nvPr>
            <p:ph type="sldNum" sz="quarter" idx="12"/>
          </p:nvPr>
        </p:nvSpPr>
        <p:spPr/>
        <p:txBody>
          <a:bodyPr/>
          <a:lstStyle/>
          <a:p>
            <a:fld id="{D2AC8ED3-FCA2-46E2-B7FF-E9B8229EFB1E}" type="slidenum">
              <a:rPr lang="en-GB" smtClean="0"/>
              <a:pPr/>
              <a:t>3</a:t>
            </a:fld>
            <a:endParaRPr lang="en-GB" sz="1400" dirty="0"/>
          </a:p>
        </p:txBody>
      </p:sp>
      <p:sp>
        <p:nvSpPr>
          <p:cNvPr id="14" name="Footer Placeholder 13"/>
          <p:cNvSpPr>
            <a:spLocks noGrp="1"/>
          </p:cNvSpPr>
          <p:nvPr>
            <p:ph type="ftr" sz="quarter" idx="11"/>
          </p:nvPr>
        </p:nvSpPr>
        <p:spPr/>
        <p:txBody>
          <a:bodyPr/>
          <a:lstStyle/>
          <a:p>
            <a:r>
              <a:rPr lang="fi-FI" smtClean="0"/>
              <a:t>Dr. Nana Sarfo Agyemang Derkyi</a:t>
            </a:r>
            <a:endParaRPr lang="en-GB"/>
          </a:p>
        </p:txBody>
      </p:sp>
      <p:sp>
        <p:nvSpPr>
          <p:cNvPr id="15" name="Date Placeholder 14"/>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Lami’s</a:t>
            </a:r>
            <a:r>
              <a:rPr lang="en-US" dirty="0" smtClean="0"/>
              <a:t> Theorem</a:t>
            </a:r>
            <a:endParaRPr lang="en-US" dirty="0"/>
          </a:p>
        </p:txBody>
      </p:sp>
      <p:sp>
        <p:nvSpPr>
          <p:cNvPr id="3" name="Content Placeholder 2"/>
          <p:cNvSpPr>
            <a:spLocks noGrp="1"/>
          </p:cNvSpPr>
          <p:nvPr>
            <p:ph sz="half" idx="1"/>
          </p:nvPr>
        </p:nvSpPr>
        <p:spPr/>
        <p:txBody>
          <a:bodyPr/>
          <a:lstStyle/>
          <a:p>
            <a:r>
              <a:rPr lang="en-US" dirty="0" smtClean="0"/>
              <a:t>If a body is in equilibrium under the action of  three forces, each force is proportional to the sine of the angle between other two forces.</a:t>
            </a:r>
            <a:endParaRPr lang="en-US" dirty="0"/>
          </a:p>
        </p:txBody>
      </p:sp>
      <p:pic>
        <p:nvPicPr>
          <p:cNvPr id="288770" name="Picture 2"/>
          <p:cNvPicPr>
            <a:picLocks noGrp="1" noChangeAspect="1" noChangeArrowheads="1"/>
          </p:cNvPicPr>
          <p:nvPr>
            <p:ph sz="half" idx="2"/>
          </p:nvPr>
        </p:nvPicPr>
        <p:blipFill>
          <a:blip r:embed="rId2" cstate="print"/>
          <a:srcRect/>
          <a:stretch>
            <a:fillRect/>
          </a:stretch>
        </p:blipFill>
        <p:spPr bwMode="auto">
          <a:xfrm>
            <a:off x="5329237" y="2640012"/>
            <a:ext cx="3209925" cy="3038475"/>
          </a:xfrm>
          <a:prstGeom prst="rect">
            <a:avLst/>
          </a:prstGeom>
          <a:noFill/>
          <a:ln w="9525">
            <a:noFill/>
            <a:miter lim="800000"/>
            <a:headEnd/>
            <a:tailEnd/>
          </a:ln>
        </p:spPr>
      </p:pic>
      <p:sp>
        <p:nvSpPr>
          <p:cNvPr id="6" name="TextBox 5"/>
          <p:cNvSpPr txBox="1"/>
          <p:nvPr/>
        </p:nvSpPr>
        <p:spPr>
          <a:xfrm>
            <a:off x="5410200" y="762000"/>
            <a:ext cx="3352800" cy="1569660"/>
          </a:xfrm>
          <a:prstGeom prst="rect">
            <a:avLst/>
          </a:prstGeom>
          <a:noFill/>
        </p:spPr>
        <p:txBody>
          <a:bodyPr wrap="square" rtlCol="0">
            <a:spAutoFit/>
          </a:bodyPr>
          <a:lstStyle/>
          <a:p>
            <a:r>
              <a:rPr lang="en-US" dirty="0" smtClean="0"/>
              <a:t>Suppose the three forces P, Q and R are acting at a point O and they are in equilibrium as shown.</a:t>
            </a:r>
            <a:endParaRPr lang="en-US" dirty="0"/>
          </a:p>
        </p:txBody>
      </p:sp>
      <p:sp>
        <p:nvSpPr>
          <p:cNvPr id="7" name="TextBox 6"/>
          <p:cNvSpPr txBox="1"/>
          <p:nvPr/>
        </p:nvSpPr>
        <p:spPr>
          <a:xfrm>
            <a:off x="4953000" y="5791200"/>
            <a:ext cx="4191000" cy="830997"/>
          </a:xfrm>
          <a:prstGeom prst="rect">
            <a:avLst/>
          </a:prstGeom>
          <a:noFill/>
        </p:spPr>
        <p:txBody>
          <a:bodyPr wrap="square" rtlCol="0">
            <a:spAutoFit/>
          </a:bodyPr>
          <a:lstStyle/>
          <a:p>
            <a:r>
              <a:rPr lang="en-US" dirty="0" smtClean="0"/>
              <a:t>According to </a:t>
            </a:r>
            <a:r>
              <a:rPr lang="en-US" dirty="0" err="1" smtClean="0"/>
              <a:t>Lami’s</a:t>
            </a:r>
            <a:r>
              <a:rPr lang="en-US" dirty="0" smtClean="0"/>
              <a:t> theorem,</a:t>
            </a:r>
          </a:p>
          <a:p>
            <a:r>
              <a:rPr lang="en-US" dirty="0" smtClean="0"/>
              <a:t>P/sin</a:t>
            </a:r>
            <a:r>
              <a:rPr lang="el-GR" dirty="0" smtClean="0"/>
              <a:t>α = </a:t>
            </a:r>
            <a:r>
              <a:rPr lang="en-US" dirty="0" smtClean="0"/>
              <a:t>Q/sin</a:t>
            </a:r>
            <a:r>
              <a:rPr lang="el-GR" dirty="0" smtClean="0"/>
              <a:t>β = </a:t>
            </a:r>
            <a:r>
              <a:rPr lang="en-US" dirty="0" smtClean="0"/>
              <a:t>R/sin</a:t>
            </a:r>
            <a:r>
              <a:rPr lang="el-GR" dirty="0" smtClean="0"/>
              <a:t>γ</a:t>
            </a:r>
            <a:endParaRPr lang="en-US" dirty="0"/>
          </a:p>
        </p:txBody>
      </p:sp>
      <p:sp>
        <p:nvSpPr>
          <p:cNvPr id="8" name="Slide Number Placeholder 7"/>
          <p:cNvSpPr>
            <a:spLocks noGrp="1"/>
          </p:cNvSpPr>
          <p:nvPr>
            <p:ph type="sldNum" sz="quarter" idx="12"/>
          </p:nvPr>
        </p:nvSpPr>
        <p:spPr/>
        <p:txBody>
          <a:bodyPr/>
          <a:lstStyle/>
          <a:p>
            <a:fld id="{69DF43F8-FE0C-44AE-856E-347CEC3D66D6}" type="slidenum">
              <a:rPr lang="en-GB" smtClean="0"/>
              <a:pPr/>
              <a:t>4</a:t>
            </a:fld>
            <a:endParaRPr lang="en-GB" sz="140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
        <p:nvSpPr>
          <p:cNvPr id="10" name="Date Placeholder 9"/>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066800" y="0"/>
            <a:ext cx="7772400" cy="1143000"/>
          </a:xfrm>
        </p:spPr>
        <p:txBody>
          <a:bodyPr/>
          <a:lstStyle/>
          <a:p>
            <a:r>
              <a:rPr lang="en-GB" b="1">
                <a:cs typeface="Arial" charset="0"/>
              </a:rPr>
              <a:t>Example</a:t>
            </a:r>
          </a:p>
        </p:txBody>
      </p:sp>
      <p:sp>
        <p:nvSpPr>
          <p:cNvPr id="48131" name="Rectangle 3"/>
          <p:cNvSpPr>
            <a:spLocks noGrp="1" noChangeArrowheads="1"/>
          </p:cNvSpPr>
          <p:nvPr>
            <p:ph type="body" idx="1"/>
          </p:nvPr>
        </p:nvSpPr>
        <p:spPr>
          <a:xfrm>
            <a:off x="1066800" y="2101850"/>
            <a:ext cx="7772400" cy="1066800"/>
          </a:xfrm>
        </p:spPr>
        <p:txBody>
          <a:bodyPr/>
          <a:lstStyle/>
          <a:p>
            <a:pPr algn="just"/>
            <a:r>
              <a:rPr lang="en-GB">
                <a:latin typeface="Arial" charset="0"/>
                <a:cs typeface="Arial" charset="0"/>
              </a:rPr>
              <a:t>Determine the resultant of the three forces </a:t>
            </a:r>
            <a:r>
              <a:rPr lang="en-US">
                <a:latin typeface="Arial" charset="0"/>
                <a:cs typeface="Arial" charset="0"/>
              </a:rPr>
              <a:t>below.</a:t>
            </a:r>
            <a:endParaRPr lang="en-GB">
              <a:latin typeface="Arial" charset="0"/>
              <a:cs typeface="Arial" charset="0"/>
            </a:endParaRPr>
          </a:p>
          <a:p>
            <a:endParaRPr lang="en-GB"/>
          </a:p>
        </p:txBody>
      </p:sp>
      <p:sp>
        <p:nvSpPr>
          <p:cNvPr id="48132" name="Line 4"/>
          <p:cNvSpPr>
            <a:spLocks noChangeShapeType="1"/>
          </p:cNvSpPr>
          <p:nvPr/>
        </p:nvSpPr>
        <p:spPr bwMode="auto">
          <a:xfrm>
            <a:off x="990600" y="5562600"/>
            <a:ext cx="6553200" cy="0"/>
          </a:xfrm>
          <a:prstGeom prst="line">
            <a:avLst/>
          </a:prstGeom>
          <a:noFill/>
          <a:ln w="9525">
            <a:solidFill>
              <a:schemeClr val="tx1"/>
            </a:solidFill>
            <a:round/>
            <a:headEnd/>
            <a:tailEnd/>
          </a:ln>
          <a:effectLst/>
        </p:spPr>
        <p:txBody>
          <a:bodyPr wrap="none"/>
          <a:lstStyle/>
          <a:p>
            <a:endParaRPr lang="en-US"/>
          </a:p>
        </p:txBody>
      </p:sp>
      <p:sp>
        <p:nvSpPr>
          <p:cNvPr id="48133" name="Line 5"/>
          <p:cNvSpPr>
            <a:spLocks noChangeShapeType="1"/>
          </p:cNvSpPr>
          <p:nvPr/>
        </p:nvSpPr>
        <p:spPr bwMode="auto">
          <a:xfrm>
            <a:off x="4038600" y="5562600"/>
            <a:ext cx="0" cy="0"/>
          </a:xfrm>
          <a:prstGeom prst="line">
            <a:avLst/>
          </a:prstGeom>
          <a:noFill/>
          <a:ln w="9525">
            <a:solidFill>
              <a:schemeClr val="tx1"/>
            </a:solidFill>
            <a:round/>
            <a:headEnd/>
            <a:tailEnd/>
          </a:ln>
          <a:effectLst/>
        </p:spPr>
        <p:txBody>
          <a:bodyPr wrap="none"/>
          <a:lstStyle/>
          <a:p>
            <a:endParaRPr lang="en-US"/>
          </a:p>
        </p:txBody>
      </p:sp>
      <p:sp>
        <p:nvSpPr>
          <p:cNvPr id="48134" name="Line 6"/>
          <p:cNvSpPr>
            <a:spLocks noChangeShapeType="1"/>
          </p:cNvSpPr>
          <p:nvPr/>
        </p:nvSpPr>
        <p:spPr bwMode="auto">
          <a:xfrm flipV="1">
            <a:off x="3962400" y="3352800"/>
            <a:ext cx="0" cy="2209800"/>
          </a:xfrm>
          <a:prstGeom prst="line">
            <a:avLst/>
          </a:prstGeom>
          <a:noFill/>
          <a:ln w="9525">
            <a:solidFill>
              <a:schemeClr val="tx1"/>
            </a:solidFill>
            <a:round/>
            <a:headEnd/>
            <a:tailEnd/>
          </a:ln>
          <a:effectLst/>
        </p:spPr>
        <p:txBody>
          <a:bodyPr wrap="none"/>
          <a:lstStyle/>
          <a:p>
            <a:endParaRPr lang="en-US"/>
          </a:p>
        </p:txBody>
      </p:sp>
      <p:sp>
        <p:nvSpPr>
          <p:cNvPr id="48135" name="Line 7"/>
          <p:cNvSpPr>
            <a:spLocks noChangeShapeType="1"/>
          </p:cNvSpPr>
          <p:nvPr/>
        </p:nvSpPr>
        <p:spPr bwMode="auto">
          <a:xfrm flipV="1">
            <a:off x="4038600" y="4495800"/>
            <a:ext cx="2133600" cy="990600"/>
          </a:xfrm>
          <a:prstGeom prst="line">
            <a:avLst/>
          </a:prstGeom>
          <a:noFill/>
          <a:ln w="9525">
            <a:solidFill>
              <a:schemeClr val="tx1"/>
            </a:solidFill>
            <a:round/>
            <a:headEnd/>
            <a:tailEnd type="triangle" w="med" len="med"/>
          </a:ln>
          <a:effectLst/>
        </p:spPr>
        <p:txBody>
          <a:bodyPr wrap="none"/>
          <a:lstStyle/>
          <a:p>
            <a:endParaRPr lang="en-US"/>
          </a:p>
        </p:txBody>
      </p:sp>
      <p:sp>
        <p:nvSpPr>
          <p:cNvPr id="48136" name="Line 8"/>
          <p:cNvSpPr>
            <a:spLocks noChangeShapeType="1"/>
          </p:cNvSpPr>
          <p:nvPr/>
        </p:nvSpPr>
        <p:spPr bwMode="auto">
          <a:xfrm flipV="1">
            <a:off x="4038600" y="3810000"/>
            <a:ext cx="762000" cy="1676400"/>
          </a:xfrm>
          <a:prstGeom prst="line">
            <a:avLst/>
          </a:prstGeom>
          <a:noFill/>
          <a:ln w="9525">
            <a:solidFill>
              <a:schemeClr val="tx1"/>
            </a:solidFill>
            <a:round/>
            <a:headEnd/>
            <a:tailEnd type="triangle" w="med" len="med"/>
          </a:ln>
          <a:effectLst/>
        </p:spPr>
        <p:txBody>
          <a:bodyPr wrap="none"/>
          <a:lstStyle/>
          <a:p>
            <a:endParaRPr lang="en-US"/>
          </a:p>
        </p:txBody>
      </p:sp>
      <p:sp>
        <p:nvSpPr>
          <p:cNvPr id="48137" name="Line 9"/>
          <p:cNvSpPr>
            <a:spLocks noChangeShapeType="1"/>
          </p:cNvSpPr>
          <p:nvPr/>
        </p:nvSpPr>
        <p:spPr bwMode="auto">
          <a:xfrm flipH="1" flipV="1">
            <a:off x="2209800" y="3733800"/>
            <a:ext cx="1752600" cy="1752600"/>
          </a:xfrm>
          <a:prstGeom prst="line">
            <a:avLst/>
          </a:prstGeom>
          <a:noFill/>
          <a:ln w="9525">
            <a:solidFill>
              <a:schemeClr val="tx1"/>
            </a:solidFill>
            <a:round/>
            <a:headEnd/>
            <a:tailEnd type="triangle" w="med" len="med"/>
          </a:ln>
          <a:effectLst/>
        </p:spPr>
        <p:txBody>
          <a:bodyPr wrap="none"/>
          <a:lstStyle/>
          <a:p>
            <a:endParaRPr lang="en-US"/>
          </a:p>
        </p:txBody>
      </p:sp>
      <p:sp>
        <p:nvSpPr>
          <p:cNvPr id="48138" name="Text Box 10"/>
          <p:cNvSpPr txBox="1">
            <a:spLocks noChangeArrowheads="1"/>
          </p:cNvSpPr>
          <p:nvPr/>
        </p:nvSpPr>
        <p:spPr bwMode="auto">
          <a:xfrm>
            <a:off x="4632325" y="5146675"/>
            <a:ext cx="590550" cy="457200"/>
          </a:xfrm>
          <a:prstGeom prst="rect">
            <a:avLst/>
          </a:prstGeom>
          <a:noFill/>
          <a:ln w="9525">
            <a:noFill/>
            <a:miter lim="800000"/>
            <a:headEnd/>
            <a:tailEnd/>
          </a:ln>
          <a:effectLst/>
        </p:spPr>
        <p:txBody>
          <a:bodyPr wrap="none">
            <a:spAutoFit/>
          </a:bodyPr>
          <a:lstStyle/>
          <a:p>
            <a:r>
              <a:rPr lang="en-US"/>
              <a:t>25</a:t>
            </a:r>
            <a:r>
              <a:rPr lang="en-US" baseline="30000"/>
              <a:t>o</a:t>
            </a:r>
            <a:endParaRPr lang="en-GB" baseline="30000"/>
          </a:p>
        </p:txBody>
      </p:sp>
      <p:sp>
        <p:nvSpPr>
          <p:cNvPr id="48139" name="Text Box 11"/>
          <p:cNvSpPr txBox="1">
            <a:spLocks noChangeArrowheads="1"/>
          </p:cNvSpPr>
          <p:nvPr/>
        </p:nvSpPr>
        <p:spPr bwMode="auto">
          <a:xfrm>
            <a:off x="4403725" y="4841875"/>
            <a:ext cx="590550" cy="457200"/>
          </a:xfrm>
          <a:prstGeom prst="rect">
            <a:avLst/>
          </a:prstGeom>
          <a:noFill/>
          <a:ln w="9525">
            <a:noFill/>
            <a:miter lim="800000"/>
            <a:headEnd/>
            <a:tailEnd/>
          </a:ln>
          <a:effectLst/>
        </p:spPr>
        <p:txBody>
          <a:bodyPr wrap="none">
            <a:spAutoFit/>
          </a:bodyPr>
          <a:lstStyle/>
          <a:p>
            <a:r>
              <a:rPr lang="en-US"/>
              <a:t>45</a:t>
            </a:r>
            <a:r>
              <a:rPr lang="en-US" baseline="30000"/>
              <a:t>o</a:t>
            </a:r>
            <a:endParaRPr lang="en-GB" baseline="30000"/>
          </a:p>
        </p:txBody>
      </p:sp>
      <p:sp>
        <p:nvSpPr>
          <p:cNvPr id="48140" name="Text Box 12"/>
          <p:cNvSpPr txBox="1">
            <a:spLocks noChangeArrowheads="1"/>
          </p:cNvSpPr>
          <p:nvPr/>
        </p:nvSpPr>
        <p:spPr bwMode="auto">
          <a:xfrm>
            <a:off x="6461125" y="4384675"/>
            <a:ext cx="938213" cy="457200"/>
          </a:xfrm>
          <a:prstGeom prst="rect">
            <a:avLst/>
          </a:prstGeom>
          <a:noFill/>
          <a:ln w="9525">
            <a:noFill/>
            <a:miter lim="800000"/>
            <a:headEnd/>
            <a:tailEnd/>
          </a:ln>
          <a:effectLst/>
        </p:spPr>
        <p:txBody>
          <a:bodyPr wrap="none">
            <a:spAutoFit/>
          </a:bodyPr>
          <a:lstStyle/>
          <a:p>
            <a:r>
              <a:rPr lang="en-US"/>
              <a:t>350 N</a:t>
            </a:r>
            <a:endParaRPr lang="en-GB"/>
          </a:p>
        </p:txBody>
      </p:sp>
      <p:sp>
        <p:nvSpPr>
          <p:cNvPr id="48141" name="Text Box 13"/>
          <p:cNvSpPr txBox="1">
            <a:spLocks noChangeArrowheads="1"/>
          </p:cNvSpPr>
          <p:nvPr/>
        </p:nvSpPr>
        <p:spPr bwMode="auto">
          <a:xfrm>
            <a:off x="4937125" y="3546475"/>
            <a:ext cx="938213" cy="457200"/>
          </a:xfrm>
          <a:prstGeom prst="rect">
            <a:avLst/>
          </a:prstGeom>
          <a:noFill/>
          <a:ln w="9525">
            <a:noFill/>
            <a:miter lim="800000"/>
            <a:headEnd/>
            <a:tailEnd/>
          </a:ln>
          <a:effectLst/>
        </p:spPr>
        <p:txBody>
          <a:bodyPr wrap="none">
            <a:spAutoFit/>
          </a:bodyPr>
          <a:lstStyle/>
          <a:p>
            <a:r>
              <a:rPr lang="en-US"/>
              <a:t>800 N</a:t>
            </a:r>
            <a:endParaRPr lang="en-GB"/>
          </a:p>
        </p:txBody>
      </p:sp>
      <p:sp>
        <p:nvSpPr>
          <p:cNvPr id="48142" name="Text Box 14"/>
          <p:cNvSpPr txBox="1">
            <a:spLocks noChangeArrowheads="1"/>
          </p:cNvSpPr>
          <p:nvPr/>
        </p:nvSpPr>
        <p:spPr bwMode="auto">
          <a:xfrm>
            <a:off x="1508125" y="3394075"/>
            <a:ext cx="938213" cy="457200"/>
          </a:xfrm>
          <a:prstGeom prst="rect">
            <a:avLst/>
          </a:prstGeom>
          <a:noFill/>
          <a:ln w="9525">
            <a:noFill/>
            <a:miter lim="800000"/>
            <a:headEnd/>
            <a:tailEnd/>
          </a:ln>
          <a:effectLst/>
        </p:spPr>
        <p:txBody>
          <a:bodyPr wrap="none">
            <a:spAutoFit/>
          </a:bodyPr>
          <a:lstStyle/>
          <a:p>
            <a:r>
              <a:rPr lang="en-US"/>
              <a:t>600 N</a:t>
            </a:r>
            <a:endParaRPr lang="en-GB"/>
          </a:p>
        </p:txBody>
      </p:sp>
      <p:sp>
        <p:nvSpPr>
          <p:cNvPr id="48143" name="Text Box 15"/>
          <p:cNvSpPr txBox="1">
            <a:spLocks noChangeArrowheads="1"/>
          </p:cNvSpPr>
          <p:nvPr/>
        </p:nvSpPr>
        <p:spPr bwMode="auto">
          <a:xfrm>
            <a:off x="3260725" y="5070475"/>
            <a:ext cx="590550" cy="457200"/>
          </a:xfrm>
          <a:prstGeom prst="rect">
            <a:avLst/>
          </a:prstGeom>
          <a:noFill/>
          <a:ln w="9525">
            <a:noFill/>
            <a:miter lim="800000"/>
            <a:headEnd/>
            <a:tailEnd/>
          </a:ln>
          <a:effectLst/>
        </p:spPr>
        <p:txBody>
          <a:bodyPr wrap="none">
            <a:spAutoFit/>
          </a:bodyPr>
          <a:lstStyle/>
          <a:p>
            <a:r>
              <a:rPr lang="en-US"/>
              <a:t>60</a:t>
            </a:r>
            <a:r>
              <a:rPr lang="en-US" baseline="30000"/>
              <a:t>o</a:t>
            </a:r>
            <a:endParaRPr lang="en-GB" baseline="30000"/>
          </a:p>
        </p:txBody>
      </p:sp>
      <p:sp>
        <p:nvSpPr>
          <p:cNvPr id="48144" name="Text Box 16"/>
          <p:cNvSpPr txBox="1">
            <a:spLocks noChangeArrowheads="1"/>
          </p:cNvSpPr>
          <p:nvPr/>
        </p:nvSpPr>
        <p:spPr bwMode="auto">
          <a:xfrm>
            <a:off x="3641725" y="3165475"/>
            <a:ext cx="336550" cy="457200"/>
          </a:xfrm>
          <a:prstGeom prst="rect">
            <a:avLst/>
          </a:prstGeom>
          <a:noFill/>
          <a:ln w="9525">
            <a:noFill/>
            <a:miter lim="800000"/>
            <a:headEnd/>
            <a:tailEnd/>
          </a:ln>
          <a:effectLst/>
        </p:spPr>
        <p:txBody>
          <a:bodyPr wrap="none">
            <a:spAutoFit/>
          </a:bodyPr>
          <a:lstStyle/>
          <a:p>
            <a:r>
              <a:rPr lang="en-US"/>
              <a:t>y</a:t>
            </a:r>
            <a:endParaRPr lang="en-GB"/>
          </a:p>
        </p:txBody>
      </p:sp>
      <p:sp>
        <p:nvSpPr>
          <p:cNvPr id="48145" name="Text Box 17"/>
          <p:cNvSpPr txBox="1">
            <a:spLocks noChangeArrowheads="1"/>
          </p:cNvSpPr>
          <p:nvPr/>
        </p:nvSpPr>
        <p:spPr bwMode="auto">
          <a:xfrm>
            <a:off x="7756525" y="5527675"/>
            <a:ext cx="336550" cy="457200"/>
          </a:xfrm>
          <a:prstGeom prst="rect">
            <a:avLst/>
          </a:prstGeom>
          <a:noFill/>
          <a:ln w="9525">
            <a:noFill/>
            <a:miter lim="800000"/>
            <a:headEnd/>
            <a:tailEnd/>
          </a:ln>
          <a:effectLst/>
        </p:spPr>
        <p:txBody>
          <a:bodyPr wrap="none">
            <a:spAutoFit/>
          </a:bodyPr>
          <a:lstStyle/>
          <a:p>
            <a:r>
              <a:rPr lang="en-US"/>
              <a:t>x</a:t>
            </a:r>
            <a:endParaRPr lang="en-GB"/>
          </a:p>
        </p:txBody>
      </p:sp>
      <p:sp>
        <p:nvSpPr>
          <p:cNvPr id="18" name="Slide Number Placeholder 17"/>
          <p:cNvSpPr>
            <a:spLocks noGrp="1"/>
          </p:cNvSpPr>
          <p:nvPr>
            <p:ph type="sldNum" sz="quarter" idx="12"/>
          </p:nvPr>
        </p:nvSpPr>
        <p:spPr/>
        <p:txBody>
          <a:bodyPr/>
          <a:lstStyle/>
          <a:p>
            <a:fld id="{D2AC8ED3-FCA2-46E2-B7FF-E9B8229EFB1E}" type="slidenum">
              <a:rPr lang="en-GB" smtClean="0"/>
              <a:pPr/>
              <a:t>5</a:t>
            </a:fld>
            <a:endParaRPr lang="en-GB" sz="1400"/>
          </a:p>
        </p:txBody>
      </p:sp>
      <p:sp>
        <p:nvSpPr>
          <p:cNvPr id="19" name="Footer Placeholder 18"/>
          <p:cNvSpPr>
            <a:spLocks noGrp="1"/>
          </p:cNvSpPr>
          <p:nvPr>
            <p:ph type="ftr" sz="quarter" idx="11"/>
          </p:nvPr>
        </p:nvSpPr>
        <p:spPr/>
        <p:txBody>
          <a:bodyPr/>
          <a:lstStyle/>
          <a:p>
            <a:r>
              <a:rPr lang="fi-FI" smtClean="0"/>
              <a:t>Dr. Nana Sarfo Agyemang Derkyi</a:t>
            </a:r>
            <a:endParaRPr lang="en-GB"/>
          </a:p>
        </p:txBody>
      </p:sp>
      <p:sp>
        <p:nvSpPr>
          <p:cNvPr id="20" name="Date Placeholder 19"/>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371600" y="-495300"/>
            <a:ext cx="7772400" cy="990600"/>
          </a:xfrm>
        </p:spPr>
        <p:txBody>
          <a:bodyPr/>
          <a:lstStyle/>
          <a:p>
            <a:r>
              <a:rPr lang="en-US"/>
              <a:t>Solution</a:t>
            </a:r>
            <a:endParaRPr lang="en-GB"/>
          </a:p>
        </p:txBody>
      </p:sp>
      <p:pic>
        <p:nvPicPr>
          <p:cNvPr id="49155" name="Picture 3"/>
          <p:cNvPicPr>
            <a:picLocks noChangeAspect="1" noChangeArrowheads="1"/>
          </p:cNvPicPr>
          <p:nvPr/>
        </p:nvPicPr>
        <p:blipFill>
          <a:blip r:embed="rId2" cstate="print"/>
          <a:srcRect/>
          <a:stretch>
            <a:fillRect/>
          </a:stretch>
        </p:blipFill>
        <p:spPr bwMode="auto">
          <a:xfrm>
            <a:off x="0" y="1233488"/>
            <a:ext cx="9879013" cy="5624512"/>
          </a:xfrm>
          <a:prstGeom prst="rect">
            <a:avLst/>
          </a:prstGeom>
          <a:noFill/>
          <a:ln w="9525">
            <a:noFill/>
            <a:miter lim="800000"/>
            <a:headEnd/>
            <a:tailEnd/>
          </a:ln>
          <a:effectLst/>
        </p:spPr>
      </p:pic>
      <p:sp>
        <p:nvSpPr>
          <p:cNvPr id="49156" name="Line 4"/>
          <p:cNvSpPr>
            <a:spLocks noChangeShapeType="1"/>
          </p:cNvSpPr>
          <p:nvPr/>
        </p:nvSpPr>
        <p:spPr bwMode="auto">
          <a:xfrm>
            <a:off x="3308350" y="5562600"/>
            <a:ext cx="5530850" cy="1588"/>
          </a:xfrm>
          <a:prstGeom prst="line">
            <a:avLst/>
          </a:prstGeom>
          <a:noFill/>
          <a:ln w="9525">
            <a:solidFill>
              <a:schemeClr val="tx1"/>
            </a:solidFill>
            <a:round/>
            <a:headEnd/>
            <a:tailEnd/>
          </a:ln>
          <a:effectLst/>
        </p:spPr>
        <p:txBody>
          <a:bodyPr wrap="none"/>
          <a:lstStyle/>
          <a:p>
            <a:endParaRPr lang="en-US"/>
          </a:p>
        </p:txBody>
      </p:sp>
      <p:sp>
        <p:nvSpPr>
          <p:cNvPr id="49157" name="Line 5"/>
          <p:cNvSpPr>
            <a:spLocks noChangeShapeType="1"/>
          </p:cNvSpPr>
          <p:nvPr/>
        </p:nvSpPr>
        <p:spPr bwMode="auto">
          <a:xfrm flipV="1">
            <a:off x="5257800" y="3657600"/>
            <a:ext cx="0" cy="1905000"/>
          </a:xfrm>
          <a:prstGeom prst="line">
            <a:avLst/>
          </a:prstGeom>
          <a:noFill/>
          <a:ln w="9525">
            <a:solidFill>
              <a:schemeClr val="tx1"/>
            </a:solidFill>
            <a:round/>
            <a:headEnd/>
            <a:tailEnd/>
          </a:ln>
          <a:effectLst/>
        </p:spPr>
        <p:txBody>
          <a:bodyPr wrap="none"/>
          <a:lstStyle/>
          <a:p>
            <a:endParaRPr lang="en-US"/>
          </a:p>
        </p:txBody>
      </p:sp>
      <p:sp>
        <p:nvSpPr>
          <p:cNvPr id="49158" name="Line 6"/>
          <p:cNvSpPr>
            <a:spLocks noChangeShapeType="1"/>
          </p:cNvSpPr>
          <p:nvPr/>
        </p:nvSpPr>
        <p:spPr bwMode="auto">
          <a:xfrm flipV="1">
            <a:off x="5257800" y="4572000"/>
            <a:ext cx="1800225" cy="990600"/>
          </a:xfrm>
          <a:prstGeom prst="line">
            <a:avLst/>
          </a:prstGeom>
          <a:noFill/>
          <a:ln w="9525">
            <a:solidFill>
              <a:schemeClr val="tx1"/>
            </a:solidFill>
            <a:round/>
            <a:headEnd/>
            <a:tailEnd type="triangle" w="med" len="med"/>
          </a:ln>
          <a:effectLst/>
        </p:spPr>
        <p:txBody>
          <a:bodyPr wrap="none"/>
          <a:lstStyle/>
          <a:p>
            <a:endParaRPr lang="en-US"/>
          </a:p>
        </p:txBody>
      </p:sp>
      <p:sp>
        <p:nvSpPr>
          <p:cNvPr id="49159" name="Line 7"/>
          <p:cNvSpPr>
            <a:spLocks noChangeShapeType="1"/>
          </p:cNvSpPr>
          <p:nvPr/>
        </p:nvSpPr>
        <p:spPr bwMode="auto">
          <a:xfrm flipV="1">
            <a:off x="5257800" y="3886200"/>
            <a:ext cx="719138" cy="1676400"/>
          </a:xfrm>
          <a:prstGeom prst="line">
            <a:avLst/>
          </a:prstGeom>
          <a:noFill/>
          <a:ln w="9525">
            <a:solidFill>
              <a:schemeClr val="tx1"/>
            </a:solidFill>
            <a:round/>
            <a:headEnd/>
            <a:tailEnd type="triangle" w="med" len="med"/>
          </a:ln>
          <a:effectLst/>
        </p:spPr>
        <p:txBody>
          <a:bodyPr wrap="none"/>
          <a:lstStyle/>
          <a:p>
            <a:endParaRPr lang="en-US"/>
          </a:p>
        </p:txBody>
      </p:sp>
      <p:sp>
        <p:nvSpPr>
          <p:cNvPr id="49160" name="Line 8"/>
          <p:cNvSpPr>
            <a:spLocks noChangeShapeType="1"/>
          </p:cNvSpPr>
          <p:nvPr/>
        </p:nvSpPr>
        <p:spPr bwMode="auto">
          <a:xfrm flipH="1" flipV="1">
            <a:off x="4038600" y="4114800"/>
            <a:ext cx="1250950" cy="1447800"/>
          </a:xfrm>
          <a:prstGeom prst="line">
            <a:avLst/>
          </a:prstGeom>
          <a:noFill/>
          <a:ln w="9525">
            <a:solidFill>
              <a:schemeClr val="tx1"/>
            </a:solidFill>
            <a:round/>
            <a:headEnd/>
            <a:tailEnd type="triangle" w="med" len="med"/>
          </a:ln>
          <a:effectLst/>
        </p:spPr>
        <p:txBody>
          <a:bodyPr wrap="none"/>
          <a:lstStyle/>
          <a:p>
            <a:endParaRPr lang="en-US"/>
          </a:p>
        </p:txBody>
      </p:sp>
      <p:sp>
        <p:nvSpPr>
          <p:cNvPr id="49161" name="Text Box 9"/>
          <p:cNvSpPr txBox="1">
            <a:spLocks noChangeArrowheads="1"/>
          </p:cNvSpPr>
          <p:nvPr/>
        </p:nvSpPr>
        <p:spPr bwMode="auto">
          <a:xfrm>
            <a:off x="6019800" y="5146675"/>
            <a:ext cx="590550" cy="457200"/>
          </a:xfrm>
          <a:prstGeom prst="rect">
            <a:avLst/>
          </a:prstGeom>
          <a:noFill/>
          <a:ln w="9525">
            <a:noFill/>
            <a:miter lim="800000"/>
            <a:headEnd/>
            <a:tailEnd/>
          </a:ln>
          <a:effectLst/>
        </p:spPr>
        <p:txBody>
          <a:bodyPr wrap="none">
            <a:spAutoFit/>
          </a:bodyPr>
          <a:lstStyle/>
          <a:p>
            <a:r>
              <a:rPr lang="en-US"/>
              <a:t>25</a:t>
            </a:r>
            <a:r>
              <a:rPr lang="en-US" baseline="30000"/>
              <a:t>o</a:t>
            </a:r>
            <a:endParaRPr lang="en-GB" baseline="30000"/>
          </a:p>
        </p:txBody>
      </p:sp>
      <p:sp>
        <p:nvSpPr>
          <p:cNvPr id="49162" name="Text Box 10"/>
          <p:cNvSpPr txBox="1">
            <a:spLocks noChangeArrowheads="1"/>
          </p:cNvSpPr>
          <p:nvPr/>
        </p:nvSpPr>
        <p:spPr bwMode="auto">
          <a:xfrm>
            <a:off x="5486400" y="4876800"/>
            <a:ext cx="590550" cy="457200"/>
          </a:xfrm>
          <a:prstGeom prst="rect">
            <a:avLst/>
          </a:prstGeom>
          <a:noFill/>
          <a:ln w="9525">
            <a:noFill/>
            <a:miter lim="800000"/>
            <a:headEnd/>
            <a:tailEnd/>
          </a:ln>
          <a:effectLst/>
        </p:spPr>
        <p:txBody>
          <a:bodyPr wrap="none">
            <a:spAutoFit/>
          </a:bodyPr>
          <a:lstStyle/>
          <a:p>
            <a:r>
              <a:rPr lang="en-US"/>
              <a:t>45</a:t>
            </a:r>
            <a:r>
              <a:rPr lang="en-US" baseline="30000"/>
              <a:t>o</a:t>
            </a:r>
            <a:endParaRPr lang="en-GB" baseline="30000"/>
          </a:p>
        </p:txBody>
      </p:sp>
      <p:sp>
        <p:nvSpPr>
          <p:cNvPr id="49163" name="Text Box 11"/>
          <p:cNvSpPr txBox="1">
            <a:spLocks noChangeArrowheads="1"/>
          </p:cNvSpPr>
          <p:nvPr/>
        </p:nvSpPr>
        <p:spPr bwMode="auto">
          <a:xfrm>
            <a:off x="7239000" y="4384675"/>
            <a:ext cx="1601788" cy="457200"/>
          </a:xfrm>
          <a:prstGeom prst="rect">
            <a:avLst/>
          </a:prstGeom>
          <a:noFill/>
          <a:ln w="9525">
            <a:noFill/>
            <a:miter lim="800000"/>
            <a:headEnd/>
            <a:tailEnd/>
          </a:ln>
          <a:effectLst/>
        </p:spPr>
        <p:txBody>
          <a:bodyPr>
            <a:spAutoFit/>
          </a:bodyPr>
          <a:lstStyle/>
          <a:p>
            <a:r>
              <a:rPr lang="en-US"/>
              <a:t>350 N</a:t>
            </a:r>
            <a:endParaRPr lang="en-GB"/>
          </a:p>
        </p:txBody>
      </p:sp>
      <p:sp>
        <p:nvSpPr>
          <p:cNvPr id="49164" name="Text Box 12"/>
          <p:cNvSpPr txBox="1">
            <a:spLocks noChangeArrowheads="1"/>
          </p:cNvSpPr>
          <p:nvPr/>
        </p:nvSpPr>
        <p:spPr bwMode="auto">
          <a:xfrm>
            <a:off x="6378575" y="3546475"/>
            <a:ext cx="938213" cy="457200"/>
          </a:xfrm>
          <a:prstGeom prst="rect">
            <a:avLst/>
          </a:prstGeom>
          <a:noFill/>
          <a:ln w="9525">
            <a:noFill/>
            <a:miter lim="800000"/>
            <a:headEnd/>
            <a:tailEnd/>
          </a:ln>
          <a:effectLst/>
        </p:spPr>
        <p:txBody>
          <a:bodyPr wrap="none">
            <a:spAutoFit/>
          </a:bodyPr>
          <a:lstStyle/>
          <a:p>
            <a:r>
              <a:rPr lang="en-US"/>
              <a:t>800 N</a:t>
            </a:r>
            <a:endParaRPr lang="en-GB"/>
          </a:p>
        </p:txBody>
      </p:sp>
      <p:sp>
        <p:nvSpPr>
          <p:cNvPr id="49165" name="Text Box 13"/>
          <p:cNvSpPr txBox="1">
            <a:spLocks noChangeArrowheads="1"/>
          </p:cNvSpPr>
          <p:nvPr/>
        </p:nvSpPr>
        <p:spPr bwMode="auto">
          <a:xfrm>
            <a:off x="2949575" y="3394075"/>
            <a:ext cx="938213" cy="1187450"/>
          </a:xfrm>
          <a:prstGeom prst="rect">
            <a:avLst/>
          </a:prstGeom>
          <a:noFill/>
          <a:ln w="9525">
            <a:noFill/>
            <a:miter lim="800000"/>
            <a:headEnd/>
            <a:tailEnd/>
          </a:ln>
          <a:effectLst/>
        </p:spPr>
        <p:txBody>
          <a:bodyPr wrap="none">
            <a:spAutoFit/>
          </a:bodyPr>
          <a:lstStyle/>
          <a:p>
            <a:endParaRPr lang="en-US"/>
          </a:p>
          <a:p>
            <a:endParaRPr lang="en-US"/>
          </a:p>
          <a:p>
            <a:r>
              <a:rPr lang="en-US"/>
              <a:t>600 N</a:t>
            </a:r>
            <a:endParaRPr lang="en-GB"/>
          </a:p>
        </p:txBody>
      </p:sp>
      <p:sp>
        <p:nvSpPr>
          <p:cNvPr id="49166" name="Text Box 14"/>
          <p:cNvSpPr txBox="1">
            <a:spLocks noChangeArrowheads="1"/>
          </p:cNvSpPr>
          <p:nvPr/>
        </p:nvSpPr>
        <p:spPr bwMode="auto">
          <a:xfrm>
            <a:off x="4495800" y="5070475"/>
            <a:ext cx="742950" cy="457200"/>
          </a:xfrm>
          <a:prstGeom prst="rect">
            <a:avLst/>
          </a:prstGeom>
          <a:noFill/>
          <a:ln w="9525">
            <a:noFill/>
            <a:miter lim="800000"/>
            <a:headEnd/>
            <a:tailEnd/>
          </a:ln>
          <a:effectLst/>
        </p:spPr>
        <p:txBody>
          <a:bodyPr>
            <a:spAutoFit/>
          </a:bodyPr>
          <a:lstStyle/>
          <a:p>
            <a:r>
              <a:rPr lang="en-US"/>
              <a:t>60</a:t>
            </a:r>
            <a:r>
              <a:rPr lang="en-US" baseline="30000"/>
              <a:t>o</a:t>
            </a:r>
            <a:endParaRPr lang="en-GB" baseline="30000"/>
          </a:p>
        </p:txBody>
      </p:sp>
      <p:sp>
        <p:nvSpPr>
          <p:cNvPr id="49167" name="Text Box 15"/>
          <p:cNvSpPr txBox="1">
            <a:spLocks noChangeArrowheads="1"/>
          </p:cNvSpPr>
          <p:nvPr/>
        </p:nvSpPr>
        <p:spPr bwMode="auto">
          <a:xfrm>
            <a:off x="4953000" y="3505200"/>
            <a:ext cx="336550" cy="457200"/>
          </a:xfrm>
          <a:prstGeom prst="rect">
            <a:avLst/>
          </a:prstGeom>
          <a:noFill/>
          <a:ln w="9525">
            <a:noFill/>
            <a:miter lim="800000"/>
            <a:headEnd/>
            <a:tailEnd/>
          </a:ln>
          <a:effectLst/>
        </p:spPr>
        <p:txBody>
          <a:bodyPr wrap="none">
            <a:spAutoFit/>
          </a:bodyPr>
          <a:lstStyle/>
          <a:p>
            <a:r>
              <a:rPr lang="en-US"/>
              <a:t>y</a:t>
            </a:r>
            <a:endParaRPr lang="en-GB"/>
          </a:p>
        </p:txBody>
      </p:sp>
      <p:sp>
        <p:nvSpPr>
          <p:cNvPr id="49168" name="Text Box 16"/>
          <p:cNvSpPr txBox="1">
            <a:spLocks noChangeArrowheads="1"/>
          </p:cNvSpPr>
          <p:nvPr/>
        </p:nvSpPr>
        <p:spPr bwMode="auto">
          <a:xfrm>
            <a:off x="9104313" y="5527675"/>
            <a:ext cx="336550" cy="457200"/>
          </a:xfrm>
          <a:prstGeom prst="rect">
            <a:avLst/>
          </a:prstGeom>
          <a:noFill/>
          <a:ln w="9525">
            <a:noFill/>
            <a:miter lim="800000"/>
            <a:headEnd/>
            <a:tailEnd/>
          </a:ln>
          <a:effectLst/>
        </p:spPr>
        <p:txBody>
          <a:bodyPr wrap="none">
            <a:spAutoFit/>
          </a:bodyPr>
          <a:lstStyle/>
          <a:p>
            <a:r>
              <a:rPr lang="en-US"/>
              <a:t>x</a:t>
            </a:r>
            <a:endParaRPr lang="en-GB"/>
          </a:p>
        </p:txBody>
      </p:sp>
      <p:sp>
        <p:nvSpPr>
          <p:cNvPr id="17" name="Slide Number Placeholder 16"/>
          <p:cNvSpPr>
            <a:spLocks noGrp="1"/>
          </p:cNvSpPr>
          <p:nvPr>
            <p:ph type="sldNum" sz="quarter" idx="12"/>
          </p:nvPr>
        </p:nvSpPr>
        <p:spPr/>
        <p:txBody>
          <a:bodyPr/>
          <a:lstStyle/>
          <a:p>
            <a:fld id="{DAE1B9F5-D994-44C1-ABFE-3725D93B0B3F}" type="slidenum">
              <a:rPr lang="en-GB" smtClean="0"/>
              <a:pPr/>
              <a:t>6</a:t>
            </a:fld>
            <a:endParaRPr lang="en-GB" sz="1400"/>
          </a:p>
        </p:txBody>
      </p:sp>
      <p:sp>
        <p:nvSpPr>
          <p:cNvPr id="18" name="Footer Placeholder 17"/>
          <p:cNvSpPr>
            <a:spLocks noGrp="1"/>
          </p:cNvSpPr>
          <p:nvPr>
            <p:ph type="ftr" sz="quarter" idx="11"/>
          </p:nvPr>
        </p:nvSpPr>
        <p:spPr/>
        <p:txBody>
          <a:bodyPr/>
          <a:lstStyle/>
          <a:p>
            <a:r>
              <a:rPr lang="fi-FI" smtClean="0"/>
              <a:t>Dr. Nana Sarfo Agyemang Derkyi</a:t>
            </a:r>
            <a:endParaRPr lang="en-GB"/>
          </a:p>
        </p:txBody>
      </p:sp>
      <p:sp>
        <p:nvSpPr>
          <p:cNvPr id="19" name="Date Placeholder 18"/>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990600" y="0"/>
            <a:ext cx="7772400" cy="762000"/>
          </a:xfrm>
        </p:spPr>
        <p:txBody>
          <a:bodyPr/>
          <a:lstStyle/>
          <a:p>
            <a:r>
              <a:rPr lang="en-US"/>
              <a:t>Example</a:t>
            </a:r>
            <a:endParaRPr lang="en-GB"/>
          </a:p>
        </p:txBody>
      </p:sp>
      <p:sp>
        <p:nvSpPr>
          <p:cNvPr id="50179" name="Rectangle 3"/>
          <p:cNvSpPr>
            <a:spLocks noGrp="1" noChangeArrowheads="1"/>
          </p:cNvSpPr>
          <p:nvPr>
            <p:ph type="body" idx="1"/>
          </p:nvPr>
        </p:nvSpPr>
        <p:spPr>
          <a:xfrm>
            <a:off x="533400" y="1066800"/>
            <a:ext cx="7772400" cy="2133600"/>
          </a:xfrm>
        </p:spPr>
        <p:txBody>
          <a:bodyPr/>
          <a:lstStyle/>
          <a:p>
            <a:pPr algn="just">
              <a:lnSpc>
                <a:spcPct val="90000"/>
              </a:lnSpc>
            </a:pPr>
            <a:r>
              <a:rPr lang="en-GB" sz="2800">
                <a:latin typeface="Arial" charset="0"/>
                <a:cs typeface="Arial" charset="0"/>
              </a:rPr>
              <a:t>A hoist  trolley is subjected to the three forces shown.  Knowing that </a:t>
            </a:r>
            <a:r>
              <a:rPr lang="en-US" sz="2800">
                <a:latin typeface="Arial" charset="0"/>
                <a:cs typeface="Arial" charset="0"/>
              </a:rPr>
              <a:t> </a:t>
            </a:r>
            <a:r>
              <a:rPr lang="en-GB" sz="2800">
                <a:latin typeface="Arial" charset="0"/>
                <a:cs typeface="Arial" charset="0"/>
              </a:rPr>
              <a:t>= 40</a:t>
            </a:r>
            <a:r>
              <a:rPr lang="en-GB" sz="2800" baseline="30000">
                <a:latin typeface="Arial" charset="0"/>
                <a:cs typeface="Arial" charset="0"/>
              </a:rPr>
              <a:t>o</a:t>
            </a:r>
            <a:r>
              <a:rPr lang="en-GB" sz="2800">
                <a:latin typeface="Arial" charset="0"/>
                <a:cs typeface="Arial" charset="0"/>
              </a:rPr>
              <a:t> ,  determine  (a)  the magnitude of force, P for which the resultant of the three forces is vertical  (b)  the corresponding magnitude of the resultant.</a:t>
            </a:r>
          </a:p>
          <a:p>
            <a:pPr>
              <a:lnSpc>
                <a:spcPct val="90000"/>
              </a:lnSpc>
              <a:buFont typeface="Wingdings" pitchFamily="2" charset="2"/>
              <a:buNone/>
            </a:pPr>
            <a:endParaRPr lang="en-GB" sz="2800"/>
          </a:p>
        </p:txBody>
      </p:sp>
      <p:graphicFrame>
        <p:nvGraphicFramePr>
          <p:cNvPr id="50180" name="Object 4"/>
          <p:cNvGraphicFramePr>
            <a:graphicFrameLocks noChangeAspect="1"/>
          </p:cNvGraphicFramePr>
          <p:nvPr/>
        </p:nvGraphicFramePr>
        <p:xfrm>
          <a:off x="6248400" y="1447800"/>
          <a:ext cx="454025" cy="415925"/>
        </p:xfrm>
        <a:graphic>
          <a:graphicData uri="http://schemas.openxmlformats.org/presentationml/2006/ole">
            <p:oleObj spid="_x0000_s50180" name="MathType Equation" r:id="rId3" imgW="152280" imgH="139680" progId="Equation">
              <p:embed/>
            </p:oleObj>
          </a:graphicData>
        </a:graphic>
      </p:graphicFrame>
      <p:sp>
        <p:nvSpPr>
          <p:cNvPr id="50181" name="Line 5"/>
          <p:cNvSpPr>
            <a:spLocks noChangeShapeType="1"/>
          </p:cNvSpPr>
          <p:nvPr/>
        </p:nvSpPr>
        <p:spPr bwMode="auto">
          <a:xfrm>
            <a:off x="1981200" y="4876800"/>
            <a:ext cx="4648200" cy="0"/>
          </a:xfrm>
          <a:prstGeom prst="line">
            <a:avLst/>
          </a:prstGeom>
          <a:noFill/>
          <a:ln w="9525">
            <a:solidFill>
              <a:schemeClr val="tx1"/>
            </a:solidFill>
            <a:round/>
            <a:headEnd/>
            <a:tailEnd/>
          </a:ln>
          <a:effectLst/>
        </p:spPr>
        <p:txBody>
          <a:bodyPr wrap="none"/>
          <a:lstStyle/>
          <a:p>
            <a:endParaRPr lang="en-US"/>
          </a:p>
        </p:txBody>
      </p:sp>
      <p:sp>
        <p:nvSpPr>
          <p:cNvPr id="50182" name="Line 6"/>
          <p:cNvSpPr>
            <a:spLocks noChangeShapeType="1"/>
          </p:cNvSpPr>
          <p:nvPr/>
        </p:nvSpPr>
        <p:spPr bwMode="auto">
          <a:xfrm>
            <a:off x="4267200" y="4876800"/>
            <a:ext cx="2362200" cy="0"/>
          </a:xfrm>
          <a:prstGeom prst="line">
            <a:avLst/>
          </a:prstGeom>
          <a:noFill/>
          <a:ln w="9525">
            <a:solidFill>
              <a:schemeClr val="tx1"/>
            </a:solidFill>
            <a:round/>
            <a:headEnd/>
            <a:tailEnd type="triangle" w="med" len="med"/>
          </a:ln>
          <a:effectLst/>
        </p:spPr>
        <p:txBody>
          <a:bodyPr wrap="none"/>
          <a:lstStyle/>
          <a:p>
            <a:endParaRPr lang="en-US"/>
          </a:p>
        </p:txBody>
      </p:sp>
      <p:sp>
        <p:nvSpPr>
          <p:cNvPr id="50183" name="Line 7"/>
          <p:cNvSpPr>
            <a:spLocks noChangeShapeType="1"/>
          </p:cNvSpPr>
          <p:nvPr/>
        </p:nvSpPr>
        <p:spPr bwMode="auto">
          <a:xfrm>
            <a:off x="3886200" y="4876800"/>
            <a:ext cx="0" cy="1371600"/>
          </a:xfrm>
          <a:prstGeom prst="line">
            <a:avLst/>
          </a:prstGeom>
          <a:noFill/>
          <a:ln w="9525">
            <a:solidFill>
              <a:schemeClr val="tx1"/>
            </a:solidFill>
            <a:round/>
            <a:headEnd/>
            <a:tailEnd/>
          </a:ln>
          <a:effectLst/>
        </p:spPr>
        <p:txBody>
          <a:bodyPr wrap="none"/>
          <a:lstStyle/>
          <a:p>
            <a:endParaRPr lang="en-US"/>
          </a:p>
        </p:txBody>
      </p:sp>
      <p:sp>
        <p:nvSpPr>
          <p:cNvPr id="50184" name="Line 8"/>
          <p:cNvSpPr>
            <a:spLocks noChangeShapeType="1"/>
          </p:cNvSpPr>
          <p:nvPr/>
        </p:nvSpPr>
        <p:spPr bwMode="auto">
          <a:xfrm>
            <a:off x="3886200" y="4876800"/>
            <a:ext cx="1371600" cy="1371600"/>
          </a:xfrm>
          <a:prstGeom prst="line">
            <a:avLst/>
          </a:prstGeom>
          <a:noFill/>
          <a:ln w="9525">
            <a:solidFill>
              <a:schemeClr val="tx1"/>
            </a:solidFill>
            <a:round/>
            <a:headEnd/>
            <a:tailEnd type="triangle" w="med" len="med"/>
          </a:ln>
          <a:effectLst/>
        </p:spPr>
        <p:txBody>
          <a:bodyPr wrap="none"/>
          <a:lstStyle/>
          <a:p>
            <a:endParaRPr lang="en-US"/>
          </a:p>
        </p:txBody>
      </p:sp>
      <p:sp>
        <p:nvSpPr>
          <p:cNvPr id="50185" name="Text Box 9"/>
          <p:cNvSpPr txBox="1">
            <a:spLocks noChangeArrowheads="1"/>
          </p:cNvSpPr>
          <p:nvPr/>
        </p:nvSpPr>
        <p:spPr bwMode="auto">
          <a:xfrm>
            <a:off x="5394325" y="5908675"/>
            <a:ext cx="1090613" cy="457200"/>
          </a:xfrm>
          <a:prstGeom prst="rect">
            <a:avLst/>
          </a:prstGeom>
          <a:noFill/>
          <a:ln w="9525">
            <a:noFill/>
            <a:miter lim="800000"/>
            <a:headEnd/>
            <a:tailEnd/>
          </a:ln>
          <a:effectLst/>
        </p:spPr>
        <p:txBody>
          <a:bodyPr wrap="none">
            <a:spAutoFit/>
          </a:bodyPr>
          <a:lstStyle/>
          <a:p>
            <a:r>
              <a:rPr lang="en-US"/>
              <a:t>1000 N</a:t>
            </a:r>
            <a:endParaRPr lang="en-GB"/>
          </a:p>
        </p:txBody>
      </p:sp>
      <p:sp>
        <p:nvSpPr>
          <p:cNvPr id="50186" name="Text Box 10"/>
          <p:cNvSpPr txBox="1">
            <a:spLocks noChangeArrowheads="1"/>
          </p:cNvSpPr>
          <p:nvPr/>
        </p:nvSpPr>
        <p:spPr bwMode="auto">
          <a:xfrm>
            <a:off x="6842125" y="4613275"/>
            <a:ext cx="354013" cy="457200"/>
          </a:xfrm>
          <a:prstGeom prst="rect">
            <a:avLst/>
          </a:prstGeom>
          <a:noFill/>
          <a:ln w="9525">
            <a:noFill/>
            <a:miter lim="800000"/>
            <a:headEnd/>
            <a:tailEnd/>
          </a:ln>
          <a:effectLst/>
        </p:spPr>
        <p:txBody>
          <a:bodyPr wrap="none">
            <a:spAutoFit/>
          </a:bodyPr>
          <a:lstStyle/>
          <a:p>
            <a:r>
              <a:rPr lang="en-US"/>
              <a:t>P</a:t>
            </a:r>
            <a:endParaRPr lang="en-GB"/>
          </a:p>
        </p:txBody>
      </p:sp>
      <p:sp>
        <p:nvSpPr>
          <p:cNvPr id="50187" name="Line 11"/>
          <p:cNvSpPr>
            <a:spLocks noChangeShapeType="1"/>
          </p:cNvSpPr>
          <p:nvPr/>
        </p:nvSpPr>
        <p:spPr bwMode="auto">
          <a:xfrm flipH="1">
            <a:off x="2057400" y="4876800"/>
            <a:ext cx="1828800" cy="1066800"/>
          </a:xfrm>
          <a:prstGeom prst="line">
            <a:avLst/>
          </a:prstGeom>
          <a:noFill/>
          <a:ln w="9525">
            <a:solidFill>
              <a:schemeClr val="tx1"/>
            </a:solidFill>
            <a:round/>
            <a:headEnd/>
            <a:tailEnd type="triangle" w="med" len="med"/>
          </a:ln>
          <a:effectLst/>
        </p:spPr>
        <p:txBody>
          <a:bodyPr wrap="none"/>
          <a:lstStyle/>
          <a:p>
            <a:endParaRPr lang="en-US"/>
          </a:p>
        </p:txBody>
      </p:sp>
      <p:sp>
        <p:nvSpPr>
          <p:cNvPr id="50188" name="Text Box 12"/>
          <p:cNvSpPr txBox="1">
            <a:spLocks noChangeArrowheads="1"/>
          </p:cNvSpPr>
          <p:nvPr/>
        </p:nvSpPr>
        <p:spPr bwMode="auto">
          <a:xfrm>
            <a:off x="1660525" y="5908675"/>
            <a:ext cx="1090613" cy="457200"/>
          </a:xfrm>
          <a:prstGeom prst="rect">
            <a:avLst/>
          </a:prstGeom>
          <a:noFill/>
          <a:ln w="9525">
            <a:noFill/>
            <a:miter lim="800000"/>
            <a:headEnd/>
            <a:tailEnd/>
          </a:ln>
          <a:effectLst/>
        </p:spPr>
        <p:txBody>
          <a:bodyPr wrap="none">
            <a:spAutoFit/>
          </a:bodyPr>
          <a:lstStyle/>
          <a:p>
            <a:r>
              <a:rPr lang="en-US"/>
              <a:t>2000 N</a:t>
            </a:r>
            <a:endParaRPr lang="en-GB"/>
          </a:p>
        </p:txBody>
      </p:sp>
      <p:graphicFrame>
        <p:nvGraphicFramePr>
          <p:cNvPr id="50190" name="Object 14"/>
          <p:cNvGraphicFramePr>
            <a:graphicFrameLocks noChangeAspect="1"/>
          </p:cNvGraphicFramePr>
          <p:nvPr/>
        </p:nvGraphicFramePr>
        <p:xfrm>
          <a:off x="2971800" y="4876800"/>
          <a:ext cx="454025" cy="415925"/>
        </p:xfrm>
        <a:graphic>
          <a:graphicData uri="http://schemas.openxmlformats.org/presentationml/2006/ole">
            <p:oleObj spid="_x0000_s50190" name="MathType Equation" r:id="rId4" imgW="152280" imgH="139680" progId="Equation">
              <p:embed/>
            </p:oleObj>
          </a:graphicData>
        </a:graphic>
      </p:graphicFrame>
      <p:graphicFrame>
        <p:nvGraphicFramePr>
          <p:cNvPr id="50191" name="Object 15"/>
          <p:cNvGraphicFramePr>
            <a:graphicFrameLocks noChangeAspect="1"/>
          </p:cNvGraphicFramePr>
          <p:nvPr/>
        </p:nvGraphicFramePr>
        <p:xfrm>
          <a:off x="3810000" y="5105400"/>
          <a:ext cx="454025" cy="415925"/>
        </p:xfrm>
        <a:graphic>
          <a:graphicData uri="http://schemas.openxmlformats.org/presentationml/2006/ole">
            <p:oleObj spid="_x0000_s50191" name="MathType Equation" r:id="rId5" imgW="152280" imgH="139680" progId="Equation">
              <p:embed/>
            </p:oleObj>
          </a:graphicData>
        </a:graphic>
      </p:graphicFrame>
      <p:sp>
        <p:nvSpPr>
          <p:cNvPr id="15" name="Slide Number Placeholder 14"/>
          <p:cNvSpPr>
            <a:spLocks noGrp="1"/>
          </p:cNvSpPr>
          <p:nvPr>
            <p:ph type="sldNum" sz="quarter" idx="12"/>
          </p:nvPr>
        </p:nvSpPr>
        <p:spPr/>
        <p:txBody>
          <a:bodyPr/>
          <a:lstStyle/>
          <a:p>
            <a:fld id="{D2AC8ED3-FCA2-46E2-B7FF-E9B8229EFB1E}" type="slidenum">
              <a:rPr lang="en-GB" smtClean="0"/>
              <a:pPr/>
              <a:t>7</a:t>
            </a:fld>
            <a:endParaRPr lang="en-GB" sz="1400"/>
          </a:p>
        </p:txBody>
      </p:sp>
      <p:sp>
        <p:nvSpPr>
          <p:cNvPr id="16" name="Footer Placeholder 15"/>
          <p:cNvSpPr>
            <a:spLocks noGrp="1"/>
          </p:cNvSpPr>
          <p:nvPr>
            <p:ph type="ftr" sz="quarter" idx="11"/>
          </p:nvPr>
        </p:nvSpPr>
        <p:spPr/>
        <p:txBody>
          <a:bodyPr/>
          <a:lstStyle/>
          <a:p>
            <a:r>
              <a:rPr lang="fi-FI" smtClean="0"/>
              <a:t>Dr. Nana Sarfo Agyemang Derkyi</a:t>
            </a:r>
            <a:endParaRPr lang="en-GB"/>
          </a:p>
        </p:txBody>
      </p:sp>
      <p:sp>
        <p:nvSpPr>
          <p:cNvPr id="17" name="Date Placeholder 16"/>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371600" y="0"/>
            <a:ext cx="7772400" cy="762000"/>
          </a:xfrm>
        </p:spPr>
        <p:txBody>
          <a:bodyPr/>
          <a:lstStyle/>
          <a:p>
            <a:r>
              <a:rPr lang="en-US"/>
              <a:t>Solution</a:t>
            </a:r>
            <a:endParaRPr lang="en-GB"/>
          </a:p>
        </p:txBody>
      </p:sp>
      <p:sp>
        <p:nvSpPr>
          <p:cNvPr id="51205" name="Line 5"/>
          <p:cNvSpPr>
            <a:spLocks noChangeShapeType="1"/>
          </p:cNvSpPr>
          <p:nvPr/>
        </p:nvSpPr>
        <p:spPr bwMode="auto">
          <a:xfrm>
            <a:off x="3886200" y="5486400"/>
            <a:ext cx="2362200" cy="0"/>
          </a:xfrm>
          <a:prstGeom prst="line">
            <a:avLst/>
          </a:prstGeom>
          <a:noFill/>
          <a:ln w="9525">
            <a:solidFill>
              <a:schemeClr val="tx1"/>
            </a:solidFill>
            <a:round/>
            <a:headEnd/>
            <a:tailEnd type="triangle" w="med" len="med"/>
          </a:ln>
          <a:effectLst/>
        </p:spPr>
        <p:txBody>
          <a:bodyPr wrap="none"/>
          <a:lstStyle/>
          <a:p>
            <a:endParaRPr lang="en-US"/>
          </a:p>
        </p:txBody>
      </p:sp>
      <p:sp>
        <p:nvSpPr>
          <p:cNvPr id="51206" name="Line 6"/>
          <p:cNvSpPr>
            <a:spLocks noChangeShapeType="1"/>
          </p:cNvSpPr>
          <p:nvPr/>
        </p:nvSpPr>
        <p:spPr bwMode="auto">
          <a:xfrm>
            <a:off x="3886200" y="5486400"/>
            <a:ext cx="0" cy="1371600"/>
          </a:xfrm>
          <a:prstGeom prst="line">
            <a:avLst/>
          </a:prstGeom>
          <a:noFill/>
          <a:ln w="9525">
            <a:solidFill>
              <a:schemeClr val="tx1"/>
            </a:solidFill>
            <a:round/>
            <a:headEnd/>
            <a:tailEnd/>
          </a:ln>
          <a:effectLst/>
        </p:spPr>
        <p:txBody>
          <a:bodyPr wrap="none"/>
          <a:lstStyle/>
          <a:p>
            <a:endParaRPr lang="en-US"/>
          </a:p>
        </p:txBody>
      </p:sp>
      <p:sp>
        <p:nvSpPr>
          <p:cNvPr id="51207" name="Line 7"/>
          <p:cNvSpPr>
            <a:spLocks noChangeShapeType="1"/>
          </p:cNvSpPr>
          <p:nvPr/>
        </p:nvSpPr>
        <p:spPr bwMode="auto">
          <a:xfrm>
            <a:off x="3886200" y="5486400"/>
            <a:ext cx="1371600" cy="1371600"/>
          </a:xfrm>
          <a:prstGeom prst="line">
            <a:avLst/>
          </a:prstGeom>
          <a:noFill/>
          <a:ln w="9525">
            <a:solidFill>
              <a:schemeClr val="tx1"/>
            </a:solidFill>
            <a:round/>
            <a:headEnd/>
            <a:tailEnd type="triangle" w="med" len="med"/>
          </a:ln>
          <a:effectLst/>
        </p:spPr>
        <p:txBody>
          <a:bodyPr wrap="none"/>
          <a:lstStyle/>
          <a:p>
            <a:endParaRPr lang="en-US"/>
          </a:p>
        </p:txBody>
      </p:sp>
      <p:sp>
        <p:nvSpPr>
          <p:cNvPr id="51208" name="Text Box 8"/>
          <p:cNvSpPr txBox="1">
            <a:spLocks noChangeArrowheads="1"/>
          </p:cNvSpPr>
          <p:nvPr/>
        </p:nvSpPr>
        <p:spPr bwMode="auto">
          <a:xfrm>
            <a:off x="5257800" y="5908675"/>
            <a:ext cx="1227138" cy="822325"/>
          </a:xfrm>
          <a:prstGeom prst="rect">
            <a:avLst/>
          </a:prstGeom>
          <a:noFill/>
          <a:ln w="9525">
            <a:noFill/>
            <a:miter lim="800000"/>
            <a:headEnd/>
            <a:tailEnd/>
          </a:ln>
          <a:effectLst/>
        </p:spPr>
        <p:txBody>
          <a:bodyPr>
            <a:spAutoFit/>
          </a:bodyPr>
          <a:lstStyle/>
          <a:p>
            <a:endParaRPr lang="en-US"/>
          </a:p>
          <a:p>
            <a:r>
              <a:rPr lang="en-US"/>
              <a:t>1000 N</a:t>
            </a:r>
            <a:endParaRPr lang="en-GB"/>
          </a:p>
        </p:txBody>
      </p:sp>
      <p:sp>
        <p:nvSpPr>
          <p:cNvPr id="51209" name="Text Box 9"/>
          <p:cNvSpPr txBox="1">
            <a:spLocks noChangeArrowheads="1"/>
          </p:cNvSpPr>
          <p:nvPr/>
        </p:nvSpPr>
        <p:spPr bwMode="auto">
          <a:xfrm>
            <a:off x="6400800" y="4613275"/>
            <a:ext cx="795338" cy="1187450"/>
          </a:xfrm>
          <a:prstGeom prst="rect">
            <a:avLst/>
          </a:prstGeom>
          <a:noFill/>
          <a:ln w="9525">
            <a:noFill/>
            <a:miter lim="800000"/>
            <a:headEnd/>
            <a:tailEnd/>
          </a:ln>
          <a:effectLst/>
        </p:spPr>
        <p:txBody>
          <a:bodyPr>
            <a:spAutoFit/>
          </a:bodyPr>
          <a:lstStyle/>
          <a:p>
            <a:endParaRPr lang="en-US"/>
          </a:p>
          <a:p>
            <a:endParaRPr lang="en-US"/>
          </a:p>
          <a:p>
            <a:r>
              <a:rPr lang="en-US"/>
              <a:t>P</a:t>
            </a:r>
            <a:endParaRPr lang="en-GB"/>
          </a:p>
        </p:txBody>
      </p:sp>
      <p:sp>
        <p:nvSpPr>
          <p:cNvPr id="51210" name="Line 10"/>
          <p:cNvSpPr>
            <a:spLocks noChangeShapeType="1"/>
          </p:cNvSpPr>
          <p:nvPr/>
        </p:nvSpPr>
        <p:spPr bwMode="auto">
          <a:xfrm flipH="1">
            <a:off x="2057400" y="5486400"/>
            <a:ext cx="1828800" cy="1066800"/>
          </a:xfrm>
          <a:prstGeom prst="line">
            <a:avLst/>
          </a:prstGeom>
          <a:noFill/>
          <a:ln w="9525">
            <a:solidFill>
              <a:schemeClr val="tx1"/>
            </a:solidFill>
            <a:round/>
            <a:headEnd/>
            <a:tailEnd type="triangle" w="med" len="med"/>
          </a:ln>
          <a:effectLst/>
        </p:spPr>
        <p:txBody>
          <a:bodyPr wrap="none"/>
          <a:lstStyle/>
          <a:p>
            <a:endParaRPr lang="en-US"/>
          </a:p>
        </p:txBody>
      </p:sp>
      <p:sp>
        <p:nvSpPr>
          <p:cNvPr id="51211" name="Text Box 11"/>
          <p:cNvSpPr txBox="1">
            <a:spLocks noChangeArrowheads="1"/>
          </p:cNvSpPr>
          <p:nvPr/>
        </p:nvSpPr>
        <p:spPr bwMode="auto">
          <a:xfrm>
            <a:off x="838200" y="5908675"/>
            <a:ext cx="1912938" cy="822325"/>
          </a:xfrm>
          <a:prstGeom prst="rect">
            <a:avLst/>
          </a:prstGeom>
          <a:noFill/>
          <a:ln w="9525">
            <a:noFill/>
            <a:miter lim="800000"/>
            <a:headEnd/>
            <a:tailEnd/>
          </a:ln>
          <a:effectLst/>
        </p:spPr>
        <p:txBody>
          <a:bodyPr>
            <a:spAutoFit/>
          </a:bodyPr>
          <a:lstStyle/>
          <a:p>
            <a:endParaRPr lang="en-US"/>
          </a:p>
          <a:p>
            <a:r>
              <a:rPr lang="en-US"/>
              <a:t>2000 N</a:t>
            </a:r>
            <a:endParaRPr lang="en-GB"/>
          </a:p>
        </p:txBody>
      </p:sp>
      <p:sp>
        <p:nvSpPr>
          <p:cNvPr id="51215" name="Line 15"/>
          <p:cNvSpPr>
            <a:spLocks noChangeShapeType="1"/>
          </p:cNvSpPr>
          <p:nvPr/>
        </p:nvSpPr>
        <p:spPr bwMode="auto">
          <a:xfrm flipH="1">
            <a:off x="1676400" y="5486400"/>
            <a:ext cx="2286000" cy="0"/>
          </a:xfrm>
          <a:prstGeom prst="line">
            <a:avLst/>
          </a:prstGeom>
          <a:noFill/>
          <a:ln w="9525">
            <a:solidFill>
              <a:schemeClr val="tx1"/>
            </a:solidFill>
            <a:round/>
            <a:headEnd/>
            <a:tailEnd/>
          </a:ln>
          <a:effectLst/>
        </p:spPr>
        <p:txBody>
          <a:bodyPr wrap="none"/>
          <a:lstStyle/>
          <a:p>
            <a:endParaRPr lang="en-US"/>
          </a:p>
        </p:txBody>
      </p:sp>
      <p:sp>
        <p:nvSpPr>
          <p:cNvPr id="51216" name="Text Box 16"/>
          <p:cNvSpPr txBox="1">
            <a:spLocks noChangeArrowheads="1"/>
          </p:cNvSpPr>
          <p:nvPr/>
        </p:nvSpPr>
        <p:spPr bwMode="auto">
          <a:xfrm>
            <a:off x="3870325" y="5680075"/>
            <a:ext cx="590550" cy="457200"/>
          </a:xfrm>
          <a:prstGeom prst="rect">
            <a:avLst/>
          </a:prstGeom>
          <a:noFill/>
          <a:ln w="9525">
            <a:noFill/>
            <a:miter lim="800000"/>
            <a:headEnd/>
            <a:tailEnd/>
          </a:ln>
          <a:effectLst/>
        </p:spPr>
        <p:txBody>
          <a:bodyPr wrap="none">
            <a:spAutoFit/>
          </a:bodyPr>
          <a:lstStyle/>
          <a:p>
            <a:r>
              <a:rPr lang="en-US"/>
              <a:t>40</a:t>
            </a:r>
            <a:r>
              <a:rPr lang="en-US" baseline="30000"/>
              <a:t>o</a:t>
            </a:r>
            <a:endParaRPr lang="en-GB" baseline="30000"/>
          </a:p>
        </p:txBody>
      </p:sp>
      <p:sp>
        <p:nvSpPr>
          <p:cNvPr id="51217" name="Text Box 17"/>
          <p:cNvSpPr txBox="1">
            <a:spLocks noChangeArrowheads="1"/>
          </p:cNvSpPr>
          <p:nvPr/>
        </p:nvSpPr>
        <p:spPr bwMode="auto">
          <a:xfrm>
            <a:off x="2803525" y="5451475"/>
            <a:ext cx="590550" cy="457200"/>
          </a:xfrm>
          <a:prstGeom prst="rect">
            <a:avLst/>
          </a:prstGeom>
          <a:noFill/>
          <a:ln w="9525">
            <a:noFill/>
            <a:miter lim="800000"/>
            <a:headEnd/>
            <a:tailEnd/>
          </a:ln>
          <a:effectLst/>
        </p:spPr>
        <p:txBody>
          <a:bodyPr wrap="none">
            <a:spAutoFit/>
          </a:bodyPr>
          <a:lstStyle/>
          <a:p>
            <a:r>
              <a:rPr lang="en-US"/>
              <a:t>40</a:t>
            </a:r>
            <a:r>
              <a:rPr lang="en-US" baseline="30000"/>
              <a:t>o</a:t>
            </a:r>
            <a:endParaRPr lang="en-GB" baseline="30000"/>
          </a:p>
        </p:txBody>
      </p:sp>
      <p:pic>
        <p:nvPicPr>
          <p:cNvPr id="51221" name="Picture 21"/>
          <p:cNvPicPr>
            <a:picLocks noGrp="1" noChangeAspect="1" noChangeArrowheads="1"/>
          </p:cNvPicPr>
          <p:nvPr>
            <p:ph type="body" idx="1"/>
          </p:nvPr>
        </p:nvPicPr>
        <p:blipFill>
          <a:blip r:embed="rId2" cstate="print"/>
          <a:srcRect/>
          <a:stretch>
            <a:fillRect/>
          </a:stretch>
        </p:blipFill>
        <p:spPr>
          <a:xfrm>
            <a:off x="609600" y="1143000"/>
            <a:ext cx="10123488" cy="3614738"/>
          </a:xfrm>
          <a:noFill/>
          <a:ln/>
        </p:spPr>
      </p:pic>
      <p:sp>
        <p:nvSpPr>
          <p:cNvPr id="14" name="Slide Number Placeholder 13"/>
          <p:cNvSpPr>
            <a:spLocks noGrp="1"/>
          </p:cNvSpPr>
          <p:nvPr>
            <p:ph type="sldNum" sz="quarter" idx="12"/>
          </p:nvPr>
        </p:nvSpPr>
        <p:spPr/>
        <p:txBody>
          <a:bodyPr/>
          <a:lstStyle/>
          <a:p>
            <a:fld id="{D2AC8ED3-FCA2-46E2-B7FF-E9B8229EFB1E}" type="slidenum">
              <a:rPr lang="en-GB" smtClean="0"/>
              <a:pPr/>
              <a:t>8</a:t>
            </a:fld>
            <a:endParaRPr lang="en-GB" sz="1400"/>
          </a:p>
        </p:txBody>
      </p:sp>
      <p:sp>
        <p:nvSpPr>
          <p:cNvPr id="15" name="Footer Placeholder 14"/>
          <p:cNvSpPr>
            <a:spLocks noGrp="1"/>
          </p:cNvSpPr>
          <p:nvPr>
            <p:ph type="ftr" sz="quarter" idx="11"/>
          </p:nvPr>
        </p:nvSpPr>
        <p:spPr/>
        <p:txBody>
          <a:bodyPr/>
          <a:lstStyle/>
          <a:p>
            <a:r>
              <a:rPr lang="fi-FI" smtClean="0"/>
              <a:t>Dr. Nana Sarfo Agyemang Derkyi</a:t>
            </a:r>
            <a:endParaRPr lang="en-GB"/>
          </a:p>
        </p:txBody>
      </p:sp>
      <p:sp>
        <p:nvSpPr>
          <p:cNvPr id="16" name="Date Placeholder 15"/>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4400" y="-304800"/>
            <a:ext cx="7772400" cy="1143000"/>
          </a:xfrm>
        </p:spPr>
        <p:txBody>
          <a:bodyPr/>
          <a:lstStyle/>
          <a:p>
            <a:r>
              <a:rPr lang="en-US" dirty="0" smtClean="0">
                <a:ea typeface="ＭＳ Ｐゴシック" charset="-128"/>
              </a:rPr>
              <a:t>Free-Body Diagrams</a:t>
            </a:r>
          </a:p>
        </p:txBody>
      </p:sp>
      <p:sp>
        <p:nvSpPr>
          <p:cNvPr id="8" name="Slide Number Placeholder 3"/>
          <p:cNvSpPr>
            <a:spLocks noGrp="1"/>
          </p:cNvSpPr>
          <p:nvPr>
            <p:ph type="sldNum" sz="quarter" idx="10"/>
          </p:nvPr>
        </p:nvSpPr>
        <p:spPr>
          <a:xfrm>
            <a:off x="7239000" y="6400800"/>
            <a:ext cx="1905000" cy="457200"/>
          </a:xfrm>
        </p:spPr>
        <p:txBody>
          <a:bodyPr/>
          <a:lstStyle/>
          <a:p>
            <a:r>
              <a:rPr lang="en-US" dirty="0" smtClean="0"/>
              <a:t>                                   </a:t>
            </a:r>
            <a:fld id="{F8271E7A-A5D3-46DF-88B5-656C4E52E636}" type="slidenum">
              <a:rPr lang="en-US" sz="2400" smtClean="0"/>
              <a:pPr/>
              <a:t>9</a:t>
            </a:fld>
            <a:endParaRPr lang="en-US" sz="2400" dirty="0"/>
          </a:p>
        </p:txBody>
      </p:sp>
      <p:pic>
        <p:nvPicPr>
          <p:cNvPr id="25604" name="Picture 13" descr="C:\DOCUME~1\WALTOL~1\LOCALS~1\Temp\\msotw9_temp0.jpg"/>
          <p:cNvPicPr>
            <a:picLocks noChangeAspect="1" noChangeArrowheads="1"/>
          </p:cNvPicPr>
          <p:nvPr/>
        </p:nvPicPr>
        <p:blipFill>
          <a:blip r:embed="rId2" cstate="print"/>
          <a:srcRect/>
          <a:stretch>
            <a:fillRect/>
          </a:stretch>
        </p:blipFill>
        <p:spPr bwMode="auto">
          <a:xfrm>
            <a:off x="903288" y="1303338"/>
            <a:ext cx="3067050" cy="2419350"/>
          </a:xfrm>
          <a:prstGeom prst="rect">
            <a:avLst/>
          </a:prstGeom>
          <a:noFill/>
          <a:ln w="9525">
            <a:noFill/>
            <a:miter lim="800000"/>
            <a:headEnd/>
            <a:tailEnd/>
          </a:ln>
        </p:spPr>
      </p:pic>
      <p:sp>
        <p:nvSpPr>
          <p:cNvPr id="25605" name="Text Box 14"/>
          <p:cNvSpPr txBox="1">
            <a:spLocks noChangeArrowheads="1"/>
          </p:cNvSpPr>
          <p:nvPr/>
        </p:nvSpPr>
        <p:spPr bwMode="auto">
          <a:xfrm>
            <a:off x="415925" y="4144963"/>
            <a:ext cx="3800475" cy="1006475"/>
          </a:xfrm>
          <a:prstGeom prst="rect">
            <a:avLst/>
          </a:prstGeom>
          <a:noFill/>
          <a:ln w="9525">
            <a:noFill/>
            <a:miter lim="800000"/>
            <a:headEnd/>
            <a:tailEnd/>
          </a:ln>
        </p:spPr>
        <p:txBody>
          <a:bodyPr>
            <a:spAutoFit/>
          </a:bodyPr>
          <a:lstStyle/>
          <a:p>
            <a:pPr marL="227013" indent="-227013">
              <a:spcBef>
                <a:spcPct val="50000"/>
              </a:spcBef>
            </a:pPr>
            <a:r>
              <a:rPr lang="en-US" i="1"/>
              <a:t>Space Diagram</a:t>
            </a:r>
            <a:r>
              <a:rPr lang="en-US"/>
              <a:t>:  A sketch showing the physical conditions of the problem.</a:t>
            </a:r>
          </a:p>
        </p:txBody>
      </p:sp>
      <p:grpSp>
        <p:nvGrpSpPr>
          <p:cNvPr id="2" name="Group 16"/>
          <p:cNvGrpSpPr>
            <a:grpSpLocks/>
          </p:cNvGrpSpPr>
          <p:nvPr/>
        </p:nvGrpSpPr>
        <p:grpSpPr bwMode="auto">
          <a:xfrm>
            <a:off x="4524375" y="1350963"/>
            <a:ext cx="4394200" cy="3495675"/>
            <a:chOff x="2850" y="851"/>
            <a:chExt cx="2768" cy="2202"/>
          </a:xfrm>
        </p:grpSpPr>
        <p:pic>
          <p:nvPicPr>
            <p:cNvPr id="25607" name="Picture 11" descr="C:\DOCUME~1\WALTOL~1\LOCALS~1\Temp\\msotw9_temp0.jpg"/>
            <p:cNvPicPr>
              <a:picLocks noChangeAspect="1" noChangeArrowheads="1"/>
            </p:cNvPicPr>
            <p:nvPr/>
          </p:nvPicPr>
          <p:blipFill>
            <a:blip r:embed="rId3" cstate="print"/>
            <a:srcRect/>
            <a:stretch>
              <a:fillRect/>
            </a:stretch>
          </p:blipFill>
          <p:spPr bwMode="auto">
            <a:xfrm>
              <a:off x="3476" y="851"/>
              <a:ext cx="1432" cy="1457"/>
            </a:xfrm>
            <a:prstGeom prst="rect">
              <a:avLst/>
            </a:prstGeom>
            <a:noFill/>
            <a:ln w="9525">
              <a:noFill/>
              <a:miter lim="800000"/>
              <a:headEnd/>
              <a:tailEnd/>
            </a:ln>
          </p:spPr>
        </p:pic>
        <p:sp>
          <p:nvSpPr>
            <p:cNvPr id="25608" name="Text Box 15"/>
            <p:cNvSpPr txBox="1">
              <a:spLocks noChangeArrowheads="1"/>
            </p:cNvSpPr>
            <p:nvPr/>
          </p:nvSpPr>
          <p:spPr bwMode="auto">
            <a:xfrm>
              <a:off x="2850" y="2611"/>
              <a:ext cx="2768" cy="442"/>
            </a:xfrm>
            <a:prstGeom prst="rect">
              <a:avLst/>
            </a:prstGeom>
            <a:noFill/>
            <a:ln w="9525">
              <a:noFill/>
              <a:miter lim="800000"/>
              <a:headEnd/>
              <a:tailEnd/>
            </a:ln>
          </p:spPr>
          <p:txBody>
            <a:bodyPr>
              <a:spAutoFit/>
            </a:bodyPr>
            <a:lstStyle/>
            <a:p>
              <a:pPr marL="227013" indent="-227013">
                <a:spcBef>
                  <a:spcPct val="50000"/>
                </a:spcBef>
              </a:pPr>
              <a:r>
                <a:rPr lang="en-US" i="1"/>
                <a:t>Free-Body Diagram</a:t>
              </a:r>
              <a:r>
                <a:rPr lang="en-US"/>
                <a:t>:  A sketch showing only the forces on the selected particle.</a:t>
              </a:r>
            </a:p>
          </p:txBody>
        </p:sp>
      </p:grpSp>
      <p:sp>
        <p:nvSpPr>
          <p:cNvPr id="9" name="Footer Placeholder 8"/>
          <p:cNvSpPr>
            <a:spLocks noGrp="1"/>
          </p:cNvSpPr>
          <p:nvPr>
            <p:ph type="ftr" sz="quarter" idx="11"/>
          </p:nvPr>
        </p:nvSpPr>
        <p:spPr/>
        <p:txBody>
          <a:bodyPr/>
          <a:lstStyle/>
          <a:p>
            <a:r>
              <a:rPr lang="fi-FI" smtClean="0"/>
              <a:t>Dr. Nana Sarfo Agyemang Derkyi</a:t>
            </a:r>
            <a:endParaRPr lang="en-GB"/>
          </a:p>
        </p:txBody>
      </p:sp>
      <p:sp>
        <p:nvSpPr>
          <p:cNvPr id="10" name="Date Placeholder 9"/>
          <p:cNvSpPr>
            <a:spLocks noGrp="1"/>
          </p:cNvSpPr>
          <p:nvPr>
            <p:ph type="dt" sz="half" idx="10"/>
          </p:nvPr>
        </p:nvSpPr>
        <p:spPr>
          <a:xfrm>
            <a:off x="838200" y="6400800"/>
            <a:ext cx="1905000" cy="457200"/>
          </a:xfrm>
        </p:spPr>
        <p:txBody>
          <a:bodyPr/>
          <a:lstStyle/>
          <a:p>
            <a:r>
              <a:rPr lang="en-US" dirty="0" smtClean="0"/>
              <a:t>Engineering Mechanics</a:t>
            </a:r>
            <a:endParaRPr lang="en-GB"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66800" y="838200"/>
            <a:ext cx="7772400" cy="457200"/>
          </a:xfrm>
        </p:spPr>
        <p:txBody>
          <a:bodyPr/>
          <a:lstStyle/>
          <a:p>
            <a:r>
              <a:rPr lang="en-GB" b="1">
                <a:cs typeface="Arial" charset="0"/>
              </a:rPr>
              <a:t>  FREE BODY DIAGRAMS</a:t>
            </a:r>
            <a:r>
              <a:rPr lang="en-GB">
                <a:cs typeface="Arial" charset="0"/>
              </a:rPr>
              <a:t>:</a:t>
            </a:r>
            <a:br>
              <a:rPr lang="en-GB">
                <a:cs typeface="Arial" charset="0"/>
              </a:rPr>
            </a:br>
            <a:endParaRPr lang="en-GB">
              <a:cs typeface="Arial" charset="0"/>
            </a:endParaRPr>
          </a:p>
        </p:txBody>
      </p:sp>
      <p:sp>
        <p:nvSpPr>
          <p:cNvPr id="55299" name="Rectangle 3"/>
          <p:cNvSpPr>
            <a:spLocks noGrp="1" noChangeArrowheads="1"/>
          </p:cNvSpPr>
          <p:nvPr>
            <p:ph type="body" idx="1"/>
          </p:nvPr>
        </p:nvSpPr>
        <p:spPr>
          <a:xfrm>
            <a:off x="990600" y="838200"/>
            <a:ext cx="7772400" cy="4845050"/>
          </a:xfrm>
        </p:spPr>
        <p:txBody>
          <a:bodyPr/>
          <a:lstStyle/>
          <a:p>
            <a:pPr algn="just">
              <a:lnSpc>
                <a:spcPct val="90000"/>
              </a:lnSpc>
              <a:buNone/>
            </a:pPr>
            <a:r>
              <a:rPr lang="en-GB" b="1" dirty="0" smtClean="0">
                <a:latin typeface="Arial" charset="0"/>
                <a:cs typeface="Arial" charset="0"/>
              </a:rPr>
              <a:t>Steps</a:t>
            </a:r>
            <a:r>
              <a:rPr lang="en-GB" b="1" dirty="0">
                <a:latin typeface="Arial" charset="0"/>
                <a:cs typeface="Arial" charset="0"/>
              </a:rPr>
              <a:t>:  </a:t>
            </a:r>
            <a:endParaRPr lang="en-US" b="1" dirty="0">
              <a:latin typeface="Arial" charset="0"/>
              <a:cs typeface="Arial" charset="0"/>
            </a:endParaRPr>
          </a:p>
          <a:p>
            <a:pPr marL="514350" indent="-514350" algn="just">
              <a:lnSpc>
                <a:spcPct val="90000"/>
              </a:lnSpc>
              <a:buAutoNum type="arabicPeriod"/>
            </a:pPr>
            <a:r>
              <a:rPr lang="en-GB" dirty="0" smtClean="0">
                <a:latin typeface="Arial" charset="0"/>
                <a:cs typeface="Arial" charset="0"/>
              </a:rPr>
              <a:t>Imagine </a:t>
            </a:r>
            <a:r>
              <a:rPr lang="en-GB" dirty="0">
                <a:latin typeface="Arial" charset="0"/>
                <a:cs typeface="Arial" charset="0"/>
              </a:rPr>
              <a:t>the particle to be isolated or cut free from its surroundings.  Draw  or sketch its outlined shape</a:t>
            </a:r>
            <a:r>
              <a:rPr lang="en-GB" dirty="0" smtClean="0">
                <a:latin typeface="Arial" charset="0"/>
                <a:cs typeface="Arial" charset="0"/>
              </a:rPr>
              <a:t>.</a:t>
            </a:r>
          </a:p>
          <a:p>
            <a:pPr marL="514350" indent="-514350" algn="just">
              <a:lnSpc>
                <a:spcPct val="90000"/>
              </a:lnSpc>
              <a:buNone/>
            </a:pPr>
            <a:endParaRPr lang="en-GB" dirty="0" smtClean="0">
              <a:latin typeface="Arial" charset="0"/>
              <a:cs typeface="Arial" charset="0"/>
            </a:endParaRPr>
          </a:p>
          <a:p>
            <a:pPr algn="just">
              <a:lnSpc>
                <a:spcPct val="90000"/>
              </a:lnSpc>
              <a:buNone/>
            </a:pPr>
            <a:r>
              <a:rPr lang="en-GB" dirty="0" smtClean="0">
                <a:latin typeface="Arial" charset="0"/>
                <a:cs typeface="Arial" charset="0"/>
              </a:rPr>
              <a:t>2.  Indicate on this sketch all the forces  </a:t>
            </a:r>
          </a:p>
          <a:p>
            <a:pPr algn="just">
              <a:lnSpc>
                <a:spcPct val="90000"/>
              </a:lnSpc>
              <a:buNone/>
            </a:pPr>
            <a:r>
              <a:rPr lang="en-GB" dirty="0" smtClean="0">
                <a:latin typeface="Arial" charset="0"/>
                <a:cs typeface="Arial" charset="0"/>
              </a:rPr>
              <a:t>     that act on the particle. </a:t>
            </a:r>
          </a:p>
          <a:p>
            <a:pPr algn="just">
              <a:lnSpc>
                <a:spcPct val="90000"/>
              </a:lnSpc>
              <a:buNone/>
            </a:pPr>
            <a:endParaRPr lang="en-GB" dirty="0" smtClean="0">
              <a:latin typeface="Arial" charset="0"/>
              <a:cs typeface="Arial" charset="0"/>
            </a:endParaRPr>
          </a:p>
          <a:p>
            <a:pPr algn="just">
              <a:lnSpc>
                <a:spcPct val="90000"/>
              </a:lnSpc>
              <a:buNone/>
            </a:pPr>
            <a:r>
              <a:rPr lang="en-GB" dirty="0" smtClean="0">
                <a:latin typeface="Arial" charset="0"/>
                <a:cs typeface="Arial" charset="0"/>
              </a:rPr>
              <a:t>3. Label known forces with their magnitudes and directions.  use letters to represent magnitudes and directions of unknown forces.  </a:t>
            </a:r>
            <a:endParaRPr lang="en-US" dirty="0" smtClean="0">
              <a:latin typeface="Arial" charset="0"/>
              <a:cs typeface="Arial" charset="0"/>
            </a:endParaRPr>
          </a:p>
          <a:p>
            <a:pPr algn="just">
              <a:lnSpc>
                <a:spcPct val="90000"/>
              </a:lnSpc>
              <a:buNone/>
            </a:pPr>
            <a:r>
              <a:rPr lang="en-GB" dirty="0" smtClean="0">
                <a:latin typeface="Arial" charset="0"/>
                <a:cs typeface="Arial" charset="0"/>
              </a:rPr>
              <a:t> </a:t>
            </a:r>
            <a:endParaRPr lang="en-US" dirty="0" smtClean="0">
              <a:latin typeface="Arial" charset="0"/>
              <a:cs typeface="Arial" charset="0"/>
            </a:endParaRPr>
          </a:p>
          <a:p>
            <a:pPr algn="just">
              <a:lnSpc>
                <a:spcPct val="90000"/>
              </a:lnSpc>
            </a:pPr>
            <a:endParaRPr lang="en-GB" dirty="0">
              <a:latin typeface="Arial" charset="0"/>
              <a:cs typeface="Arial" charset="0"/>
            </a:endParaRPr>
          </a:p>
          <a:p>
            <a:pPr algn="just">
              <a:lnSpc>
                <a:spcPct val="90000"/>
              </a:lnSpc>
              <a:buFont typeface="Wingdings" pitchFamily="2" charset="2"/>
              <a:buNone/>
            </a:pPr>
            <a:r>
              <a:rPr lang="en-GB" sz="2800" dirty="0">
                <a:latin typeface="Arial" charset="0"/>
                <a:cs typeface="Arial" charset="0"/>
              </a:rPr>
              <a:t>              </a:t>
            </a:r>
            <a:endParaRPr lang="en-GB" sz="2800" dirty="0"/>
          </a:p>
        </p:txBody>
      </p:sp>
      <p:sp>
        <p:nvSpPr>
          <p:cNvPr id="4" name="Slide Number Placeholder 3"/>
          <p:cNvSpPr>
            <a:spLocks noGrp="1"/>
          </p:cNvSpPr>
          <p:nvPr>
            <p:ph type="sldNum" sz="quarter" idx="12"/>
          </p:nvPr>
        </p:nvSpPr>
        <p:spPr/>
        <p:txBody>
          <a:bodyPr/>
          <a:lstStyle/>
          <a:p>
            <a:fld id="{D2AC8ED3-FCA2-46E2-B7FF-E9B8229EFB1E}" type="slidenum">
              <a:rPr lang="en-GB" smtClean="0"/>
              <a:pPr/>
              <a:t>10</a:t>
            </a:fld>
            <a:endParaRPr lang="en-GB" sz="1400"/>
          </a:p>
        </p:txBody>
      </p:sp>
      <p:sp>
        <p:nvSpPr>
          <p:cNvPr id="5" name="Footer Placeholder 4"/>
          <p:cNvSpPr>
            <a:spLocks noGrp="1"/>
          </p:cNvSpPr>
          <p:nvPr>
            <p:ph type="ftr" sz="quarter" idx="11"/>
          </p:nvPr>
        </p:nvSpPr>
        <p:spPr/>
        <p:txBody>
          <a:bodyPr/>
          <a:lstStyle/>
          <a:p>
            <a:r>
              <a:rPr lang="fi-FI" smtClean="0"/>
              <a:t>Dr. Nana Sarfo Agyemang Derkyi</a:t>
            </a:r>
            <a:endParaRPr lang="en-GB"/>
          </a:p>
        </p:txBody>
      </p:sp>
      <p:sp>
        <p:nvSpPr>
          <p:cNvPr id="6" name="Date Placeholder 5"/>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0-#ppt_w/2"/>
                                          </p:val>
                                        </p:tav>
                                        <p:tav tm="100000">
                                          <p:val>
                                            <p:strVal val="#ppt_x"/>
                                          </p:val>
                                        </p:tav>
                                      </p:tavLst>
                                    </p:anim>
                                    <p:anim calcmode="lin" valueType="num">
                                      <p:cBhvr additive="base">
                                        <p:cTn id="8" dur="500" fill="hold"/>
                                        <p:tgtEl>
                                          <p:spTgt spid="552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299">
                                            <p:txEl>
                                              <p:pRg st="0" end="0"/>
                                            </p:txEl>
                                          </p:spTgt>
                                        </p:tgtEl>
                                        <p:attrNameLst>
                                          <p:attrName>style.visibility</p:attrName>
                                        </p:attrNameLst>
                                      </p:cBhvr>
                                      <p:to>
                                        <p:strVal val="visible"/>
                                      </p:to>
                                    </p:set>
                                    <p:anim calcmode="lin" valueType="num">
                                      <p:cBhvr additive="base">
                                        <p:cTn id="13" dur="500" fill="hold"/>
                                        <p:tgtEl>
                                          <p:spTgt spid="5529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299">
                                            <p:txEl>
                                              <p:pRg st="1" end="1"/>
                                            </p:txEl>
                                          </p:spTgt>
                                        </p:tgtEl>
                                        <p:attrNameLst>
                                          <p:attrName>style.visibility</p:attrName>
                                        </p:attrNameLst>
                                      </p:cBhvr>
                                      <p:to>
                                        <p:strVal val="visible"/>
                                      </p:to>
                                    </p:set>
                                    <p:anim calcmode="lin" valueType="num">
                                      <p:cBhvr additive="base">
                                        <p:cTn id="19" dur="500" fill="hold"/>
                                        <p:tgtEl>
                                          <p:spTgt spid="5529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5299">
                                            <p:txEl>
                                              <p:pRg st="3" end="3"/>
                                            </p:txEl>
                                          </p:spTgt>
                                        </p:tgtEl>
                                        <p:attrNameLst>
                                          <p:attrName>style.visibility</p:attrName>
                                        </p:attrNameLst>
                                      </p:cBhvr>
                                      <p:to>
                                        <p:strVal val="visible"/>
                                      </p:to>
                                    </p:set>
                                    <p:anim calcmode="lin" valueType="num">
                                      <p:cBhvr additive="base">
                                        <p:cTn id="25" dur="500" fill="hold"/>
                                        <p:tgtEl>
                                          <p:spTgt spid="552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52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5299">
                                            <p:txEl>
                                              <p:pRg st="4" end="4"/>
                                            </p:txEl>
                                          </p:spTgt>
                                        </p:tgtEl>
                                        <p:attrNameLst>
                                          <p:attrName>style.visibility</p:attrName>
                                        </p:attrNameLst>
                                      </p:cBhvr>
                                      <p:to>
                                        <p:strVal val="visible"/>
                                      </p:to>
                                    </p:set>
                                    <p:anim calcmode="lin" valueType="num">
                                      <p:cBhvr additive="base">
                                        <p:cTn id="31" dur="500" fill="hold"/>
                                        <p:tgtEl>
                                          <p:spTgt spid="552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52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5299">
                                            <p:txEl>
                                              <p:pRg st="6" end="6"/>
                                            </p:txEl>
                                          </p:spTgt>
                                        </p:tgtEl>
                                        <p:attrNameLst>
                                          <p:attrName>style.visibility</p:attrName>
                                        </p:attrNameLst>
                                      </p:cBhvr>
                                      <p:to>
                                        <p:strVal val="visible"/>
                                      </p:to>
                                    </p:set>
                                    <p:anim calcmode="lin" valueType="num">
                                      <p:cBhvr additive="base">
                                        <p:cTn id="37" dur="500" fill="hold"/>
                                        <p:tgtEl>
                                          <p:spTgt spid="55299">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52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5299">
                                            <p:txEl>
                                              <p:pRg st="7" end="7"/>
                                            </p:txEl>
                                          </p:spTgt>
                                        </p:tgtEl>
                                        <p:attrNameLst>
                                          <p:attrName>style.visibility</p:attrName>
                                        </p:attrNameLst>
                                      </p:cBhvr>
                                      <p:to>
                                        <p:strVal val="visible"/>
                                      </p:to>
                                    </p:set>
                                    <p:anim calcmode="lin" valueType="num">
                                      <p:cBhvr additive="base">
                                        <p:cTn id="43" dur="500" fill="hold"/>
                                        <p:tgtEl>
                                          <p:spTgt spid="55299">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52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5299">
                                            <p:txEl>
                                              <p:pRg st="9" end="9"/>
                                            </p:txEl>
                                          </p:spTgt>
                                        </p:tgtEl>
                                        <p:attrNameLst>
                                          <p:attrName>style.visibility</p:attrName>
                                        </p:attrNameLst>
                                      </p:cBhvr>
                                      <p:to>
                                        <p:strVal val="visible"/>
                                      </p:to>
                                    </p:set>
                                    <p:anim calcmode="lin" valueType="num">
                                      <p:cBhvr additive="base">
                                        <p:cTn id="49" dur="500" fill="hold"/>
                                        <p:tgtEl>
                                          <p:spTgt spid="55299">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529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299"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66800" y="0"/>
            <a:ext cx="7772400" cy="762000"/>
          </a:xfrm>
        </p:spPr>
        <p:txBody>
          <a:bodyPr/>
          <a:lstStyle/>
          <a:p>
            <a:r>
              <a:rPr lang="en-US"/>
              <a:t>Example</a:t>
            </a:r>
            <a:endParaRPr lang="en-GB"/>
          </a:p>
        </p:txBody>
      </p:sp>
      <p:sp>
        <p:nvSpPr>
          <p:cNvPr id="58371" name="Rectangle 3"/>
          <p:cNvSpPr>
            <a:spLocks noGrp="1" noChangeArrowheads="1"/>
          </p:cNvSpPr>
          <p:nvPr>
            <p:ph type="body" idx="1"/>
          </p:nvPr>
        </p:nvSpPr>
        <p:spPr>
          <a:xfrm>
            <a:off x="1066800" y="1447800"/>
            <a:ext cx="7772400" cy="1371600"/>
          </a:xfrm>
        </p:spPr>
        <p:txBody>
          <a:bodyPr/>
          <a:lstStyle/>
          <a:p>
            <a:pPr algn="just">
              <a:lnSpc>
                <a:spcPct val="90000"/>
              </a:lnSpc>
            </a:pPr>
            <a:r>
              <a:rPr lang="en-GB" sz="2800" dirty="0">
                <a:latin typeface="Arial" charset="0"/>
                <a:cs typeface="Arial" charset="0"/>
              </a:rPr>
              <a:t>The crate below has a weight of 50 kg.  Draw a free body diagram of the crate, the cord BD and the ring at B.</a:t>
            </a:r>
          </a:p>
          <a:p>
            <a:pPr algn="just">
              <a:lnSpc>
                <a:spcPct val="90000"/>
              </a:lnSpc>
              <a:buFont typeface="Wingdings" pitchFamily="2" charset="2"/>
              <a:buNone/>
            </a:pPr>
            <a:endParaRPr lang="en-GB" sz="2800" dirty="0">
              <a:latin typeface="Arial" charset="0"/>
              <a:cs typeface="Arial" charset="0"/>
            </a:endParaRPr>
          </a:p>
          <a:p>
            <a:pPr>
              <a:lnSpc>
                <a:spcPct val="90000"/>
              </a:lnSpc>
            </a:pPr>
            <a:endParaRPr lang="en-GB" sz="2800" dirty="0"/>
          </a:p>
        </p:txBody>
      </p:sp>
      <p:sp>
        <p:nvSpPr>
          <p:cNvPr id="58373" name="Rectangle 5"/>
          <p:cNvSpPr>
            <a:spLocks noChangeArrowheads="1"/>
          </p:cNvSpPr>
          <p:nvPr/>
        </p:nvSpPr>
        <p:spPr bwMode="auto">
          <a:xfrm>
            <a:off x="3657600" y="4800600"/>
            <a:ext cx="4038600" cy="1524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8374" name="Line 6"/>
          <p:cNvSpPr>
            <a:spLocks noChangeShapeType="1"/>
          </p:cNvSpPr>
          <p:nvPr/>
        </p:nvSpPr>
        <p:spPr bwMode="auto">
          <a:xfrm flipH="1" flipV="1">
            <a:off x="1524000" y="3429000"/>
            <a:ext cx="2057400" cy="1371600"/>
          </a:xfrm>
          <a:prstGeom prst="line">
            <a:avLst/>
          </a:prstGeom>
          <a:noFill/>
          <a:ln w="9525">
            <a:solidFill>
              <a:schemeClr val="tx1"/>
            </a:solidFill>
            <a:round/>
            <a:headEnd/>
            <a:tailEnd/>
          </a:ln>
          <a:effectLst/>
        </p:spPr>
        <p:txBody>
          <a:bodyPr wrap="none"/>
          <a:lstStyle/>
          <a:p>
            <a:endParaRPr lang="en-US"/>
          </a:p>
        </p:txBody>
      </p:sp>
      <p:sp>
        <p:nvSpPr>
          <p:cNvPr id="58375" name="Line 7"/>
          <p:cNvSpPr>
            <a:spLocks noChangeShapeType="1"/>
          </p:cNvSpPr>
          <p:nvPr/>
        </p:nvSpPr>
        <p:spPr bwMode="auto">
          <a:xfrm flipH="1" flipV="1">
            <a:off x="1447800" y="3581400"/>
            <a:ext cx="2133600" cy="1371600"/>
          </a:xfrm>
          <a:prstGeom prst="line">
            <a:avLst/>
          </a:prstGeom>
          <a:noFill/>
          <a:ln w="9525">
            <a:solidFill>
              <a:schemeClr val="tx1"/>
            </a:solidFill>
            <a:round/>
            <a:headEnd/>
            <a:tailEnd/>
          </a:ln>
          <a:effectLst/>
        </p:spPr>
        <p:txBody>
          <a:bodyPr wrap="none"/>
          <a:lstStyle/>
          <a:p>
            <a:endParaRPr lang="en-US"/>
          </a:p>
        </p:txBody>
      </p:sp>
      <p:sp>
        <p:nvSpPr>
          <p:cNvPr id="58376" name="Line 8"/>
          <p:cNvSpPr>
            <a:spLocks noChangeShapeType="1"/>
          </p:cNvSpPr>
          <p:nvPr/>
        </p:nvSpPr>
        <p:spPr bwMode="auto">
          <a:xfrm>
            <a:off x="1524000" y="3200400"/>
            <a:ext cx="0" cy="685800"/>
          </a:xfrm>
          <a:prstGeom prst="line">
            <a:avLst/>
          </a:prstGeom>
          <a:noFill/>
          <a:ln w="9525">
            <a:solidFill>
              <a:schemeClr val="tx1"/>
            </a:solidFill>
            <a:round/>
            <a:headEnd/>
            <a:tailEnd/>
          </a:ln>
          <a:effectLst/>
        </p:spPr>
        <p:txBody>
          <a:bodyPr wrap="none"/>
          <a:lstStyle/>
          <a:p>
            <a:endParaRPr lang="en-US"/>
          </a:p>
        </p:txBody>
      </p:sp>
      <p:sp>
        <p:nvSpPr>
          <p:cNvPr id="58377" name="Rectangle 9"/>
          <p:cNvSpPr>
            <a:spLocks noChangeArrowheads="1"/>
          </p:cNvSpPr>
          <p:nvPr/>
        </p:nvSpPr>
        <p:spPr bwMode="auto">
          <a:xfrm>
            <a:off x="3505200" y="4800600"/>
            <a:ext cx="152400" cy="12954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8378" name="Rectangle 10"/>
          <p:cNvSpPr>
            <a:spLocks noChangeArrowheads="1"/>
          </p:cNvSpPr>
          <p:nvPr/>
        </p:nvSpPr>
        <p:spPr bwMode="auto">
          <a:xfrm>
            <a:off x="2743200" y="6096000"/>
            <a:ext cx="1905000" cy="762000"/>
          </a:xfrm>
          <a:prstGeom prst="rect">
            <a:avLst/>
          </a:prstGeom>
          <a:solidFill>
            <a:schemeClr val="accent1"/>
          </a:solidFill>
          <a:ln w="9525">
            <a:solidFill>
              <a:schemeClr val="tx1"/>
            </a:solidFill>
            <a:miter lim="800000"/>
            <a:headEnd/>
            <a:tailEnd/>
          </a:ln>
          <a:effectLst/>
        </p:spPr>
        <p:txBody>
          <a:bodyPr wrap="none" anchor="ctr"/>
          <a:lstStyle/>
          <a:p>
            <a:pPr algn="ctr"/>
            <a:r>
              <a:rPr lang="en-US">
                <a:solidFill>
                  <a:schemeClr val="hlink"/>
                </a:solidFill>
              </a:rPr>
              <a:t>CRATE</a:t>
            </a:r>
            <a:endParaRPr lang="en-GB">
              <a:solidFill>
                <a:schemeClr val="hlink"/>
              </a:solidFill>
            </a:endParaRPr>
          </a:p>
        </p:txBody>
      </p:sp>
      <p:sp>
        <p:nvSpPr>
          <p:cNvPr id="58379" name="Text Box 11"/>
          <p:cNvSpPr txBox="1">
            <a:spLocks noChangeArrowheads="1"/>
          </p:cNvSpPr>
          <p:nvPr/>
        </p:nvSpPr>
        <p:spPr bwMode="auto">
          <a:xfrm>
            <a:off x="3429000" y="4308475"/>
            <a:ext cx="1524000" cy="457200"/>
          </a:xfrm>
          <a:prstGeom prst="rect">
            <a:avLst/>
          </a:prstGeom>
          <a:noFill/>
          <a:ln w="9525">
            <a:noFill/>
            <a:miter lim="800000"/>
            <a:headEnd/>
            <a:tailEnd/>
          </a:ln>
          <a:effectLst/>
        </p:spPr>
        <p:txBody>
          <a:bodyPr>
            <a:spAutoFit/>
          </a:bodyPr>
          <a:lstStyle/>
          <a:p>
            <a:r>
              <a:rPr lang="en-US"/>
              <a:t>B   ring</a:t>
            </a:r>
            <a:endParaRPr lang="en-GB"/>
          </a:p>
        </p:txBody>
      </p:sp>
      <p:sp>
        <p:nvSpPr>
          <p:cNvPr id="58380" name="Line 12"/>
          <p:cNvSpPr>
            <a:spLocks noChangeShapeType="1"/>
          </p:cNvSpPr>
          <p:nvPr/>
        </p:nvSpPr>
        <p:spPr bwMode="auto">
          <a:xfrm>
            <a:off x="7696200" y="4114800"/>
            <a:ext cx="0" cy="1371600"/>
          </a:xfrm>
          <a:prstGeom prst="line">
            <a:avLst/>
          </a:prstGeom>
          <a:noFill/>
          <a:ln w="9525">
            <a:solidFill>
              <a:schemeClr val="tx1"/>
            </a:solidFill>
            <a:round/>
            <a:headEnd/>
            <a:tailEnd/>
          </a:ln>
          <a:effectLst/>
        </p:spPr>
        <p:txBody>
          <a:bodyPr wrap="none"/>
          <a:lstStyle/>
          <a:p>
            <a:endParaRPr lang="en-US"/>
          </a:p>
        </p:txBody>
      </p:sp>
      <p:sp>
        <p:nvSpPr>
          <p:cNvPr id="58381" name="Text Box 13"/>
          <p:cNvSpPr txBox="1">
            <a:spLocks noChangeArrowheads="1"/>
          </p:cNvSpPr>
          <p:nvPr/>
        </p:nvSpPr>
        <p:spPr bwMode="auto">
          <a:xfrm>
            <a:off x="7299325" y="4308475"/>
            <a:ext cx="387350" cy="457200"/>
          </a:xfrm>
          <a:prstGeom prst="rect">
            <a:avLst/>
          </a:prstGeom>
          <a:noFill/>
          <a:ln w="9525">
            <a:noFill/>
            <a:miter lim="800000"/>
            <a:headEnd/>
            <a:tailEnd/>
          </a:ln>
          <a:effectLst/>
        </p:spPr>
        <p:txBody>
          <a:bodyPr wrap="none">
            <a:spAutoFit/>
          </a:bodyPr>
          <a:lstStyle/>
          <a:p>
            <a:r>
              <a:rPr lang="en-US"/>
              <a:t>C</a:t>
            </a:r>
            <a:endParaRPr lang="en-GB"/>
          </a:p>
        </p:txBody>
      </p:sp>
      <p:sp>
        <p:nvSpPr>
          <p:cNvPr id="58382" name="Text Box 14"/>
          <p:cNvSpPr txBox="1">
            <a:spLocks noChangeArrowheads="1"/>
          </p:cNvSpPr>
          <p:nvPr/>
        </p:nvSpPr>
        <p:spPr bwMode="auto">
          <a:xfrm>
            <a:off x="1660525" y="3089275"/>
            <a:ext cx="404813" cy="457200"/>
          </a:xfrm>
          <a:prstGeom prst="rect">
            <a:avLst/>
          </a:prstGeom>
          <a:noFill/>
          <a:ln w="9525">
            <a:noFill/>
            <a:miter lim="800000"/>
            <a:headEnd/>
            <a:tailEnd/>
          </a:ln>
          <a:effectLst/>
        </p:spPr>
        <p:txBody>
          <a:bodyPr wrap="none">
            <a:spAutoFit/>
          </a:bodyPr>
          <a:lstStyle/>
          <a:p>
            <a:r>
              <a:rPr lang="en-US"/>
              <a:t>A</a:t>
            </a:r>
            <a:endParaRPr lang="en-GB"/>
          </a:p>
        </p:txBody>
      </p:sp>
      <p:sp>
        <p:nvSpPr>
          <p:cNvPr id="58383" name="Text Box 15"/>
          <p:cNvSpPr txBox="1">
            <a:spLocks noChangeArrowheads="1"/>
          </p:cNvSpPr>
          <p:nvPr/>
        </p:nvSpPr>
        <p:spPr bwMode="auto">
          <a:xfrm>
            <a:off x="3641725" y="5680075"/>
            <a:ext cx="404813" cy="457200"/>
          </a:xfrm>
          <a:prstGeom prst="rect">
            <a:avLst/>
          </a:prstGeom>
          <a:noFill/>
          <a:ln w="9525">
            <a:noFill/>
            <a:miter lim="800000"/>
            <a:headEnd/>
            <a:tailEnd/>
          </a:ln>
          <a:effectLst/>
        </p:spPr>
        <p:txBody>
          <a:bodyPr wrap="none">
            <a:spAutoFit/>
          </a:bodyPr>
          <a:lstStyle/>
          <a:p>
            <a:r>
              <a:rPr lang="en-US"/>
              <a:t>D</a:t>
            </a:r>
            <a:endParaRPr lang="en-GB"/>
          </a:p>
        </p:txBody>
      </p:sp>
      <p:sp>
        <p:nvSpPr>
          <p:cNvPr id="58385" name="Line 17"/>
          <p:cNvSpPr>
            <a:spLocks noChangeShapeType="1"/>
          </p:cNvSpPr>
          <p:nvPr/>
        </p:nvSpPr>
        <p:spPr bwMode="auto">
          <a:xfrm flipH="1">
            <a:off x="685800" y="4953000"/>
            <a:ext cx="2819400" cy="0"/>
          </a:xfrm>
          <a:prstGeom prst="line">
            <a:avLst/>
          </a:prstGeom>
          <a:noFill/>
          <a:ln w="9525">
            <a:solidFill>
              <a:schemeClr val="tx1"/>
            </a:solidFill>
            <a:round/>
            <a:headEnd/>
            <a:tailEnd/>
          </a:ln>
          <a:effectLst/>
        </p:spPr>
        <p:txBody>
          <a:bodyPr wrap="none"/>
          <a:lstStyle/>
          <a:p>
            <a:endParaRPr lang="en-US"/>
          </a:p>
        </p:txBody>
      </p:sp>
      <p:sp>
        <p:nvSpPr>
          <p:cNvPr id="58386" name="Text Box 18"/>
          <p:cNvSpPr txBox="1">
            <a:spLocks noChangeArrowheads="1"/>
          </p:cNvSpPr>
          <p:nvPr/>
        </p:nvSpPr>
        <p:spPr bwMode="auto">
          <a:xfrm>
            <a:off x="2346325" y="4460875"/>
            <a:ext cx="590550" cy="457200"/>
          </a:xfrm>
          <a:prstGeom prst="rect">
            <a:avLst/>
          </a:prstGeom>
          <a:noFill/>
          <a:ln w="9525">
            <a:noFill/>
            <a:miter lim="800000"/>
            <a:headEnd/>
            <a:tailEnd/>
          </a:ln>
          <a:effectLst/>
        </p:spPr>
        <p:txBody>
          <a:bodyPr wrap="none">
            <a:spAutoFit/>
          </a:bodyPr>
          <a:lstStyle/>
          <a:p>
            <a:r>
              <a:rPr lang="en-US"/>
              <a:t>45</a:t>
            </a:r>
            <a:r>
              <a:rPr lang="en-US" baseline="30000"/>
              <a:t>o</a:t>
            </a:r>
            <a:endParaRPr lang="en-GB" baseline="30000"/>
          </a:p>
        </p:txBody>
      </p:sp>
      <p:sp>
        <p:nvSpPr>
          <p:cNvPr id="17" name="Slide Number Placeholder 16"/>
          <p:cNvSpPr>
            <a:spLocks noGrp="1"/>
          </p:cNvSpPr>
          <p:nvPr>
            <p:ph type="sldNum" sz="quarter" idx="12"/>
          </p:nvPr>
        </p:nvSpPr>
        <p:spPr/>
        <p:txBody>
          <a:bodyPr/>
          <a:lstStyle/>
          <a:p>
            <a:fld id="{D2AC8ED3-FCA2-46E2-B7FF-E9B8229EFB1E}" type="slidenum">
              <a:rPr lang="en-GB" smtClean="0"/>
              <a:pPr/>
              <a:t>11</a:t>
            </a:fld>
            <a:endParaRPr lang="en-GB" sz="1400"/>
          </a:p>
        </p:txBody>
      </p:sp>
      <p:sp>
        <p:nvSpPr>
          <p:cNvPr id="18" name="Footer Placeholder 17"/>
          <p:cNvSpPr>
            <a:spLocks noGrp="1"/>
          </p:cNvSpPr>
          <p:nvPr>
            <p:ph type="ftr" sz="quarter" idx="11"/>
          </p:nvPr>
        </p:nvSpPr>
        <p:spPr/>
        <p:txBody>
          <a:bodyPr/>
          <a:lstStyle/>
          <a:p>
            <a:r>
              <a:rPr lang="fi-FI" smtClean="0"/>
              <a:t>Dr. Nana Sarfo Agyemang Derkyi</a:t>
            </a:r>
            <a:endParaRPr lang="en-GB"/>
          </a:p>
        </p:txBody>
      </p:sp>
      <p:sp>
        <p:nvSpPr>
          <p:cNvPr id="19" name="Date Placeholder 18"/>
          <p:cNvSpPr>
            <a:spLocks noGrp="1"/>
          </p:cNvSpPr>
          <p:nvPr>
            <p:ph type="dt" sz="half" idx="10"/>
          </p:nvPr>
        </p:nvSpPr>
        <p:spPr>
          <a:xfrm>
            <a:off x="609600" y="6400800"/>
            <a:ext cx="1905000" cy="457200"/>
          </a:xfrm>
        </p:spPr>
        <p:txBody>
          <a:bodyPr/>
          <a:lstStyle/>
          <a:p>
            <a:r>
              <a:rPr lang="en-US" dirty="0" smtClean="0"/>
              <a:t>Engineering Mechanics</a:t>
            </a:r>
            <a:endParaRPr lang="en-GB" dirty="0"/>
          </a:p>
        </p:txBody>
      </p:sp>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066800" y="0"/>
            <a:ext cx="7772400" cy="685800"/>
          </a:xfrm>
        </p:spPr>
        <p:txBody>
          <a:bodyPr/>
          <a:lstStyle/>
          <a:p>
            <a:r>
              <a:rPr lang="en-US"/>
              <a:t>Solution</a:t>
            </a:r>
          </a:p>
        </p:txBody>
      </p:sp>
      <p:pic>
        <p:nvPicPr>
          <p:cNvPr id="59398" name="Picture 6"/>
          <p:cNvPicPr>
            <a:picLocks noGrp="1" noChangeAspect="1" noChangeArrowheads="1"/>
          </p:cNvPicPr>
          <p:nvPr>
            <p:ph type="body" idx="1"/>
          </p:nvPr>
        </p:nvPicPr>
        <p:blipFill>
          <a:blip r:embed="rId2" cstate="print"/>
          <a:srcRect/>
          <a:stretch>
            <a:fillRect/>
          </a:stretch>
        </p:blipFill>
        <p:spPr>
          <a:xfrm>
            <a:off x="909638" y="685800"/>
            <a:ext cx="8234362" cy="6172200"/>
          </a:xfrm>
          <a:noFill/>
          <a:ln/>
        </p:spPr>
      </p:pic>
      <p:sp>
        <p:nvSpPr>
          <p:cNvPr id="59399" name="Rectangle 7"/>
          <p:cNvSpPr>
            <a:spLocks noChangeArrowheads="1"/>
          </p:cNvSpPr>
          <p:nvPr/>
        </p:nvSpPr>
        <p:spPr bwMode="auto">
          <a:xfrm>
            <a:off x="6400800" y="3581400"/>
            <a:ext cx="2286000" cy="2286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9400" name="Line 8"/>
          <p:cNvSpPr>
            <a:spLocks noChangeShapeType="1"/>
          </p:cNvSpPr>
          <p:nvPr/>
        </p:nvSpPr>
        <p:spPr bwMode="auto">
          <a:xfrm flipH="1" flipV="1">
            <a:off x="4267200" y="2286000"/>
            <a:ext cx="2057400" cy="1371600"/>
          </a:xfrm>
          <a:prstGeom prst="line">
            <a:avLst/>
          </a:prstGeom>
          <a:noFill/>
          <a:ln w="9525">
            <a:solidFill>
              <a:schemeClr val="tx1"/>
            </a:solidFill>
            <a:round/>
            <a:headEnd/>
            <a:tailEnd/>
          </a:ln>
          <a:effectLst/>
        </p:spPr>
        <p:txBody>
          <a:bodyPr wrap="none"/>
          <a:lstStyle/>
          <a:p>
            <a:endParaRPr lang="en-US"/>
          </a:p>
        </p:txBody>
      </p:sp>
      <p:sp>
        <p:nvSpPr>
          <p:cNvPr id="59401" name="Line 9"/>
          <p:cNvSpPr>
            <a:spLocks noChangeShapeType="1"/>
          </p:cNvSpPr>
          <p:nvPr/>
        </p:nvSpPr>
        <p:spPr bwMode="auto">
          <a:xfrm flipH="1" flipV="1">
            <a:off x="4114800" y="2362200"/>
            <a:ext cx="2133600" cy="1371600"/>
          </a:xfrm>
          <a:prstGeom prst="line">
            <a:avLst/>
          </a:prstGeom>
          <a:noFill/>
          <a:ln w="9525">
            <a:solidFill>
              <a:schemeClr val="tx1"/>
            </a:solidFill>
            <a:round/>
            <a:headEnd/>
            <a:tailEnd/>
          </a:ln>
          <a:effectLst/>
        </p:spPr>
        <p:txBody>
          <a:bodyPr wrap="none"/>
          <a:lstStyle/>
          <a:p>
            <a:endParaRPr lang="en-US"/>
          </a:p>
        </p:txBody>
      </p:sp>
      <p:sp>
        <p:nvSpPr>
          <p:cNvPr id="59402" name="Line 10"/>
          <p:cNvSpPr>
            <a:spLocks noChangeShapeType="1"/>
          </p:cNvSpPr>
          <p:nvPr/>
        </p:nvSpPr>
        <p:spPr bwMode="auto">
          <a:xfrm>
            <a:off x="4267200" y="2209800"/>
            <a:ext cx="0" cy="685800"/>
          </a:xfrm>
          <a:prstGeom prst="line">
            <a:avLst/>
          </a:prstGeom>
          <a:noFill/>
          <a:ln w="9525">
            <a:solidFill>
              <a:schemeClr val="tx1"/>
            </a:solidFill>
            <a:round/>
            <a:headEnd/>
            <a:tailEnd/>
          </a:ln>
          <a:effectLst/>
        </p:spPr>
        <p:txBody>
          <a:bodyPr wrap="none"/>
          <a:lstStyle/>
          <a:p>
            <a:endParaRPr lang="en-US"/>
          </a:p>
        </p:txBody>
      </p:sp>
      <p:sp>
        <p:nvSpPr>
          <p:cNvPr id="59403" name="Rectangle 11"/>
          <p:cNvSpPr>
            <a:spLocks noChangeArrowheads="1"/>
          </p:cNvSpPr>
          <p:nvPr/>
        </p:nvSpPr>
        <p:spPr bwMode="auto">
          <a:xfrm>
            <a:off x="6324600" y="3581400"/>
            <a:ext cx="152400" cy="12954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59404" name="Rectangle 12"/>
          <p:cNvSpPr>
            <a:spLocks noChangeArrowheads="1"/>
          </p:cNvSpPr>
          <p:nvPr/>
        </p:nvSpPr>
        <p:spPr bwMode="auto">
          <a:xfrm>
            <a:off x="5562600" y="4876800"/>
            <a:ext cx="1905000" cy="762000"/>
          </a:xfrm>
          <a:prstGeom prst="rect">
            <a:avLst/>
          </a:prstGeom>
          <a:solidFill>
            <a:schemeClr val="accent1"/>
          </a:solidFill>
          <a:ln w="9525">
            <a:solidFill>
              <a:schemeClr val="tx1"/>
            </a:solidFill>
            <a:miter lim="800000"/>
            <a:headEnd/>
            <a:tailEnd/>
          </a:ln>
          <a:effectLst/>
        </p:spPr>
        <p:txBody>
          <a:bodyPr wrap="none" anchor="ctr"/>
          <a:lstStyle/>
          <a:p>
            <a:pPr algn="ctr"/>
            <a:r>
              <a:rPr lang="en-US">
                <a:solidFill>
                  <a:schemeClr val="hlink"/>
                </a:solidFill>
              </a:rPr>
              <a:t>CRATE</a:t>
            </a:r>
            <a:endParaRPr lang="en-GB">
              <a:solidFill>
                <a:schemeClr val="hlink"/>
              </a:solidFill>
            </a:endParaRPr>
          </a:p>
        </p:txBody>
      </p:sp>
      <p:sp>
        <p:nvSpPr>
          <p:cNvPr id="59406" name="Line 14"/>
          <p:cNvSpPr>
            <a:spLocks noChangeShapeType="1"/>
          </p:cNvSpPr>
          <p:nvPr/>
        </p:nvSpPr>
        <p:spPr bwMode="auto">
          <a:xfrm>
            <a:off x="8686800" y="2895600"/>
            <a:ext cx="0" cy="1371600"/>
          </a:xfrm>
          <a:prstGeom prst="line">
            <a:avLst/>
          </a:prstGeom>
          <a:noFill/>
          <a:ln w="9525">
            <a:solidFill>
              <a:schemeClr val="tx1"/>
            </a:solidFill>
            <a:round/>
            <a:headEnd/>
            <a:tailEnd/>
          </a:ln>
          <a:effectLst/>
        </p:spPr>
        <p:txBody>
          <a:bodyPr wrap="none"/>
          <a:lstStyle/>
          <a:p>
            <a:endParaRPr lang="en-US"/>
          </a:p>
        </p:txBody>
      </p:sp>
      <p:sp>
        <p:nvSpPr>
          <p:cNvPr id="59409" name="Line 17"/>
          <p:cNvSpPr>
            <a:spLocks noChangeShapeType="1"/>
          </p:cNvSpPr>
          <p:nvPr/>
        </p:nvSpPr>
        <p:spPr bwMode="auto">
          <a:xfrm flipH="1">
            <a:off x="4572000" y="3733800"/>
            <a:ext cx="1981200" cy="0"/>
          </a:xfrm>
          <a:prstGeom prst="line">
            <a:avLst/>
          </a:prstGeom>
          <a:noFill/>
          <a:ln w="9525">
            <a:solidFill>
              <a:schemeClr val="tx1"/>
            </a:solidFill>
            <a:round/>
            <a:headEnd/>
            <a:tailEnd/>
          </a:ln>
          <a:effectLst/>
        </p:spPr>
        <p:txBody>
          <a:bodyPr wrap="none"/>
          <a:lstStyle/>
          <a:p>
            <a:endParaRPr lang="en-US"/>
          </a:p>
        </p:txBody>
      </p:sp>
      <p:sp>
        <p:nvSpPr>
          <p:cNvPr id="59411" name="Text Box 19"/>
          <p:cNvSpPr txBox="1">
            <a:spLocks noChangeArrowheads="1"/>
          </p:cNvSpPr>
          <p:nvPr/>
        </p:nvSpPr>
        <p:spPr bwMode="auto">
          <a:xfrm>
            <a:off x="8442325" y="3165475"/>
            <a:ext cx="387350" cy="457200"/>
          </a:xfrm>
          <a:prstGeom prst="rect">
            <a:avLst/>
          </a:prstGeom>
          <a:noFill/>
          <a:ln w="9525">
            <a:noFill/>
            <a:miter lim="800000"/>
            <a:headEnd/>
            <a:tailEnd/>
          </a:ln>
          <a:effectLst/>
        </p:spPr>
        <p:txBody>
          <a:bodyPr wrap="none">
            <a:spAutoFit/>
          </a:bodyPr>
          <a:lstStyle/>
          <a:p>
            <a:r>
              <a:rPr lang="en-US"/>
              <a:t>C</a:t>
            </a:r>
            <a:endParaRPr lang="en-GB"/>
          </a:p>
        </p:txBody>
      </p:sp>
      <p:sp>
        <p:nvSpPr>
          <p:cNvPr id="59412" name="Text Box 20"/>
          <p:cNvSpPr txBox="1">
            <a:spLocks noChangeArrowheads="1"/>
          </p:cNvSpPr>
          <p:nvPr/>
        </p:nvSpPr>
        <p:spPr bwMode="auto">
          <a:xfrm>
            <a:off x="5257800" y="3352800"/>
            <a:ext cx="590550" cy="457200"/>
          </a:xfrm>
          <a:prstGeom prst="rect">
            <a:avLst/>
          </a:prstGeom>
          <a:noFill/>
          <a:ln w="9525">
            <a:noFill/>
            <a:miter lim="800000"/>
            <a:headEnd/>
            <a:tailEnd/>
          </a:ln>
          <a:effectLst/>
        </p:spPr>
        <p:txBody>
          <a:bodyPr wrap="none">
            <a:spAutoFit/>
          </a:bodyPr>
          <a:lstStyle/>
          <a:p>
            <a:r>
              <a:rPr lang="en-US"/>
              <a:t>45</a:t>
            </a:r>
            <a:r>
              <a:rPr lang="en-US" baseline="30000"/>
              <a:t>o</a:t>
            </a:r>
            <a:endParaRPr lang="en-GB" baseline="30000"/>
          </a:p>
        </p:txBody>
      </p:sp>
      <p:sp>
        <p:nvSpPr>
          <p:cNvPr id="59413" name="Text Box 21"/>
          <p:cNvSpPr txBox="1">
            <a:spLocks noChangeArrowheads="1"/>
          </p:cNvSpPr>
          <p:nvPr/>
        </p:nvSpPr>
        <p:spPr bwMode="auto">
          <a:xfrm>
            <a:off x="6156325" y="3089275"/>
            <a:ext cx="463550" cy="457200"/>
          </a:xfrm>
          <a:prstGeom prst="rect">
            <a:avLst/>
          </a:prstGeom>
          <a:noFill/>
          <a:ln w="9525">
            <a:noFill/>
            <a:miter lim="800000"/>
            <a:headEnd/>
            <a:tailEnd/>
          </a:ln>
          <a:effectLst/>
        </p:spPr>
        <p:txBody>
          <a:bodyPr wrap="none">
            <a:spAutoFit/>
          </a:bodyPr>
          <a:lstStyle/>
          <a:p>
            <a:r>
              <a:rPr lang="en-US"/>
              <a:t>B </a:t>
            </a:r>
            <a:endParaRPr lang="en-GB"/>
          </a:p>
        </p:txBody>
      </p:sp>
      <p:sp>
        <p:nvSpPr>
          <p:cNvPr id="59414" name="Text Box 22"/>
          <p:cNvSpPr txBox="1">
            <a:spLocks noChangeArrowheads="1"/>
          </p:cNvSpPr>
          <p:nvPr/>
        </p:nvSpPr>
        <p:spPr bwMode="auto">
          <a:xfrm>
            <a:off x="4479925" y="2174875"/>
            <a:ext cx="404813" cy="457200"/>
          </a:xfrm>
          <a:prstGeom prst="rect">
            <a:avLst/>
          </a:prstGeom>
          <a:noFill/>
          <a:ln w="9525">
            <a:noFill/>
            <a:miter lim="800000"/>
            <a:headEnd/>
            <a:tailEnd/>
          </a:ln>
          <a:effectLst/>
        </p:spPr>
        <p:txBody>
          <a:bodyPr wrap="none">
            <a:spAutoFit/>
          </a:bodyPr>
          <a:lstStyle/>
          <a:p>
            <a:r>
              <a:rPr lang="en-US"/>
              <a:t>A</a:t>
            </a:r>
            <a:endParaRPr lang="en-GB"/>
          </a:p>
        </p:txBody>
      </p:sp>
      <p:sp>
        <p:nvSpPr>
          <p:cNvPr id="59415" name="Text Box 23"/>
          <p:cNvSpPr txBox="1">
            <a:spLocks noChangeArrowheads="1"/>
          </p:cNvSpPr>
          <p:nvPr/>
        </p:nvSpPr>
        <p:spPr bwMode="auto">
          <a:xfrm>
            <a:off x="6613525" y="4460875"/>
            <a:ext cx="404813" cy="457200"/>
          </a:xfrm>
          <a:prstGeom prst="rect">
            <a:avLst/>
          </a:prstGeom>
          <a:noFill/>
          <a:ln w="9525">
            <a:noFill/>
            <a:miter lim="800000"/>
            <a:headEnd/>
            <a:tailEnd/>
          </a:ln>
          <a:effectLst/>
        </p:spPr>
        <p:txBody>
          <a:bodyPr wrap="none">
            <a:spAutoFit/>
          </a:bodyPr>
          <a:lstStyle/>
          <a:p>
            <a:r>
              <a:rPr lang="en-US"/>
              <a:t>D</a:t>
            </a:r>
            <a:endParaRPr lang="en-GB"/>
          </a:p>
        </p:txBody>
      </p:sp>
      <p:sp>
        <p:nvSpPr>
          <p:cNvPr id="17" name="Slide Number Placeholder 16"/>
          <p:cNvSpPr>
            <a:spLocks noGrp="1"/>
          </p:cNvSpPr>
          <p:nvPr>
            <p:ph type="sldNum" sz="quarter" idx="12"/>
          </p:nvPr>
        </p:nvSpPr>
        <p:spPr/>
        <p:txBody>
          <a:bodyPr/>
          <a:lstStyle/>
          <a:p>
            <a:fld id="{D2AC8ED3-FCA2-46E2-B7FF-E9B8229EFB1E}" type="slidenum">
              <a:rPr lang="en-GB" smtClean="0"/>
              <a:pPr/>
              <a:t>12</a:t>
            </a:fld>
            <a:endParaRPr lang="en-GB" sz="1400"/>
          </a:p>
        </p:txBody>
      </p:sp>
      <p:sp>
        <p:nvSpPr>
          <p:cNvPr id="18" name="Footer Placeholder 17"/>
          <p:cNvSpPr>
            <a:spLocks noGrp="1"/>
          </p:cNvSpPr>
          <p:nvPr>
            <p:ph type="ftr" sz="quarter" idx="11"/>
          </p:nvPr>
        </p:nvSpPr>
        <p:spPr/>
        <p:txBody>
          <a:bodyPr/>
          <a:lstStyle/>
          <a:p>
            <a:r>
              <a:rPr lang="fi-FI" smtClean="0"/>
              <a:t>Dr. Nana Sarfo Agyemang Derkyi</a:t>
            </a:r>
            <a:endParaRPr lang="en-GB"/>
          </a:p>
        </p:txBody>
      </p:sp>
      <p:sp>
        <p:nvSpPr>
          <p:cNvPr id="19" name="Date Placeholder 18"/>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838200" y="0"/>
            <a:ext cx="7772400" cy="685800"/>
          </a:xfrm>
        </p:spPr>
        <p:txBody>
          <a:bodyPr/>
          <a:lstStyle/>
          <a:p>
            <a:r>
              <a:rPr lang="en-GB"/>
              <a:t>Solution Contd.</a:t>
            </a:r>
          </a:p>
        </p:txBody>
      </p:sp>
      <p:pic>
        <p:nvPicPr>
          <p:cNvPr id="65539" name="Picture 3"/>
          <p:cNvPicPr>
            <a:picLocks noGrp="1" noChangeAspect="1" noChangeArrowheads="1"/>
          </p:cNvPicPr>
          <p:nvPr>
            <p:ph type="body" idx="1"/>
          </p:nvPr>
        </p:nvPicPr>
        <p:blipFill>
          <a:blip r:embed="rId2" cstate="print"/>
          <a:srcRect/>
          <a:stretch>
            <a:fillRect/>
          </a:stretch>
        </p:blipFill>
        <p:spPr>
          <a:xfrm>
            <a:off x="685800" y="2843213"/>
            <a:ext cx="10126663" cy="3113087"/>
          </a:xfrm>
          <a:noFill/>
          <a:ln/>
        </p:spPr>
      </p:pic>
      <p:sp>
        <p:nvSpPr>
          <p:cNvPr id="4" name="Slide Number Placeholder 3"/>
          <p:cNvSpPr>
            <a:spLocks noGrp="1"/>
          </p:cNvSpPr>
          <p:nvPr>
            <p:ph type="sldNum" sz="quarter" idx="12"/>
          </p:nvPr>
        </p:nvSpPr>
        <p:spPr/>
        <p:txBody>
          <a:bodyPr/>
          <a:lstStyle/>
          <a:p>
            <a:fld id="{D2AC8ED3-FCA2-46E2-B7FF-E9B8229EFB1E}" type="slidenum">
              <a:rPr lang="en-GB" smtClean="0"/>
              <a:pPr/>
              <a:t>13</a:t>
            </a:fld>
            <a:endParaRPr lang="en-GB" sz="1400"/>
          </a:p>
        </p:txBody>
      </p:sp>
      <p:sp>
        <p:nvSpPr>
          <p:cNvPr id="5" name="Footer Placeholder 4"/>
          <p:cNvSpPr>
            <a:spLocks noGrp="1"/>
          </p:cNvSpPr>
          <p:nvPr>
            <p:ph type="ftr" sz="quarter" idx="11"/>
          </p:nvPr>
        </p:nvSpPr>
        <p:spPr/>
        <p:txBody>
          <a:bodyPr/>
          <a:lstStyle/>
          <a:p>
            <a:r>
              <a:rPr lang="fi-FI" smtClean="0"/>
              <a:t>Dr. Nana Sarfo Agyemang Derkyi</a:t>
            </a:r>
            <a:endParaRPr lang="en-GB"/>
          </a:p>
        </p:txBody>
      </p:sp>
      <p:sp>
        <p:nvSpPr>
          <p:cNvPr id="6" name="Date Placeholder 5"/>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990600" y="-381000"/>
            <a:ext cx="7772400" cy="1143000"/>
          </a:xfrm>
        </p:spPr>
        <p:txBody>
          <a:bodyPr/>
          <a:lstStyle/>
          <a:p>
            <a:r>
              <a:rPr lang="en-US" dirty="0" smtClean="0">
                <a:ea typeface="ＭＳ Ｐゴシック" charset="-128"/>
              </a:rPr>
              <a:t>Example</a:t>
            </a:r>
          </a:p>
        </p:txBody>
      </p:sp>
      <p:sp>
        <p:nvSpPr>
          <p:cNvPr id="26628" name="Text Box 6"/>
          <p:cNvSpPr txBox="1">
            <a:spLocks noChangeArrowheads="1"/>
          </p:cNvSpPr>
          <p:nvPr/>
        </p:nvSpPr>
        <p:spPr bwMode="auto">
          <a:xfrm>
            <a:off x="381000" y="4191000"/>
            <a:ext cx="3883025" cy="1920875"/>
          </a:xfrm>
          <a:prstGeom prst="rect">
            <a:avLst/>
          </a:prstGeom>
          <a:noFill/>
          <a:ln w="9525">
            <a:noFill/>
            <a:miter lim="800000"/>
            <a:headEnd/>
            <a:tailEnd/>
          </a:ln>
        </p:spPr>
        <p:txBody>
          <a:bodyPr>
            <a:spAutoFit/>
          </a:bodyPr>
          <a:lstStyle/>
          <a:p>
            <a:pPr>
              <a:spcBef>
                <a:spcPct val="50000"/>
              </a:spcBef>
            </a:pPr>
            <a:r>
              <a:rPr lang="en-US" dirty="0"/>
              <a:t>In a ship-unloading operation, a 3500-lb automobile is supported by a cable.  A rope is tied to the cable and pulled to center the automobile over its intended position.  What is the tension in the rope?</a:t>
            </a:r>
          </a:p>
        </p:txBody>
      </p:sp>
      <p:sp>
        <p:nvSpPr>
          <p:cNvPr id="18439" name="Text Box 7"/>
          <p:cNvSpPr txBox="1">
            <a:spLocks noChangeArrowheads="1"/>
          </p:cNvSpPr>
          <p:nvPr/>
        </p:nvSpPr>
        <p:spPr bwMode="auto">
          <a:xfrm>
            <a:off x="4357688" y="1152525"/>
            <a:ext cx="4619625" cy="1463675"/>
          </a:xfrm>
          <a:prstGeom prst="rect">
            <a:avLst/>
          </a:prstGeom>
          <a:noFill/>
          <a:ln w="9525">
            <a:noFill/>
            <a:miter lim="800000"/>
            <a:headEnd/>
            <a:tailEnd/>
          </a:ln>
        </p:spPr>
        <p:txBody>
          <a:bodyPr>
            <a:spAutoFit/>
          </a:bodyPr>
          <a:lstStyle/>
          <a:p>
            <a:pPr marL="227013" indent="-227013">
              <a:spcBef>
                <a:spcPct val="50000"/>
              </a:spcBef>
            </a:pPr>
            <a:r>
              <a:rPr lang="en-US"/>
              <a:t>SOLUTION:</a:t>
            </a:r>
          </a:p>
          <a:p>
            <a:pPr marL="227013" indent="-227013">
              <a:spcBef>
                <a:spcPct val="50000"/>
              </a:spcBef>
              <a:buFontTx/>
              <a:buChar char="•"/>
            </a:pPr>
            <a:r>
              <a:rPr lang="en-US"/>
              <a:t>Construct a free-body diagram for the particle at the junction of the rope and cable.</a:t>
            </a:r>
          </a:p>
        </p:txBody>
      </p:sp>
      <p:pic>
        <p:nvPicPr>
          <p:cNvPr id="26630" name="Picture 10" descr="C:\DOCUME~1\WALTOL~1\LOCALS~1\Temp\\msotw9_temp0.jpg"/>
          <p:cNvPicPr>
            <a:picLocks noChangeAspect="1" noChangeArrowheads="1"/>
          </p:cNvPicPr>
          <p:nvPr/>
        </p:nvPicPr>
        <p:blipFill>
          <a:blip r:embed="rId2" cstate="print"/>
          <a:srcRect/>
          <a:stretch>
            <a:fillRect/>
          </a:stretch>
        </p:blipFill>
        <p:spPr bwMode="auto">
          <a:xfrm>
            <a:off x="474663" y="1036638"/>
            <a:ext cx="3608387" cy="3179762"/>
          </a:xfrm>
          <a:prstGeom prst="rect">
            <a:avLst/>
          </a:prstGeom>
          <a:noFill/>
          <a:ln w="9525">
            <a:noFill/>
            <a:miter lim="800000"/>
            <a:headEnd/>
            <a:tailEnd/>
          </a:ln>
        </p:spPr>
      </p:pic>
      <p:sp>
        <p:nvSpPr>
          <p:cNvPr id="18444" name="Text Box 12"/>
          <p:cNvSpPr txBox="1">
            <a:spLocks noChangeArrowheads="1"/>
          </p:cNvSpPr>
          <p:nvPr/>
        </p:nvSpPr>
        <p:spPr bwMode="auto">
          <a:xfrm>
            <a:off x="4343400" y="3048000"/>
            <a:ext cx="4595812" cy="10064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Apply the conditions for equilibrium by creating a closed polygon from the forces applied to the particle. </a:t>
            </a:r>
          </a:p>
        </p:txBody>
      </p:sp>
      <p:sp>
        <p:nvSpPr>
          <p:cNvPr id="18445" name="Text Box 13"/>
          <p:cNvSpPr txBox="1">
            <a:spLocks noChangeArrowheads="1"/>
          </p:cNvSpPr>
          <p:nvPr/>
        </p:nvSpPr>
        <p:spPr bwMode="auto">
          <a:xfrm>
            <a:off x="4419600" y="4800600"/>
            <a:ext cx="453707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Apply trigonometric relations to determine the unknown force magnitudes.</a:t>
            </a:r>
          </a:p>
        </p:txBody>
      </p:sp>
      <p:sp>
        <p:nvSpPr>
          <p:cNvPr id="8" name="Slide Number Placeholder 7"/>
          <p:cNvSpPr>
            <a:spLocks noGrp="1"/>
          </p:cNvSpPr>
          <p:nvPr>
            <p:ph type="sldNum" sz="quarter" idx="12"/>
          </p:nvPr>
        </p:nvSpPr>
        <p:spPr/>
        <p:txBody>
          <a:bodyPr/>
          <a:lstStyle/>
          <a:p>
            <a:fld id="{D2AC8ED3-FCA2-46E2-B7FF-E9B8229EFB1E}" type="slidenum">
              <a:rPr lang="en-GB" smtClean="0"/>
              <a:pPr/>
              <a:t>14</a:t>
            </a:fld>
            <a:endParaRPr lang="en-GB" sz="140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
        <p:nvSpPr>
          <p:cNvPr id="10" name="Date Placeholder 9"/>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utoUpdateAnimBg="0"/>
      <p:bldP spid="18444" grpId="0" autoUpdateAnimBg="0"/>
      <p:bldP spid="1844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a:xfrm>
            <a:off x="990600" y="-381000"/>
            <a:ext cx="7772400" cy="1143000"/>
          </a:xfrm>
        </p:spPr>
        <p:txBody>
          <a:bodyPr/>
          <a:lstStyle/>
          <a:p>
            <a:r>
              <a:rPr lang="en-US" dirty="0" smtClean="0">
                <a:ea typeface="ＭＳ Ｐゴシック" charset="-128"/>
              </a:rPr>
              <a:t>Example </a:t>
            </a:r>
            <a:r>
              <a:rPr lang="en-US" dirty="0" err="1" smtClean="0">
                <a:ea typeface="ＭＳ Ｐゴシック" charset="-128"/>
              </a:rPr>
              <a:t>contd</a:t>
            </a:r>
            <a:endParaRPr lang="en-US" dirty="0" smtClean="0">
              <a:ea typeface="ＭＳ Ｐゴシック" charset="-128"/>
            </a:endParaRPr>
          </a:p>
        </p:txBody>
      </p:sp>
      <p:pic>
        <p:nvPicPr>
          <p:cNvPr id="27655" name="Picture 5" descr="C:\DOCUME~1\WALTOL~1\LOCALS~1\Temp\\msotw9_temp0.jpg"/>
          <p:cNvPicPr>
            <a:picLocks noChangeAspect="1" noChangeArrowheads="1"/>
          </p:cNvPicPr>
          <p:nvPr/>
        </p:nvPicPr>
        <p:blipFill>
          <a:blip r:embed="rId3" cstate="print"/>
          <a:srcRect/>
          <a:stretch>
            <a:fillRect/>
          </a:stretch>
        </p:blipFill>
        <p:spPr bwMode="auto">
          <a:xfrm>
            <a:off x="439738" y="1036638"/>
            <a:ext cx="2890837" cy="2547937"/>
          </a:xfrm>
          <a:prstGeom prst="rect">
            <a:avLst/>
          </a:prstGeom>
          <a:noFill/>
          <a:ln w="9525">
            <a:noFill/>
            <a:miter lim="800000"/>
            <a:headEnd/>
            <a:tailEnd/>
          </a:ln>
        </p:spPr>
      </p:pic>
      <p:pic>
        <p:nvPicPr>
          <p:cNvPr id="27656" name="Picture 6" descr="C:\DOCUME~1\WALTOL~1\LOCALS~1\Temp\\msotw9_temp0.jpg"/>
          <p:cNvPicPr>
            <a:picLocks noChangeAspect="1" noChangeArrowheads="1"/>
          </p:cNvPicPr>
          <p:nvPr/>
        </p:nvPicPr>
        <p:blipFill>
          <a:blip r:embed="rId4" cstate="print"/>
          <a:srcRect/>
          <a:stretch>
            <a:fillRect/>
          </a:stretch>
        </p:blipFill>
        <p:spPr bwMode="auto">
          <a:xfrm>
            <a:off x="390525" y="3662363"/>
            <a:ext cx="3098800" cy="2833687"/>
          </a:xfrm>
          <a:prstGeom prst="rect">
            <a:avLst/>
          </a:prstGeom>
          <a:noFill/>
          <a:ln w="9525">
            <a:noFill/>
            <a:miter lim="800000"/>
            <a:headEnd/>
            <a:tailEnd/>
          </a:ln>
        </p:spPr>
      </p:pic>
      <p:sp>
        <p:nvSpPr>
          <p:cNvPr id="27657" name="Text Box 7"/>
          <p:cNvSpPr txBox="1">
            <a:spLocks noChangeArrowheads="1"/>
          </p:cNvSpPr>
          <p:nvPr/>
        </p:nvSpPr>
        <p:spPr bwMode="auto">
          <a:xfrm>
            <a:off x="4060825" y="1163638"/>
            <a:ext cx="4619625" cy="1938992"/>
          </a:xfrm>
          <a:prstGeom prst="rect">
            <a:avLst/>
          </a:prstGeom>
          <a:noFill/>
          <a:ln w="9525">
            <a:noFill/>
            <a:miter lim="800000"/>
            <a:headEnd/>
            <a:tailEnd/>
          </a:ln>
        </p:spPr>
        <p:txBody>
          <a:bodyPr>
            <a:spAutoFit/>
          </a:bodyPr>
          <a:lstStyle/>
          <a:p>
            <a:pPr marL="227013" indent="-227013">
              <a:spcBef>
                <a:spcPct val="50000"/>
              </a:spcBef>
            </a:pPr>
            <a:r>
              <a:rPr lang="en-US" dirty="0"/>
              <a:t>SOLUTION:</a:t>
            </a:r>
          </a:p>
          <a:p>
            <a:pPr marL="227013" indent="-227013">
              <a:spcBef>
                <a:spcPct val="50000"/>
              </a:spcBef>
              <a:buFontTx/>
              <a:buChar char="•"/>
            </a:pPr>
            <a:r>
              <a:rPr lang="en-US" dirty="0"/>
              <a:t>Construct a free-body diagram for the particle at </a:t>
            </a:r>
            <a:r>
              <a:rPr lang="en-US" i="1" dirty="0"/>
              <a:t>A</a:t>
            </a:r>
            <a:r>
              <a:rPr lang="en-US" dirty="0" smtClean="0"/>
              <a:t>.</a:t>
            </a:r>
          </a:p>
          <a:p>
            <a:pPr marL="227013" indent="-227013">
              <a:spcBef>
                <a:spcPct val="50000"/>
              </a:spcBef>
            </a:pPr>
            <a:endParaRPr lang="en-US" dirty="0"/>
          </a:p>
        </p:txBody>
      </p:sp>
      <p:sp>
        <p:nvSpPr>
          <p:cNvPr id="24584" name="Text Box 8"/>
          <p:cNvSpPr txBox="1">
            <a:spLocks noChangeArrowheads="1"/>
          </p:cNvSpPr>
          <p:nvPr/>
        </p:nvSpPr>
        <p:spPr bwMode="auto">
          <a:xfrm>
            <a:off x="4038600" y="2590800"/>
            <a:ext cx="4595813" cy="3968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Apply the conditions for equilibrium.</a:t>
            </a:r>
          </a:p>
        </p:txBody>
      </p:sp>
      <p:grpSp>
        <p:nvGrpSpPr>
          <p:cNvPr id="2" name="Group 13"/>
          <p:cNvGrpSpPr>
            <a:grpSpLocks/>
          </p:cNvGrpSpPr>
          <p:nvPr/>
        </p:nvGrpSpPr>
        <p:grpSpPr bwMode="auto">
          <a:xfrm>
            <a:off x="4114800" y="3581400"/>
            <a:ext cx="4691063" cy="2616201"/>
            <a:chOff x="2558" y="1884"/>
            <a:chExt cx="2955" cy="1648"/>
          </a:xfrm>
        </p:grpSpPr>
        <p:sp>
          <p:nvSpPr>
            <p:cNvPr id="27660" name="Text Box 9"/>
            <p:cNvSpPr txBox="1">
              <a:spLocks noChangeArrowheads="1"/>
            </p:cNvSpPr>
            <p:nvPr/>
          </p:nvSpPr>
          <p:spPr bwMode="auto">
            <a:xfrm>
              <a:off x="2558" y="1884"/>
              <a:ext cx="2955" cy="250"/>
            </a:xfrm>
            <a:prstGeom prst="rect">
              <a:avLst/>
            </a:prstGeom>
            <a:noFill/>
            <a:ln w="9525">
              <a:noFill/>
              <a:miter lim="800000"/>
              <a:headEnd/>
              <a:tailEnd/>
            </a:ln>
          </p:spPr>
          <p:txBody>
            <a:bodyPr>
              <a:spAutoFit/>
            </a:bodyPr>
            <a:lstStyle/>
            <a:p>
              <a:pPr marL="227013" indent="-227013">
                <a:spcBef>
                  <a:spcPct val="50000"/>
                </a:spcBef>
                <a:buFontTx/>
                <a:buChar char="•"/>
              </a:pPr>
              <a:r>
                <a:rPr lang="en-US" dirty="0"/>
                <a:t>Solve for the unknown force magnitudes.</a:t>
              </a:r>
            </a:p>
          </p:txBody>
        </p:sp>
        <p:graphicFrame>
          <p:nvGraphicFramePr>
            <p:cNvPr id="54272" name="Object 1024"/>
            <p:cNvGraphicFramePr>
              <a:graphicFrameLocks noChangeAspect="1"/>
            </p:cNvGraphicFramePr>
            <p:nvPr/>
          </p:nvGraphicFramePr>
          <p:xfrm>
            <a:off x="2798" y="2460"/>
            <a:ext cx="1712" cy="392"/>
          </p:xfrm>
          <a:graphic>
            <a:graphicData uri="http://schemas.openxmlformats.org/presentationml/2006/ole">
              <p:oleObj spid="_x0000_s279554" name="Equation" r:id="rId5" imgW="2717640" imgH="622080" progId="Equation.3">
                <p:embed/>
              </p:oleObj>
            </a:graphicData>
          </a:graphic>
        </p:graphicFrame>
        <p:graphicFrame>
          <p:nvGraphicFramePr>
            <p:cNvPr id="54273" name="Object 1025"/>
            <p:cNvGraphicFramePr>
              <a:graphicFrameLocks noChangeAspect="1"/>
            </p:cNvGraphicFramePr>
            <p:nvPr/>
          </p:nvGraphicFramePr>
          <p:xfrm>
            <a:off x="2750" y="2988"/>
            <a:ext cx="912" cy="200"/>
          </p:xfrm>
          <a:graphic>
            <a:graphicData uri="http://schemas.openxmlformats.org/presentationml/2006/ole">
              <p:oleObj spid="_x0000_s279555" name="Equation" r:id="rId6" imgW="1447560" imgH="317160" progId="Equation.3">
                <p:embed/>
              </p:oleObj>
            </a:graphicData>
          </a:graphic>
        </p:graphicFrame>
        <p:graphicFrame>
          <p:nvGraphicFramePr>
            <p:cNvPr id="54274" name="Object 1026"/>
            <p:cNvGraphicFramePr>
              <a:graphicFrameLocks noChangeAspect="1"/>
            </p:cNvGraphicFramePr>
            <p:nvPr/>
          </p:nvGraphicFramePr>
          <p:xfrm>
            <a:off x="2798" y="3324"/>
            <a:ext cx="832" cy="208"/>
          </p:xfrm>
          <a:graphic>
            <a:graphicData uri="http://schemas.openxmlformats.org/presentationml/2006/ole">
              <p:oleObj spid="_x0000_s279556" name="Equation" r:id="rId7" imgW="1320480" imgH="330120" progId="Equation.3">
                <p:embed/>
              </p:oleObj>
            </a:graphicData>
          </a:graphic>
        </p:graphicFrame>
      </p:grpSp>
      <p:sp>
        <p:nvSpPr>
          <p:cNvPr id="12" name="Slide Number Placeholder 11"/>
          <p:cNvSpPr>
            <a:spLocks noGrp="1"/>
          </p:cNvSpPr>
          <p:nvPr>
            <p:ph type="sldNum" sz="quarter" idx="12"/>
          </p:nvPr>
        </p:nvSpPr>
        <p:spPr/>
        <p:txBody>
          <a:bodyPr/>
          <a:lstStyle/>
          <a:p>
            <a:fld id="{D2AC8ED3-FCA2-46E2-B7FF-E9B8229EFB1E}" type="slidenum">
              <a:rPr lang="en-GB" smtClean="0"/>
              <a:pPr/>
              <a:t>15</a:t>
            </a:fld>
            <a:endParaRPr lang="en-GB" sz="1400"/>
          </a:p>
        </p:txBody>
      </p:sp>
      <p:sp>
        <p:nvSpPr>
          <p:cNvPr id="13" name="Footer Placeholder 12"/>
          <p:cNvSpPr>
            <a:spLocks noGrp="1"/>
          </p:cNvSpPr>
          <p:nvPr>
            <p:ph type="ftr" sz="quarter" idx="11"/>
          </p:nvPr>
        </p:nvSpPr>
        <p:spPr/>
        <p:txBody>
          <a:bodyPr/>
          <a:lstStyle/>
          <a:p>
            <a:r>
              <a:rPr lang="fi-FI" smtClean="0"/>
              <a:t>Dr. Nana Sarfo Agyemang Derkyi</a:t>
            </a:r>
            <a:endParaRPr lang="en-GB"/>
          </a:p>
        </p:txBody>
      </p:sp>
      <p:sp>
        <p:nvSpPr>
          <p:cNvPr id="14" name="Date Placeholder 13"/>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STATICS OF RIGID BODIES</a:t>
            </a:r>
            <a:endParaRPr lang="en-US" dirty="0"/>
          </a:p>
        </p:txBody>
      </p:sp>
      <p:sp>
        <p:nvSpPr>
          <p:cNvPr id="7" name="Subtitle 6"/>
          <p:cNvSpPr>
            <a:spLocks noGrp="1"/>
          </p:cNvSpPr>
          <p:nvPr>
            <p:ph type="subTitle" idx="1"/>
          </p:nvPr>
        </p:nvSpPr>
        <p:spPr/>
        <p:txBody>
          <a:bodyPr/>
          <a:lstStyle/>
          <a:p>
            <a:endParaRPr lang="en-US"/>
          </a:p>
        </p:txBody>
      </p:sp>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66800" y="-228600"/>
            <a:ext cx="7772400" cy="1143000"/>
          </a:xfrm>
        </p:spPr>
        <p:txBody>
          <a:bodyPr/>
          <a:lstStyle/>
          <a:p>
            <a:r>
              <a:rPr lang="en-US" smtClean="0">
                <a:ea typeface="ＭＳ Ｐゴシック" charset="-128"/>
              </a:rPr>
              <a:t>Introduction</a:t>
            </a:r>
          </a:p>
        </p:txBody>
      </p:sp>
      <p:sp>
        <p:nvSpPr>
          <p:cNvPr id="7" name="Slide Number Placeholder 2"/>
          <p:cNvSpPr>
            <a:spLocks noGrp="1"/>
          </p:cNvSpPr>
          <p:nvPr>
            <p:ph type="sldNum" sz="quarter" idx="10"/>
          </p:nvPr>
        </p:nvSpPr>
        <p:spPr>
          <a:xfrm>
            <a:off x="7239000" y="6400800"/>
            <a:ext cx="1905000" cy="457200"/>
          </a:xfrm>
        </p:spPr>
        <p:txBody>
          <a:bodyPr/>
          <a:lstStyle/>
          <a:p>
            <a:r>
              <a:rPr lang="en-US" dirty="0" smtClean="0"/>
              <a:t>                             </a:t>
            </a:r>
            <a:fld id="{15625597-06C2-4E97-9285-CA6FDA6FD96C}" type="slidenum">
              <a:rPr lang="en-US" sz="2000" smtClean="0"/>
              <a:pPr/>
              <a:t>17</a:t>
            </a:fld>
            <a:endParaRPr lang="en-US" sz="2000" dirty="0"/>
          </a:p>
        </p:txBody>
      </p:sp>
      <p:sp>
        <p:nvSpPr>
          <p:cNvPr id="7172" name="Text Box 3"/>
          <p:cNvSpPr txBox="1">
            <a:spLocks noChangeArrowheads="1"/>
          </p:cNvSpPr>
          <p:nvPr/>
        </p:nvSpPr>
        <p:spPr bwMode="auto">
          <a:xfrm>
            <a:off x="609600" y="1219200"/>
            <a:ext cx="7772400" cy="2308324"/>
          </a:xfrm>
          <a:prstGeom prst="rect">
            <a:avLst/>
          </a:prstGeom>
          <a:noFill/>
          <a:ln w="9525">
            <a:noFill/>
            <a:miter lim="800000"/>
            <a:headEnd/>
            <a:tailEnd/>
          </a:ln>
        </p:spPr>
        <p:txBody>
          <a:bodyPr>
            <a:spAutoFit/>
          </a:bodyPr>
          <a:lstStyle/>
          <a:p>
            <a:pPr marL="227013" indent="-227013">
              <a:spcBef>
                <a:spcPct val="50000"/>
              </a:spcBef>
              <a:buFontTx/>
              <a:buChar char="•"/>
            </a:pPr>
            <a:r>
              <a:rPr lang="en-US" dirty="0"/>
              <a:t>Treatment of a body as a single particle is not always possible.  In general, the size of the body and the specific points of application of the forces must be considered</a:t>
            </a:r>
            <a:r>
              <a:rPr lang="en-US" dirty="0" smtClean="0"/>
              <a:t>.</a:t>
            </a:r>
          </a:p>
          <a:p>
            <a:pPr marL="227013" indent="-227013">
              <a:spcBef>
                <a:spcPct val="50000"/>
              </a:spcBef>
              <a:buFontTx/>
              <a:buChar char="•"/>
            </a:pPr>
            <a:endParaRPr lang="en-US" dirty="0" smtClean="0"/>
          </a:p>
          <a:p>
            <a:pPr marL="227013" indent="-227013">
              <a:spcBef>
                <a:spcPct val="50000"/>
              </a:spcBef>
              <a:buFontTx/>
              <a:buChar char="•"/>
            </a:pPr>
            <a:endParaRPr lang="en-US" dirty="0"/>
          </a:p>
        </p:txBody>
      </p:sp>
      <p:sp>
        <p:nvSpPr>
          <p:cNvPr id="6148" name="Rectangle 4"/>
          <p:cNvSpPr>
            <a:spLocks noChangeArrowheads="1"/>
          </p:cNvSpPr>
          <p:nvPr/>
        </p:nvSpPr>
        <p:spPr bwMode="auto">
          <a:xfrm>
            <a:off x="609600" y="2819400"/>
            <a:ext cx="7848600" cy="1200329"/>
          </a:xfrm>
          <a:prstGeom prst="rect">
            <a:avLst/>
          </a:prstGeom>
          <a:noFill/>
          <a:ln w="9525">
            <a:noFill/>
            <a:miter lim="800000"/>
            <a:headEnd/>
            <a:tailEnd/>
          </a:ln>
        </p:spPr>
        <p:txBody>
          <a:bodyPr>
            <a:spAutoFit/>
          </a:bodyPr>
          <a:lstStyle/>
          <a:p>
            <a:pPr marL="227013" indent="-227013">
              <a:spcBef>
                <a:spcPct val="50000"/>
              </a:spcBef>
              <a:buFontTx/>
              <a:buChar char="•"/>
            </a:pPr>
            <a:r>
              <a:rPr lang="en-US" dirty="0"/>
              <a:t>Most bodies in </a:t>
            </a:r>
            <a:r>
              <a:rPr lang="en-US" dirty="0" smtClean="0"/>
              <a:t>mechanics </a:t>
            </a:r>
            <a:r>
              <a:rPr lang="en-US" dirty="0"/>
              <a:t>are assumed to be rigid, i.e., the actual deformations are small and do not affect the conditions of equilibrium or motion of the body.</a:t>
            </a:r>
          </a:p>
        </p:txBody>
      </p:sp>
      <p:sp>
        <p:nvSpPr>
          <p:cNvPr id="6149" name="Text Box 5"/>
          <p:cNvSpPr txBox="1">
            <a:spLocks noChangeArrowheads="1"/>
          </p:cNvSpPr>
          <p:nvPr/>
        </p:nvSpPr>
        <p:spPr bwMode="auto">
          <a:xfrm>
            <a:off x="609600" y="4495800"/>
            <a:ext cx="8153400" cy="1354217"/>
          </a:xfrm>
          <a:prstGeom prst="rect">
            <a:avLst/>
          </a:prstGeom>
          <a:noFill/>
          <a:ln w="9525">
            <a:noFill/>
            <a:miter lim="800000"/>
            <a:headEnd/>
            <a:tailEnd/>
          </a:ln>
        </p:spPr>
        <p:txBody>
          <a:bodyPr>
            <a:spAutoFit/>
          </a:bodyPr>
          <a:lstStyle/>
          <a:p>
            <a:pPr marL="227013" indent="-227013">
              <a:spcBef>
                <a:spcPct val="50000"/>
              </a:spcBef>
              <a:buFontTx/>
              <a:buChar char="•"/>
            </a:pPr>
            <a:r>
              <a:rPr lang="en-US" dirty="0" smtClean="0"/>
              <a:t>We will consider:</a:t>
            </a:r>
          </a:p>
          <a:p>
            <a:pPr marL="690563" lvl="1" indent="-233363">
              <a:spcBef>
                <a:spcPts val="600"/>
              </a:spcBef>
              <a:buFontTx/>
              <a:buChar char="•"/>
            </a:pPr>
            <a:r>
              <a:rPr lang="en-US" dirty="0" smtClean="0"/>
              <a:t>moment </a:t>
            </a:r>
            <a:r>
              <a:rPr lang="en-US" dirty="0"/>
              <a:t>of a force about a point</a:t>
            </a:r>
          </a:p>
          <a:p>
            <a:pPr marL="690563" lvl="1" indent="-233363">
              <a:spcBef>
                <a:spcPts val="600"/>
              </a:spcBef>
              <a:buFontTx/>
              <a:buChar char="•"/>
            </a:pPr>
            <a:r>
              <a:rPr lang="en-US" dirty="0" smtClean="0"/>
              <a:t>moment </a:t>
            </a:r>
            <a:r>
              <a:rPr lang="en-US" dirty="0"/>
              <a:t>due to a couple</a:t>
            </a:r>
          </a:p>
        </p:txBody>
      </p:sp>
      <p:sp>
        <p:nvSpPr>
          <p:cNvPr id="8" name="Date Placeholder 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4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66800" y="-381000"/>
            <a:ext cx="7772400" cy="1143000"/>
          </a:xfrm>
        </p:spPr>
        <p:txBody>
          <a:bodyPr/>
          <a:lstStyle/>
          <a:p>
            <a:r>
              <a:rPr lang="en-US" smtClean="0">
                <a:ea typeface="ＭＳ Ｐゴシック" charset="-128"/>
              </a:rPr>
              <a:t>External and Internal Forces</a:t>
            </a:r>
          </a:p>
        </p:txBody>
      </p:sp>
      <p:sp>
        <p:nvSpPr>
          <p:cNvPr id="10" name="Slide Number Placeholder 2"/>
          <p:cNvSpPr>
            <a:spLocks noGrp="1"/>
          </p:cNvSpPr>
          <p:nvPr>
            <p:ph type="sldNum" sz="quarter" idx="10"/>
          </p:nvPr>
        </p:nvSpPr>
        <p:spPr>
          <a:xfrm>
            <a:off x="7239000" y="6400800"/>
            <a:ext cx="1905000" cy="457200"/>
          </a:xfrm>
        </p:spPr>
        <p:txBody>
          <a:bodyPr/>
          <a:lstStyle/>
          <a:p>
            <a:r>
              <a:rPr lang="en-US" sz="2400" dirty="0" smtClean="0"/>
              <a:t>                 </a:t>
            </a:r>
            <a:fld id="{79C7829C-CC9E-4005-B05B-D1BEEFD49ED6}" type="slidenum">
              <a:rPr lang="en-US" sz="2400" smtClean="0"/>
              <a:pPr/>
              <a:t>18</a:t>
            </a:fld>
            <a:endParaRPr lang="en-US" sz="2400" dirty="0"/>
          </a:p>
        </p:txBody>
      </p:sp>
      <p:grpSp>
        <p:nvGrpSpPr>
          <p:cNvPr id="2" name="Group 17"/>
          <p:cNvGrpSpPr>
            <a:grpSpLocks/>
          </p:cNvGrpSpPr>
          <p:nvPr/>
        </p:nvGrpSpPr>
        <p:grpSpPr bwMode="auto">
          <a:xfrm>
            <a:off x="381000" y="1143000"/>
            <a:ext cx="8610600" cy="1473200"/>
            <a:chOff x="240" y="720"/>
            <a:chExt cx="5424" cy="928"/>
          </a:xfrm>
        </p:grpSpPr>
        <p:pic>
          <p:nvPicPr>
            <p:cNvPr id="8201" name="Picture 12" descr="C:\DOCUME~1\WALTOL~1\LOCALS~1\Temp\\msotw9_temp0.jpg"/>
            <p:cNvPicPr>
              <a:picLocks noChangeAspect="1" noChangeArrowheads="1"/>
            </p:cNvPicPr>
            <p:nvPr/>
          </p:nvPicPr>
          <p:blipFill>
            <a:blip r:embed="rId2" cstate="print"/>
            <a:srcRect/>
            <a:stretch>
              <a:fillRect/>
            </a:stretch>
          </p:blipFill>
          <p:spPr bwMode="auto">
            <a:xfrm>
              <a:off x="2736" y="720"/>
              <a:ext cx="2928" cy="928"/>
            </a:xfrm>
            <a:prstGeom prst="rect">
              <a:avLst/>
            </a:prstGeom>
            <a:noFill/>
            <a:ln w="9525">
              <a:noFill/>
              <a:miter lim="800000"/>
              <a:headEnd/>
              <a:tailEnd/>
            </a:ln>
          </p:spPr>
        </p:pic>
        <p:sp>
          <p:nvSpPr>
            <p:cNvPr id="8202" name="Text Box 14"/>
            <p:cNvSpPr txBox="1">
              <a:spLocks noChangeArrowheads="1"/>
            </p:cNvSpPr>
            <p:nvPr/>
          </p:nvSpPr>
          <p:spPr bwMode="auto">
            <a:xfrm>
              <a:off x="240" y="720"/>
              <a:ext cx="2400" cy="864"/>
            </a:xfrm>
            <a:prstGeom prst="rect">
              <a:avLst/>
            </a:prstGeom>
            <a:noFill/>
            <a:ln w="9525">
              <a:noFill/>
              <a:miter lim="800000"/>
              <a:headEnd/>
              <a:tailEnd/>
            </a:ln>
          </p:spPr>
          <p:txBody>
            <a:bodyPr>
              <a:spAutoFit/>
            </a:bodyPr>
            <a:lstStyle/>
            <a:p>
              <a:pPr marL="227013" indent="-227013">
                <a:spcBef>
                  <a:spcPct val="50000"/>
                </a:spcBef>
                <a:buFontTx/>
                <a:buChar char="•"/>
              </a:pPr>
              <a:r>
                <a:rPr lang="en-US"/>
                <a:t>Forces acting on rigid bodies are divided into two groups:</a:t>
              </a:r>
            </a:p>
            <a:p>
              <a:pPr marL="690563" lvl="1" indent="-233363">
                <a:spcBef>
                  <a:spcPct val="10000"/>
                </a:spcBef>
                <a:buFontTx/>
                <a:buChar char="-"/>
              </a:pPr>
              <a:r>
                <a:rPr lang="en-US"/>
                <a:t>External forces</a:t>
              </a:r>
            </a:p>
            <a:p>
              <a:pPr marL="690563" lvl="1" indent="-233363">
                <a:spcBef>
                  <a:spcPct val="10000"/>
                </a:spcBef>
                <a:buFontTx/>
                <a:buChar char="-"/>
              </a:pPr>
              <a:r>
                <a:rPr lang="en-US"/>
                <a:t>Internal forces</a:t>
              </a:r>
            </a:p>
          </p:txBody>
        </p:sp>
      </p:grpSp>
      <p:grpSp>
        <p:nvGrpSpPr>
          <p:cNvPr id="3" name="Group 18"/>
          <p:cNvGrpSpPr>
            <a:grpSpLocks/>
          </p:cNvGrpSpPr>
          <p:nvPr/>
        </p:nvGrpSpPr>
        <p:grpSpPr bwMode="auto">
          <a:xfrm>
            <a:off x="381000" y="3352800"/>
            <a:ext cx="7162800" cy="1655763"/>
            <a:chOff x="240" y="2112"/>
            <a:chExt cx="4512" cy="1043"/>
          </a:xfrm>
        </p:grpSpPr>
        <p:pic>
          <p:nvPicPr>
            <p:cNvPr id="8199" name="Picture 13" descr="C:\DOCUME~1\WALTOL~1\LOCALS~1\Temp\\msotw9_temp0.jpg"/>
            <p:cNvPicPr>
              <a:picLocks noChangeAspect="1" noChangeArrowheads="1"/>
            </p:cNvPicPr>
            <p:nvPr/>
          </p:nvPicPr>
          <p:blipFill>
            <a:blip r:embed="rId3" cstate="print"/>
            <a:srcRect/>
            <a:stretch>
              <a:fillRect/>
            </a:stretch>
          </p:blipFill>
          <p:spPr bwMode="auto">
            <a:xfrm>
              <a:off x="2832" y="2112"/>
              <a:ext cx="1920" cy="1043"/>
            </a:xfrm>
            <a:prstGeom prst="rect">
              <a:avLst/>
            </a:prstGeom>
            <a:noFill/>
            <a:ln w="9525">
              <a:noFill/>
              <a:miter lim="800000"/>
              <a:headEnd/>
              <a:tailEnd/>
            </a:ln>
          </p:spPr>
        </p:pic>
        <p:sp>
          <p:nvSpPr>
            <p:cNvPr id="8200" name="Text Box 15"/>
            <p:cNvSpPr txBox="1">
              <a:spLocks noChangeArrowheads="1"/>
            </p:cNvSpPr>
            <p:nvPr/>
          </p:nvSpPr>
          <p:spPr bwMode="auto">
            <a:xfrm>
              <a:off x="240" y="2256"/>
              <a:ext cx="2496" cy="442"/>
            </a:xfrm>
            <a:prstGeom prst="rect">
              <a:avLst/>
            </a:prstGeom>
            <a:noFill/>
            <a:ln w="9525">
              <a:noFill/>
              <a:miter lim="800000"/>
              <a:headEnd/>
              <a:tailEnd/>
            </a:ln>
          </p:spPr>
          <p:txBody>
            <a:bodyPr>
              <a:spAutoFit/>
            </a:bodyPr>
            <a:lstStyle/>
            <a:p>
              <a:pPr marL="227013" indent="-227013">
                <a:spcBef>
                  <a:spcPct val="50000"/>
                </a:spcBef>
                <a:buFontTx/>
                <a:buChar char="•"/>
              </a:pPr>
              <a:r>
                <a:rPr lang="en-US"/>
                <a:t>External forces are shown in a free-body diagram.</a:t>
              </a:r>
            </a:p>
          </p:txBody>
        </p:sp>
      </p:grpSp>
      <p:sp>
        <p:nvSpPr>
          <p:cNvPr id="7184" name="Text Box 16"/>
          <p:cNvSpPr txBox="1">
            <a:spLocks noChangeArrowheads="1"/>
          </p:cNvSpPr>
          <p:nvPr/>
        </p:nvSpPr>
        <p:spPr bwMode="auto">
          <a:xfrm>
            <a:off x="381000" y="5181600"/>
            <a:ext cx="3810000" cy="1006475"/>
          </a:xfrm>
          <a:prstGeom prst="rect">
            <a:avLst/>
          </a:prstGeom>
          <a:noFill/>
          <a:ln w="9525">
            <a:noFill/>
            <a:miter lim="800000"/>
            <a:headEnd/>
            <a:tailEnd/>
          </a:ln>
        </p:spPr>
        <p:txBody>
          <a:bodyPr>
            <a:spAutoFit/>
          </a:bodyPr>
          <a:lstStyle/>
          <a:p>
            <a:pPr marL="227013" indent="-227013">
              <a:spcBef>
                <a:spcPct val="50000"/>
              </a:spcBef>
              <a:buFontTx/>
              <a:buChar char="•"/>
            </a:pPr>
            <a:r>
              <a:rPr lang="en-US"/>
              <a:t>If unopposed, each external force can impart a motion of translation or rotation, or both.</a:t>
            </a:r>
          </a:p>
        </p:txBody>
      </p:sp>
      <p:sp>
        <p:nvSpPr>
          <p:cNvPr id="11" name="Date Placeholder 10"/>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2" name="Footer Placeholder 11"/>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90600" y="-571500"/>
            <a:ext cx="7772400" cy="1143000"/>
          </a:xfrm>
        </p:spPr>
        <p:txBody>
          <a:bodyPr/>
          <a:lstStyle/>
          <a:p>
            <a:r>
              <a:rPr lang="en-US" sz="2800" b="1" dirty="0" smtClean="0">
                <a:ea typeface="ＭＳ Ｐゴシック" charset="-128"/>
              </a:rPr>
              <a:t>Principle of Transmissibility:  Equivalent Forces</a:t>
            </a:r>
          </a:p>
        </p:txBody>
      </p:sp>
      <p:sp>
        <p:nvSpPr>
          <p:cNvPr id="12" name="Slide Number Placeholder 2"/>
          <p:cNvSpPr>
            <a:spLocks noGrp="1"/>
          </p:cNvSpPr>
          <p:nvPr>
            <p:ph type="sldNum" sz="quarter" idx="10"/>
          </p:nvPr>
        </p:nvSpPr>
        <p:spPr>
          <a:xfrm>
            <a:off x="7239000" y="6400800"/>
            <a:ext cx="1905000" cy="457200"/>
          </a:xfrm>
        </p:spPr>
        <p:txBody>
          <a:bodyPr/>
          <a:lstStyle/>
          <a:p>
            <a:r>
              <a:rPr lang="en-US" dirty="0" smtClean="0"/>
              <a:t>                             </a:t>
            </a:r>
            <a:fld id="{EAB48479-98AC-4FDB-9F32-C903744040E9}" type="slidenum">
              <a:rPr lang="en-US" sz="2400" smtClean="0"/>
              <a:pPr/>
              <a:t>19</a:t>
            </a:fld>
            <a:endParaRPr lang="en-US" sz="2400" dirty="0"/>
          </a:p>
        </p:txBody>
      </p:sp>
      <p:grpSp>
        <p:nvGrpSpPr>
          <p:cNvPr id="2" name="Group 13"/>
          <p:cNvGrpSpPr>
            <a:grpSpLocks/>
          </p:cNvGrpSpPr>
          <p:nvPr/>
        </p:nvGrpSpPr>
        <p:grpSpPr bwMode="auto">
          <a:xfrm>
            <a:off x="381001" y="914401"/>
            <a:ext cx="8151813" cy="3232151"/>
            <a:chOff x="240" y="576"/>
            <a:chExt cx="5135" cy="2036"/>
          </a:xfrm>
        </p:grpSpPr>
        <p:pic>
          <p:nvPicPr>
            <p:cNvPr id="9227" name="Picture 4" descr="C:\DOCUME~1\WALTOL~1\LOCALS~1\Temp\\msotw9_temp0.jpg"/>
            <p:cNvPicPr>
              <a:picLocks noChangeAspect="1" noChangeArrowheads="1"/>
            </p:cNvPicPr>
            <p:nvPr/>
          </p:nvPicPr>
          <p:blipFill>
            <a:blip r:embed="rId2" cstate="print"/>
            <a:srcRect/>
            <a:stretch>
              <a:fillRect/>
            </a:stretch>
          </p:blipFill>
          <p:spPr bwMode="auto">
            <a:xfrm>
              <a:off x="3249" y="617"/>
              <a:ext cx="2126" cy="1032"/>
            </a:xfrm>
            <a:prstGeom prst="rect">
              <a:avLst/>
            </a:prstGeom>
            <a:noFill/>
            <a:ln w="9525">
              <a:noFill/>
              <a:miter lim="800000"/>
              <a:headEnd/>
              <a:tailEnd/>
            </a:ln>
          </p:spPr>
        </p:pic>
        <p:sp>
          <p:nvSpPr>
            <p:cNvPr id="9228" name="Text Box 7"/>
            <p:cNvSpPr txBox="1">
              <a:spLocks noChangeArrowheads="1"/>
            </p:cNvSpPr>
            <p:nvPr/>
          </p:nvSpPr>
          <p:spPr bwMode="auto">
            <a:xfrm>
              <a:off x="240" y="576"/>
              <a:ext cx="2818" cy="2036"/>
            </a:xfrm>
            <a:prstGeom prst="rect">
              <a:avLst/>
            </a:prstGeom>
            <a:noFill/>
            <a:ln w="9525">
              <a:noFill/>
              <a:miter lim="800000"/>
              <a:headEnd/>
              <a:tailEnd/>
            </a:ln>
          </p:spPr>
          <p:txBody>
            <a:bodyPr>
              <a:spAutoFit/>
            </a:bodyPr>
            <a:lstStyle/>
            <a:p>
              <a:pPr marL="227013" indent="-227013">
                <a:spcBef>
                  <a:spcPct val="50000"/>
                </a:spcBef>
                <a:buFontTx/>
                <a:buChar char="•"/>
              </a:pPr>
              <a:r>
                <a:rPr lang="en-US" i="1" dirty="0"/>
                <a:t>Principle of Transmissibility</a:t>
              </a:r>
              <a:r>
                <a:rPr lang="en-US" dirty="0"/>
                <a:t> -</a:t>
              </a:r>
              <a:br>
                <a:rPr lang="en-US" dirty="0"/>
              </a:br>
              <a:r>
                <a:rPr lang="en-US" dirty="0"/>
                <a:t>Conditions of equilibrium or motion are not affected by </a:t>
              </a:r>
              <a:r>
                <a:rPr lang="en-US" i="1" dirty="0"/>
                <a:t>transmitting</a:t>
              </a:r>
              <a:r>
                <a:rPr lang="en-US" dirty="0"/>
                <a:t> a force along its line of action.</a:t>
              </a:r>
              <a:br>
                <a:rPr lang="en-US" dirty="0"/>
              </a:br>
              <a:endParaRPr lang="en-US" dirty="0" smtClean="0"/>
            </a:p>
            <a:p>
              <a:pPr marL="227013" indent="-227013">
                <a:spcBef>
                  <a:spcPct val="50000"/>
                </a:spcBef>
                <a:buFontTx/>
                <a:buChar char="•"/>
              </a:pPr>
              <a:r>
                <a:rPr lang="en-US" dirty="0" smtClean="0"/>
                <a:t>NOTE</a:t>
              </a:r>
              <a:r>
                <a:rPr lang="en-US" dirty="0"/>
                <a:t>:  </a:t>
              </a:r>
              <a:r>
                <a:rPr lang="en-US" b="1" dirty="0"/>
                <a:t>F</a:t>
              </a:r>
              <a:r>
                <a:rPr lang="en-US" dirty="0"/>
                <a:t> and </a:t>
              </a:r>
              <a:r>
                <a:rPr lang="en-US" b="1" dirty="0"/>
                <a:t>F</a:t>
              </a:r>
              <a:r>
                <a:rPr lang="en-US" dirty="0"/>
                <a:t>’ are equivalent forces.</a:t>
              </a:r>
            </a:p>
          </p:txBody>
        </p:sp>
      </p:grpSp>
      <p:grpSp>
        <p:nvGrpSpPr>
          <p:cNvPr id="3" name="Group 11"/>
          <p:cNvGrpSpPr>
            <a:grpSpLocks/>
          </p:cNvGrpSpPr>
          <p:nvPr/>
        </p:nvGrpSpPr>
        <p:grpSpPr bwMode="auto">
          <a:xfrm>
            <a:off x="381000" y="2971800"/>
            <a:ext cx="8763000" cy="2682875"/>
            <a:chOff x="240" y="1872"/>
            <a:chExt cx="5520" cy="1690"/>
          </a:xfrm>
        </p:grpSpPr>
        <p:pic>
          <p:nvPicPr>
            <p:cNvPr id="9225" name="Picture 5" descr="C:\DOCUME~1\WALTOL~1\LOCALS~1\Temp\\msotw9_temp0.jpg"/>
            <p:cNvPicPr>
              <a:picLocks noChangeAspect="1" noChangeArrowheads="1"/>
            </p:cNvPicPr>
            <p:nvPr/>
          </p:nvPicPr>
          <p:blipFill>
            <a:blip r:embed="rId3" cstate="print"/>
            <a:srcRect/>
            <a:stretch>
              <a:fillRect/>
            </a:stretch>
          </p:blipFill>
          <p:spPr bwMode="auto">
            <a:xfrm>
              <a:off x="2832" y="1872"/>
              <a:ext cx="2928" cy="801"/>
            </a:xfrm>
            <a:prstGeom prst="rect">
              <a:avLst/>
            </a:prstGeom>
            <a:noFill/>
            <a:ln w="9525">
              <a:noFill/>
              <a:miter lim="800000"/>
              <a:headEnd/>
              <a:tailEnd/>
            </a:ln>
          </p:spPr>
        </p:pic>
        <p:sp>
          <p:nvSpPr>
            <p:cNvPr id="9226" name="Text Box 8"/>
            <p:cNvSpPr txBox="1">
              <a:spLocks noChangeArrowheads="1"/>
            </p:cNvSpPr>
            <p:nvPr/>
          </p:nvSpPr>
          <p:spPr bwMode="auto">
            <a:xfrm>
              <a:off x="240" y="2736"/>
              <a:ext cx="2496" cy="826"/>
            </a:xfrm>
            <a:prstGeom prst="rect">
              <a:avLst/>
            </a:prstGeom>
            <a:noFill/>
            <a:ln w="9525">
              <a:noFill/>
              <a:miter lim="800000"/>
              <a:headEnd/>
              <a:tailEnd/>
            </a:ln>
          </p:spPr>
          <p:txBody>
            <a:bodyPr>
              <a:spAutoFit/>
            </a:bodyPr>
            <a:lstStyle/>
            <a:p>
              <a:pPr marL="227013" indent="-227013">
                <a:spcBef>
                  <a:spcPct val="50000"/>
                </a:spcBef>
                <a:buFontTx/>
                <a:buChar char="•"/>
              </a:pPr>
              <a:r>
                <a:rPr lang="en-US" dirty="0"/>
                <a:t>Moving the point of application of the force </a:t>
              </a:r>
              <a:r>
                <a:rPr lang="en-US" b="1" dirty="0"/>
                <a:t>F</a:t>
              </a:r>
              <a:r>
                <a:rPr lang="en-US" dirty="0"/>
                <a:t> to the rear bumper does not affect the motion or the other forces acting on the truck.</a:t>
              </a:r>
            </a:p>
          </p:txBody>
        </p:sp>
      </p:grpSp>
      <p:sp>
        <p:nvSpPr>
          <p:cNvPr id="13" name="Date Placeholder 12"/>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4" name="Footer Placeholder 13"/>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772400" cy="1143000"/>
          </a:xfrm>
        </p:spPr>
        <p:txBody>
          <a:bodyPr/>
          <a:lstStyle/>
          <a:p>
            <a:r>
              <a:rPr lang="en-US" dirty="0" smtClean="0"/>
              <a:t>Moment of a Force</a:t>
            </a:r>
            <a:endParaRPr lang="en-US" dirty="0"/>
          </a:p>
        </p:txBody>
      </p:sp>
      <p:sp>
        <p:nvSpPr>
          <p:cNvPr id="3" name="Content Placeholder 2"/>
          <p:cNvSpPr>
            <a:spLocks noGrp="1"/>
          </p:cNvSpPr>
          <p:nvPr>
            <p:ph sz="half" idx="1"/>
          </p:nvPr>
        </p:nvSpPr>
        <p:spPr>
          <a:xfrm>
            <a:off x="533400" y="1143000"/>
            <a:ext cx="5257800" cy="4114800"/>
          </a:xfrm>
        </p:spPr>
        <p:txBody>
          <a:bodyPr/>
          <a:lstStyle/>
          <a:p>
            <a:r>
              <a:rPr lang="en-US" dirty="0" smtClean="0"/>
              <a:t>In addition to the tendency to move a body in the direction of its application, a force can also tend to rotate a body about an axis. </a:t>
            </a:r>
          </a:p>
          <a:p>
            <a:r>
              <a:rPr lang="en-US" dirty="0" smtClean="0"/>
              <a:t>This rotational tendency is known as the moment M of the force (or torque).  </a:t>
            </a:r>
          </a:p>
          <a:p>
            <a:r>
              <a:rPr lang="en-US" dirty="0" smtClean="0"/>
              <a:t>M = </a:t>
            </a:r>
            <a:r>
              <a:rPr lang="en-US" dirty="0" err="1" smtClean="0"/>
              <a:t>Fd</a:t>
            </a:r>
            <a:r>
              <a:rPr lang="en-US" dirty="0" smtClean="0"/>
              <a:t>,  F = magnitude of force</a:t>
            </a:r>
          </a:p>
          <a:p>
            <a:pPr>
              <a:buNone/>
            </a:pPr>
            <a:r>
              <a:rPr lang="en-US" dirty="0" smtClean="0"/>
              <a:t>      d = perpendicular distance from the axis to the line of  action of the force  (moment arm).</a:t>
            </a:r>
            <a:endParaRPr lang="en-US" dirty="0"/>
          </a:p>
        </p:txBody>
      </p:sp>
      <p:sp>
        <p:nvSpPr>
          <p:cNvPr id="4" name="Footer Placeholder 3"/>
          <p:cNvSpPr>
            <a:spLocks noGrp="1"/>
          </p:cNvSpPr>
          <p:nvPr>
            <p:ph type="ftr" sz="quarter" idx="11"/>
          </p:nvPr>
        </p:nvSpPr>
        <p:spPr/>
        <p:txBody>
          <a:bodyPr/>
          <a:lstStyle/>
          <a:p>
            <a:r>
              <a:rPr lang="fi-FI" smtClean="0"/>
              <a:t>Dr. Nana Sarfo Agyemang Derkyi</a:t>
            </a:r>
            <a:endParaRPr lang="en-GB"/>
          </a:p>
        </p:txBody>
      </p:sp>
      <p:sp>
        <p:nvSpPr>
          <p:cNvPr id="5" name="Slide Number Placeholder 4"/>
          <p:cNvSpPr>
            <a:spLocks noGrp="1"/>
          </p:cNvSpPr>
          <p:nvPr>
            <p:ph type="sldNum" sz="quarter" idx="12"/>
          </p:nvPr>
        </p:nvSpPr>
        <p:spPr/>
        <p:txBody>
          <a:bodyPr/>
          <a:lstStyle/>
          <a:p>
            <a:fld id="{D2AC8ED3-FCA2-46E2-B7FF-E9B8229EFB1E}" type="slidenum">
              <a:rPr lang="en-GB" smtClean="0"/>
              <a:pPr/>
              <a:t>20</a:t>
            </a:fld>
            <a:endParaRPr lang="en-GB" sz="1400"/>
          </a:p>
        </p:txBody>
      </p:sp>
      <p:pic>
        <p:nvPicPr>
          <p:cNvPr id="289794" name="Picture 2"/>
          <p:cNvPicPr>
            <a:picLocks noGrp="1" noChangeAspect="1" noChangeArrowheads="1"/>
          </p:cNvPicPr>
          <p:nvPr>
            <p:ph sz="half" idx="2"/>
          </p:nvPr>
        </p:nvPicPr>
        <p:blipFill>
          <a:blip r:embed="rId3" cstate="print"/>
          <a:srcRect/>
          <a:stretch>
            <a:fillRect/>
          </a:stretch>
        </p:blipFill>
        <p:spPr bwMode="auto">
          <a:xfrm>
            <a:off x="6273750" y="836005"/>
            <a:ext cx="2336850" cy="6092769"/>
          </a:xfrm>
          <a:prstGeom prst="rect">
            <a:avLst/>
          </a:prstGeom>
          <a:noFill/>
          <a:ln w="9525">
            <a:noFill/>
            <a:miter lim="800000"/>
            <a:headEnd/>
            <a:tailEnd/>
          </a:ln>
        </p:spPr>
      </p:pic>
      <p:sp>
        <p:nvSpPr>
          <p:cNvPr id="7" name="Date Placeholder 6"/>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2"/>
          <p:cNvSpPr>
            <a:spLocks noGrp="1" noChangeArrowheads="1"/>
          </p:cNvSpPr>
          <p:nvPr>
            <p:ph type="title"/>
          </p:nvPr>
        </p:nvSpPr>
        <p:spPr>
          <a:xfrm>
            <a:off x="990600" y="-228600"/>
            <a:ext cx="7772400" cy="1143000"/>
          </a:xfrm>
        </p:spPr>
        <p:txBody>
          <a:bodyPr/>
          <a:lstStyle/>
          <a:p>
            <a:r>
              <a:rPr lang="en-US" smtClean="0">
                <a:ea typeface="ＭＳ Ｐゴシック" charset="-128"/>
              </a:rPr>
              <a:t>Vector Product of Two Vectors</a:t>
            </a:r>
          </a:p>
        </p:txBody>
      </p:sp>
      <p:grpSp>
        <p:nvGrpSpPr>
          <p:cNvPr id="2" name="Group 20"/>
          <p:cNvGrpSpPr>
            <a:grpSpLocks/>
          </p:cNvGrpSpPr>
          <p:nvPr/>
        </p:nvGrpSpPr>
        <p:grpSpPr bwMode="auto">
          <a:xfrm>
            <a:off x="457200" y="1001713"/>
            <a:ext cx="8470899" cy="3276600"/>
            <a:chOff x="288" y="631"/>
            <a:chExt cx="5336" cy="2064"/>
          </a:xfrm>
        </p:grpSpPr>
        <p:pic>
          <p:nvPicPr>
            <p:cNvPr id="10253" name="Picture 3" descr="C:\DOCUME~1\WALTOL~1\LOCALS~1\Temp\\msotw9_temp0.jpg"/>
            <p:cNvPicPr>
              <a:picLocks noChangeAspect="1" noChangeArrowheads="1"/>
            </p:cNvPicPr>
            <p:nvPr/>
          </p:nvPicPr>
          <p:blipFill>
            <a:blip r:embed="rId2" cstate="print"/>
            <a:srcRect/>
            <a:stretch>
              <a:fillRect/>
            </a:stretch>
          </p:blipFill>
          <p:spPr bwMode="auto">
            <a:xfrm>
              <a:off x="3951" y="631"/>
              <a:ext cx="1673" cy="2064"/>
            </a:xfrm>
            <a:prstGeom prst="rect">
              <a:avLst/>
            </a:prstGeom>
            <a:noFill/>
            <a:ln w="9525">
              <a:noFill/>
              <a:miter lim="800000"/>
              <a:headEnd/>
              <a:tailEnd/>
            </a:ln>
          </p:spPr>
        </p:pic>
        <p:sp>
          <p:nvSpPr>
            <p:cNvPr id="10254" name="Text Box 8"/>
            <p:cNvSpPr txBox="1">
              <a:spLocks noChangeArrowheads="1"/>
            </p:cNvSpPr>
            <p:nvPr/>
          </p:nvSpPr>
          <p:spPr bwMode="auto">
            <a:xfrm>
              <a:off x="288" y="864"/>
              <a:ext cx="3456" cy="634"/>
            </a:xfrm>
            <a:prstGeom prst="rect">
              <a:avLst/>
            </a:prstGeom>
            <a:noFill/>
            <a:ln w="9525">
              <a:noFill/>
              <a:miter lim="800000"/>
              <a:headEnd/>
              <a:tailEnd/>
            </a:ln>
          </p:spPr>
          <p:txBody>
            <a:bodyPr>
              <a:spAutoFit/>
            </a:bodyPr>
            <a:lstStyle/>
            <a:p>
              <a:pPr marL="227013" indent="-227013">
                <a:spcBef>
                  <a:spcPct val="50000"/>
                </a:spcBef>
                <a:buFontTx/>
                <a:buChar char="•"/>
              </a:pPr>
              <a:r>
                <a:rPr lang="en-US" dirty="0"/>
                <a:t>Concept of the moment of a force about a point is more easily understood through applications of the </a:t>
              </a:r>
              <a:r>
                <a:rPr lang="en-US" i="1" dirty="0"/>
                <a:t>vector product </a:t>
              </a:r>
              <a:r>
                <a:rPr lang="en-US" dirty="0"/>
                <a:t>or</a:t>
              </a:r>
              <a:r>
                <a:rPr lang="en-US" i="1" dirty="0"/>
                <a:t> cross product</a:t>
              </a:r>
              <a:r>
                <a:rPr lang="en-US" dirty="0"/>
                <a:t>.</a:t>
              </a:r>
            </a:p>
          </p:txBody>
        </p:sp>
      </p:grpSp>
      <p:sp>
        <p:nvSpPr>
          <p:cNvPr id="10252" name="Text Box 9"/>
          <p:cNvSpPr txBox="1">
            <a:spLocks noChangeArrowheads="1"/>
          </p:cNvSpPr>
          <p:nvPr/>
        </p:nvSpPr>
        <p:spPr bwMode="auto">
          <a:xfrm>
            <a:off x="457200" y="3429000"/>
            <a:ext cx="6629400" cy="3157788"/>
          </a:xfrm>
          <a:prstGeom prst="rect">
            <a:avLst/>
          </a:prstGeom>
          <a:noFill/>
          <a:ln w="9525">
            <a:noFill/>
            <a:miter lim="800000"/>
            <a:headEnd/>
            <a:tailEnd/>
          </a:ln>
        </p:spPr>
        <p:txBody>
          <a:bodyPr>
            <a:spAutoFit/>
          </a:bodyPr>
          <a:lstStyle/>
          <a:p>
            <a:pPr marL="227013" indent="-227013">
              <a:spcBef>
                <a:spcPct val="50000"/>
              </a:spcBef>
              <a:buFontTx/>
              <a:buChar char="•"/>
            </a:pPr>
            <a:r>
              <a:rPr lang="en-US" dirty="0"/>
              <a:t>Vector product of two vectors </a:t>
            </a:r>
            <a:r>
              <a:rPr lang="en-US" b="1" i="1" dirty="0"/>
              <a:t>P</a:t>
            </a:r>
            <a:r>
              <a:rPr lang="en-US" dirty="0"/>
              <a:t> and </a:t>
            </a:r>
            <a:r>
              <a:rPr lang="en-US" b="1" i="1" dirty="0"/>
              <a:t>Q</a:t>
            </a:r>
            <a:r>
              <a:rPr lang="en-US" dirty="0"/>
              <a:t> </a:t>
            </a:r>
            <a:r>
              <a:rPr lang="en-US" dirty="0" smtClean="0"/>
              <a:t>is defined as the </a:t>
            </a:r>
            <a:r>
              <a:rPr lang="en-US" dirty="0"/>
              <a:t>vector </a:t>
            </a:r>
            <a:r>
              <a:rPr lang="en-US" b="1" i="1" dirty="0"/>
              <a:t>V</a:t>
            </a:r>
            <a:r>
              <a:rPr lang="en-US" dirty="0"/>
              <a:t> which satisfies the following conditions:</a:t>
            </a:r>
          </a:p>
          <a:p>
            <a:pPr marL="571500" lvl="1" indent="-230188">
              <a:spcBef>
                <a:spcPct val="10000"/>
              </a:spcBef>
              <a:buFontTx/>
              <a:buAutoNum type="arabicPeriod"/>
            </a:pPr>
            <a:r>
              <a:rPr lang="en-US" dirty="0"/>
              <a:t>Line of action of </a:t>
            </a:r>
            <a:r>
              <a:rPr lang="en-US" b="1" i="1" dirty="0"/>
              <a:t>V</a:t>
            </a:r>
            <a:r>
              <a:rPr lang="en-US" dirty="0"/>
              <a:t> is perpendicular to plane containing </a:t>
            </a:r>
            <a:r>
              <a:rPr lang="en-US" b="1" i="1" dirty="0"/>
              <a:t>P</a:t>
            </a:r>
            <a:r>
              <a:rPr lang="en-US" dirty="0"/>
              <a:t> and </a:t>
            </a:r>
            <a:r>
              <a:rPr lang="en-US" b="1" i="1" dirty="0"/>
              <a:t>Q</a:t>
            </a:r>
            <a:r>
              <a:rPr lang="en-US" dirty="0"/>
              <a:t>.</a:t>
            </a:r>
          </a:p>
          <a:p>
            <a:pPr marL="571500" lvl="1" indent="-230188">
              <a:spcBef>
                <a:spcPct val="10000"/>
              </a:spcBef>
              <a:buFontTx/>
              <a:buAutoNum type="arabicPeriod"/>
            </a:pPr>
            <a:r>
              <a:rPr lang="en-US" dirty="0"/>
              <a:t>Magnitude of </a:t>
            </a:r>
            <a:r>
              <a:rPr lang="en-US" b="1" i="1" dirty="0"/>
              <a:t>V</a:t>
            </a:r>
            <a:r>
              <a:rPr lang="en-US" dirty="0"/>
              <a:t> </a:t>
            </a:r>
            <a:r>
              <a:rPr lang="en-US" dirty="0" smtClean="0"/>
              <a:t>is </a:t>
            </a:r>
            <a:r>
              <a:rPr lang="en-US" i="1" dirty="0" smtClean="0"/>
              <a:t>V = PQ sin </a:t>
            </a:r>
            <a:r>
              <a:rPr lang="el-GR" i="1" dirty="0" smtClean="0"/>
              <a:t>θ</a:t>
            </a:r>
            <a:endParaRPr lang="en-US" dirty="0"/>
          </a:p>
          <a:p>
            <a:pPr marL="571500" lvl="1" indent="-230188">
              <a:spcBef>
                <a:spcPct val="10000"/>
              </a:spcBef>
              <a:buFontTx/>
              <a:buAutoNum type="arabicPeriod"/>
            </a:pPr>
            <a:r>
              <a:rPr lang="en-US" dirty="0"/>
              <a:t>Direction of </a:t>
            </a:r>
            <a:r>
              <a:rPr lang="en-US" b="1" i="1" dirty="0"/>
              <a:t>V</a:t>
            </a:r>
            <a:r>
              <a:rPr lang="en-US" dirty="0"/>
              <a:t> is obtained from the right-hand rule.</a:t>
            </a:r>
          </a:p>
        </p:txBody>
      </p:sp>
      <p:sp>
        <p:nvSpPr>
          <p:cNvPr id="15" name="Date Placeholder 14"/>
          <p:cNvSpPr>
            <a:spLocks noGrp="1"/>
          </p:cNvSpPr>
          <p:nvPr>
            <p:ph type="dt" sz="half" idx="10"/>
          </p:nvPr>
        </p:nvSpPr>
        <p:spPr/>
        <p:txBody>
          <a:bodyPr/>
          <a:lstStyle/>
          <a:p>
            <a:r>
              <a:rPr lang="en-US" smtClean="0"/>
              <a:t>Engineering Mechanics</a:t>
            </a:r>
            <a:endParaRPr lang="en-GB"/>
          </a:p>
        </p:txBody>
      </p:sp>
      <p:sp>
        <p:nvSpPr>
          <p:cNvPr id="16" name="Slide Number Placeholder 15"/>
          <p:cNvSpPr>
            <a:spLocks noGrp="1"/>
          </p:cNvSpPr>
          <p:nvPr>
            <p:ph type="sldNum" sz="quarter" idx="12"/>
          </p:nvPr>
        </p:nvSpPr>
        <p:spPr/>
        <p:txBody>
          <a:bodyPr/>
          <a:lstStyle/>
          <a:p>
            <a:fld id="{DAE1B9F5-D994-44C1-ABFE-3725D93B0B3F}" type="slidenum">
              <a:rPr lang="en-GB" smtClean="0"/>
              <a:pPr/>
              <a:t>21</a:t>
            </a:fld>
            <a:endParaRPr lang="en-GB" sz="1400"/>
          </a:p>
        </p:txBody>
      </p:sp>
      <p:sp>
        <p:nvSpPr>
          <p:cNvPr id="17" name="Footer Placeholder 16"/>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1066800" y="-304800"/>
            <a:ext cx="7772400" cy="1143000"/>
          </a:xfrm>
        </p:spPr>
        <p:txBody>
          <a:bodyPr/>
          <a:lstStyle/>
          <a:p>
            <a:r>
              <a:rPr lang="en-US" smtClean="0">
                <a:ea typeface="ＭＳ Ｐゴシック" charset="-128"/>
              </a:rPr>
              <a:t>Moment of a Force About a Point</a:t>
            </a:r>
          </a:p>
        </p:txBody>
      </p:sp>
      <p:sp>
        <p:nvSpPr>
          <p:cNvPr id="13" name="Slide Number Placeholder 2"/>
          <p:cNvSpPr>
            <a:spLocks noGrp="1"/>
          </p:cNvSpPr>
          <p:nvPr>
            <p:ph type="sldNum" sz="quarter" idx="10"/>
          </p:nvPr>
        </p:nvSpPr>
        <p:spPr>
          <a:xfrm>
            <a:off x="8534400" y="6400800"/>
            <a:ext cx="609600" cy="457200"/>
          </a:xfrm>
        </p:spPr>
        <p:txBody>
          <a:bodyPr/>
          <a:lstStyle/>
          <a:p>
            <a:fld id="{34C1AC17-BAA6-4FCD-B1C4-EBF318639BE9}" type="slidenum">
              <a:rPr lang="en-US" sz="2000" smtClean="0"/>
              <a:pPr/>
              <a:t>22</a:t>
            </a:fld>
            <a:endParaRPr lang="en-US" sz="2000" dirty="0"/>
          </a:p>
        </p:txBody>
      </p:sp>
      <p:pic>
        <p:nvPicPr>
          <p:cNvPr id="12294" name="Picture 3" descr="C:\DOCUME~1\WALTOL~1\LOCALS~1\Temp\\msotw9_temp0.jpg"/>
          <p:cNvPicPr>
            <a:picLocks noChangeAspect="1" noChangeArrowheads="1"/>
          </p:cNvPicPr>
          <p:nvPr/>
        </p:nvPicPr>
        <p:blipFill>
          <a:blip r:embed="rId3" cstate="print"/>
          <a:srcRect/>
          <a:stretch>
            <a:fillRect/>
          </a:stretch>
        </p:blipFill>
        <p:spPr bwMode="auto">
          <a:xfrm>
            <a:off x="6216650" y="1330325"/>
            <a:ext cx="2927350" cy="4419600"/>
          </a:xfrm>
          <a:prstGeom prst="rect">
            <a:avLst/>
          </a:prstGeom>
          <a:noFill/>
          <a:ln w="9525">
            <a:noFill/>
            <a:miter lim="800000"/>
            <a:headEnd/>
            <a:tailEnd/>
          </a:ln>
        </p:spPr>
      </p:pic>
      <p:sp>
        <p:nvSpPr>
          <p:cNvPr id="12295" name="Text Box 6"/>
          <p:cNvSpPr txBox="1">
            <a:spLocks noChangeArrowheads="1"/>
          </p:cNvSpPr>
          <p:nvPr/>
        </p:nvSpPr>
        <p:spPr bwMode="auto">
          <a:xfrm>
            <a:off x="274638" y="998538"/>
            <a:ext cx="5724525" cy="1200329"/>
          </a:xfrm>
          <a:prstGeom prst="rect">
            <a:avLst/>
          </a:prstGeom>
          <a:noFill/>
          <a:ln w="9525">
            <a:noFill/>
            <a:miter lim="800000"/>
            <a:headEnd/>
            <a:tailEnd/>
          </a:ln>
        </p:spPr>
        <p:txBody>
          <a:bodyPr>
            <a:spAutoFit/>
          </a:bodyPr>
          <a:lstStyle/>
          <a:p>
            <a:pPr marL="227013" indent="-227013">
              <a:spcBef>
                <a:spcPct val="50000"/>
              </a:spcBef>
              <a:buFontTx/>
              <a:buChar char="•"/>
            </a:pPr>
            <a:r>
              <a:rPr lang="en-US" dirty="0"/>
              <a:t>A force vector is defined by its magnitude and direction.  Its effect on the rigid body also depends on </a:t>
            </a:r>
            <a:r>
              <a:rPr lang="en-US" dirty="0" smtClean="0"/>
              <a:t>its </a:t>
            </a:r>
            <a:r>
              <a:rPr lang="en-US" dirty="0"/>
              <a:t>point of application.</a:t>
            </a:r>
          </a:p>
        </p:txBody>
      </p:sp>
      <p:grpSp>
        <p:nvGrpSpPr>
          <p:cNvPr id="2" name="Group 11"/>
          <p:cNvGrpSpPr>
            <a:grpSpLocks/>
          </p:cNvGrpSpPr>
          <p:nvPr/>
        </p:nvGrpSpPr>
        <p:grpSpPr bwMode="auto">
          <a:xfrm>
            <a:off x="274638" y="2100263"/>
            <a:ext cx="5510212" cy="768350"/>
            <a:chOff x="239" y="1451"/>
            <a:chExt cx="3471" cy="484"/>
          </a:xfrm>
        </p:grpSpPr>
        <p:sp>
          <p:nvSpPr>
            <p:cNvPr id="12301" name="Text Box 7"/>
            <p:cNvSpPr txBox="1">
              <a:spLocks noChangeArrowheads="1"/>
            </p:cNvSpPr>
            <p:nvPr/>
          </p:nvSpPr>
          <p:spPr bwMode="auto">
            <a:xfrm>
              <a:off x="239" y="1451"/>
              <a:ext cx="3471" cy="250"/>
            </a:xfrm>
            <a:prstGeom prst="rect">
              <a:avLst/>
            </a:prstGeom>
            <a:noFill/>
            <a:ln w="9525">
              <a:noFill/>
              <a:miter lim="800000"/>
              <a:headEnd/>
              <a:tailEnd/>
            </a:ln>
          </p:spPr>
          <p:txBody>
            <a:bodyPr>
              <a:spAutoFit/>
            </a:bodyPr>
            <a:lstStyle/>
            <a:p>
              <a:pPr marL="227013" indent="-227013">
                <a:spcBef>
                  <a:spcPct val="50000"/>
                </a:spcBef>
                <a:buFontTx/>
                <a:buChar char="•"/>
              </a:pPr>
              <a:r>
                <a:rPr lang="en-US"/>
                <a:t>The </a:t>
              </a:r>
              <a:r>
                <a:rPr lang="en-US" i="1"/>
                <a:t>moment</a:t>
              </a:r>
              <a:r>
                <a:rPr lang="en-US"/>
                <a:t> of </a:t>
              </a:r>
              <a:r>
                <a:rPr lang="en-US" b="1" i="1"/>
                <a:t>F</a:t>
              </a:r>
              <a:r>
                <a:rPr lang="en-US"/>
                <a:t> about </a:t>
              </a:r>
              <a:r>
                <a:rPr lang="en-US" i="1"/>
                <a:t>O</a:t>
              </a:r>
              <a:r>
                <a:rPr lang="en-US"/>
                <a:t> is defined as</a:t>
              </a:r>
            </a:p>
          </p:txBody>
        </p:sp>
        <p:graphicFrame>
          <p:nvGraphicFramePr>
            <p:cNvPr id="61441" name="Object 1025"/>
            <p:cNvGraphicFramePr>
              <a:graphicFrameLocks noChangeAspect="1"/>
            </p:cNvGraphicFramePr>
            <p:nvPr/>
          </p:nvGraphicFramePr>
          <p:xfrm>
            <a:off x="1171" y="1727"/>
            <a:ext cx="800" cy="208"/>
          </p:xfrm>
          <a:graphic>
            <a:graphicData uri="http://schemas.openxmlformats.org/presentationml/2006/ole">
              <p:oleObj spid="_x0000_s294915" name="Equation" r:id="rId4" imgW="1269720" imgH="330120" progId="Equation.3">
                <p:embed/>
              </p:oleObj>
            </a:graphicData>
          </a:graphic>
        </p:graphicFrame>
      </p:grpSp>
      <p:sp>
        <p:nvSpPr>
          <p:cNvPr id="1034" name="Text Box 10"/>
          <p:cNvSpPr txBox="1">
            <a:spLocks noChangeArrowheads="1"/>
          </p:cNvSpPr>
          <p:nvPr/>
        </p:nvSpPr>
        <p:spPr bwMode="auto">
          <a:xfrm>
            <a:off x="274638" y="2965450"/>
            <a:ext cx="5592762" cy="701675"/>
          </a:xfrm>
          <a:prstGeom prst="rect">
            <a:avLst/>
          </a:prstGeom>
          <a:noFill/>
          <a:ln w="9525">
            <a:noFill/>
            <a:miter lim="800000"/>
            <a:headEnd/>
            <a:tailEnd/>
          </a:ln>
        </p:spPr>
        <p:txBody>
          <a:bodyPr>
            <a:spAutoFit/>
          </a:bodyPr>
          <a:lstStyle/>
          <a:p>
            <a:pPr marL="227013" indent="-227013">
              <a:spcBef>
                <a:spcPct val="50000"/>
              </a:spcBef>
              <a:buFontTx/>
              <a:buChar char="•"/>
            </a:pPr>
            <a:r>
              <a:rPr lang="en-US"/>
              <a:t>The moment vector </a:t>
            </a:r>
            <a:r>
              <a:rPr lang="en-US" b="1" i="1"/>
              <a:t>M</a:t>
            </a:r>
            <a:r>
              <a:rPr lang="en-US" b="1" i="1" baseline="-25000"/>
              <a:t>O</a:t>
            </a:r>
            <a:r>
              <a:rPr lang="en-US"/>
              <a:t> is perpendicular to the plane containing </a:t>
            </a:r>
            <a:r>
              <a:rPr lang="en-US" i="1"/>
              <a:t>O</a:t>
            </a:r>
            <a:r>
              <a:rPr lang="en-US"/>
              <a:t> and the force </a:t>
            </a:r>
            <a:r>
              <a:rPr lang="en-US" b="1" i="1"/>
              <a:t>F</a:t>
            </a:r>
            <a:r>
              <a:rPr lang="en-US"/>
              <a:t>.</a:t>
            </a:r>
          </a:p>
        </p:txBody>
      </p:sp>
      <p:sp>
        <p:nvSpPr>
          <p:cNvPr id="1036" name="Text Box 12"/>
          <p:cNvSpPr txBox="1">
            <a:spLocks noChangeArrowheads="1"/>
          </p:cNvSpPr>
          <p:nvPr/>
        </p:nvSpPr>
        <p:spPr bwMode="auto">
          <a:xfrm>
            <a:off x="3098800" y="5638800"/>
            <a:ext cx="6045200" cy="1006475"/>
          </a:xfrm>
          <a:prstGeom prst="rect">
            <a:avLst/>
          </a:prstGeom>
          <a:noFill/>
          <a:ln w="9525">
            <a:noFill/>
            <a:miter lim="800000"/>
            <a:headEnd/>
            <a:tailEnd/>
          </a:ln>
        </p:spPr>
        <p:txBody>
          <a:bodyPr>
            <a:spAutoFit/>
          </a:bodyPr>
          <a:lstStyle/>
          <a:p>
            <a:pPr marL="227013" indent="-227013">
              <a:spcBef>
                <a:spcPct val="50000"/>
              </a:spcBef>
              <a:buFontTx/>
              <a:buChar char="•"/>
            </a:pPr>
            <a:r>
              <a:rPr lang="en-US" sz="2000" dirty="0"/>
              <a:t>Any force </a:t>
            </a:r>
            <a:r>
              <a:rPr lang="en-US" sz="2000" b="1" i="1" dirty="0"/>
              <a:t>F’</a:t>
            </a:r>
            <a:r>
              <a:rPr lang="en-US" sz="2000" dirty="0"/>
              <a:t> that has the same magnitude and direction as </a:t>
            </a:r>
            <a:r>
              <a:rPr lang="en-US" sz="2000" b="1" i="1" dirty="0"/>
              <a:t>F</a:t>
            </a:r>
            <a:r>
              <a:rPr lang="en-US" sz="2000" dirty="0"/>
              <a:t>, is </a:t>
            </a:r>
            <a:r>
              <a:rPr lang="en-US" sz="2000" i="1" dirty="0"/>
              <a:t>equivalent</a:t>
            </a:r>
            <a:r>
              <a:rPr lang="en-US" sz="2000" dirty="0"/>
              <a:t> if it also has the same line of action and therefore, produces the </a:t>
            </a:r>
            <a:r>
              <a:rPr lang="en-US" sz="2000" dirty="0" smtClean="0"/>
              <a:t>same </a:t>
            </a:r>
            <a:r>
              <a:rPr lang="en-US" sz="2000" dirty="0"/>
              <a:t>moment.</a:t>
            </a:r>
          </a:p>
        </p:txBody>
      </p:sp>
      <p:grpSp>
        <p:nvGrpSpPr>
          <p:cNvPr id="3" name="Group 14"/>
          <p:cNvGrpSpPr>
            <a:grpSpLocks/>
          </p:cNvGrpSpPr>
          <p:nvPr/>
        </p:nvGrpSpPr>
        <p:grpSpPr bwMode="auto">
          <a:xfrm>
            <a:off x="274638" y="3763963"/>
            <a:ext cx="5818187" cy="2363787"/>
            <a:chOff x="173" y="2300"/>
            <a:chExt cx="3665" cy="1489"/>
          </a:xfrm>
        </p:grpSpPr>
        <p:sp>
          <p:nvSpPr>
            <p:cNvPr id="12300" name="Text Box 9"/>
            <p:cNvSpPr txBox="1">
              <a:spLocks noChangeArrowheads="1"/>
            </p:cNvSpPr>
            <p:nvPr/>
          </p:nvSpPr>
          <p:spPr bwMode="auto">
            <a:xfrm>
              <a:off x="173" y="2300"/>
              <a:ext cx="3665" cy="1489"/>
            </a:xfrm>
            <a:prstGeom prst="rect">
              <a:avLst/>
            </a:prstGeom>
            <a:noFill/>
            <a:ln w="9525">
              <a:noFill/>
              <a:miter lim="800000"/>
              <a:headEnd/>
              <a:tailEnd/>
            </a:ln>
          </p:spPr>
          <p:txBody>
            <a:bodyPr>
              <a:spAutoFit/>
            </a:bodyPr>
            <a:lstStyle/>
            <a:p>
              <a:pPr marL="227013" indent="-227013">
                <a:spcBef>
                  <a:spcPct val="50000"/>
                </a:spcBef>
                <a:buFontTx/>
                <a:buChar char="•"/>
              </a:pPr>
              <a:r>
                <a:rPr lang="en-US" dirty="0"/>
                <a:t>Magnitude of </a:t>
              </a:r>
              <a:r>
                <a:rPr lang="en-US" b="1" i="1" dirty="0"/>
                <a:t>M</a:t>
              </a:r>
              <a:r>
                <a:rPr lang="en-US" b="1" i="1" baseline="-25000" dirty="0"/>
                <a:t>O</a:t>
              </a:r>
              <a:r>
                <a:rPr lang="en-US" dirty="0"/>
                <a:t> measures the tendency of the force to cause rotation of the body about an axis along </a:t>
              </a:r>
              <a:r>
                <a:rPr lang="en-US" b="1" i="1" dirty="0"/>
                <a:t>M</a:t>
              </a:r>
              <a:r>
                <a:rPr lang="en-US" b="1" i="1" baseline="-25000" dirty="0"/>
                <a:t>O</a:t>
              </a:r>
              <a:r>
                <a:rPr lang="en-US" dirty="0"/>
                <a:t>.</a:t>
              </a:r>
            </a:p>
            <a:p>
              <a:pPr marL="227013" indent="-227013">
                <a:spcBef>
                  <a:spcPct val="115000"/>
                </a:spcBef>
              </a:pPr>
              <a:r>
                <a:rPr lang="en-US" dirty="0"/>
                <a:t>	</a:t>
              </a:r>
              <a:r>
                <a:rPr lang="en-US" sz="2000" dirty="0"/>
                <a:t>The sense of the moment may be determined by the right-hand rule</a:t>
              </a:r>
              <a:r>
                <a:rPr lang="en-US" dirty="0"/>
                <a:t>.</a:t>
              </a:r>
              <a:endParaRPr lang="en-US" b="1" i="1" baseline="-25000" dirty="0"/>
            </a:p>
          </p:txBody>
        </p:sp>
        <p:graphicFrame>
          <p:nvGraphicFramePr>
            <p:cNvPr id="61440" name="Object 1024"/>
            <p:cNvGraphicFramePr>
              <a:graphicFrameLocks noChangeAspect="1"/>
            </p:cNvGraphicFramePr>
            <p:nvPr/>
          </p:nvGraphicFramePr>
          <p:xfrm>
            <a:off x="2064" y="2953"/>
            <a:ext cx="1328" cy="208"/>
          </p:xfrm>
          <a:graphic>
            <a:graphicData uri="http://schemas.openxmlformats.org/presentationml/2006/ole">
              <p:oleObj spid="_x0000_s294914" name="Equation" r:id="rId5" imgW="2108160" imgH="330120" progId="Equation.3">
                <p:embed/>
              </p:oleObj>
            </a:graphicData>
          </a:graphic>
        </p:graphicFrame>
      </p:grpSp>
      <p:sp>
        <p:nvSpPr>
          <p:cNvPr id="14" name="Date Placeholder 13"/>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5" name="Footer Placeholder 14"/>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 grpId="0" autoUpdateAnimBg="0"/>
      <p:bldP spid="103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4400" y="-304800"/>
            <a:ext cx="7772400" cy="1143000"/>
          </a:xfrm>
        </p:spPr>
        <p:txBody>
          <a:bodyPr/>
          <a:lstStyle/>
          <a:p>
            <a:r>
              <a:rPr lang="en-US" smtClean="0">
                <a:ea typeface="ＭＳ Ｐゴシック" charset="-128"/>
              </a:rPr>
              <a:t>Moment of a Force About a Point</a:t>
            </a:r>
          </a:p>
        </p:txBody>
      </p:sp>
      <p:sp>
        <p:nvSpPr>
          <p:cNvPr id="9" name="Slide Number Placeholder 2"/>
          <p:cNvSpPr>
            <a:spLocks noGrp="1"/>
          </p:cNvSpPr>
          <p:nvPr>
            <p:ph type="sldNum" sz="quarter" idx="10"/>
          </p:nvPr>
        </p:nvSpPr>
        <p:spPr>
          <a:xfrm>
            <a:off x="7239000" y="6400800"/>
            <a:ext cx="1905000" cy="457200"/>
          </a:xfrm>
        </p:spPr>
        <p:txBody>
          <a:bodyPr/>
          <a:lstStyle/>
          <a:p>
            <a:r>
              <a:rPr lang="en-US" dirty="0" smtClean="0"/>
              <a:t>                             </a:t>
            </a:r>
            <a:fld id="{1FECFD74-BBD4-4E2F-958A-C43A623E01EF}" type="slidenum">
              <a:rPr lang="en-US" sz="2400" smtClean="0"/>
              <a:pPr/>
              <a:t>23</a:t>
            </a:fld>
            <a:endParaRPr lang="en-US" sz="2400" dirty="0"/>
          </a:p>
        </p:txBody>
      </p:sp>
      <p:pic>
        <p:nvPicPr>
          <p:cNvPr id="13316" name="Picture 4" descr="C:\DOCUME~1\WALTOL~1\LOCALS~1\Temp\\msotw9_temp0.jpg"/>
          <p:cNvPicPr>
            <a:picLocks noChangeAspect="1" noChangeArrowheads="1"/>
          </p:cNvPicPr>
          <p:nvPr/>
        </p:nvPicPr>
        <p:blipFill>
          <a:blip r:embed="rId2" cstate="print"/>
          <a:srcRect/>
          <a:stretch>
            <a:fillRect/>
          </a:stretch>
        </p:blipFill>
        <p:spPr bwMode="auto">
          <a:xfrm>
            <a:off x="6561138" y="1106488"/>
            <a:ext cx="2308225" cy="2511425"/>
          </a:xfrm>
          <a:prstGeom prst="rect">
            <a:avLst/>
          </a:prstGeom>
          <a:noFill/>
          <a:ln w="9525">
            <a:noFill/>
            <a:miter lim="800000"/>
            <a:headEnd/>
            <a:tailEnd/>
          </a:ln>
        </p:spPr>
      </p:pic>
      <p:pic>
        <p:nvPicPr>
          <p:cNvPr id="13317" name="Picture 5" descr="C:\DOCUME~1\WALTOL~1\LOCALS~1\Temp\\msotw9_temp0.jpg"/>
          <p:cNvPicPr>
            <a:picLocks noChangeAspect="1" noChangeArrowheads="1"/>
          </p:cNvPicPr>
          <p:nvPr/>
        </p:nvPicPr>
        <p:blipFill>
          <a:blip r:embed="rId3" cstate="print"/>
          <a:srcRect/>
          <a:stretch>
            <a:fillRect/>
          </a:stretch>
        </p:blipFill>
        <p:spPr bwMode="auto">
          <a:xfrm>
            <a:off x="6519863" y="3914775"/>
            <a:ext cx="2476500" cy="2195513"/>
          </a:xfrm>
          <a:prstGeom prst="rect">
            <a:avLst/>
          </a:prstGeom>
          <a:noFill/>
          <a:ln w="9525">
            <a:noFill/>
            <a:miter lim="800000"/>
            <a:headEnd/>
            <a:tailEnd/>
          </a:ln>
        </p:spPr>
      </p:pic>
      <p:sp>
        <p:nvSpPr>
          <p:cNvPr id="13318" name="Text Box 6"/>
          <p:cNvSpPr txBox="1">
            <a:spLocks noChangeArrowheads="1"/>
          </p:cNvSpPr>
          <p:nvPr/>
        </p:nvSpPr>
        <p:spPr bwMode="auto">
          <a:xfrm>
            <a:off x="304800" y="762000"/>
            <a:ext cx="635317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i="1" dirty="0"/>
              <a:t>Two-dimensional structures</a:t>
            </a:r>
            <a:r>
              <a:rPr lang="en-US" dirty="0"/>
              <a:t> have length and breadth but negligible depth and are subjected to forces contained in the plane of the structure.</a:t>
            </a:r>
          </a:p>
        </p:txBody>
      </p:sp>
      <p:sp>
        <p:nvSpPr>
          <p:cNvPr id="34823" name="Text Box 7"/>
          <p:cNvSpPr txBox="1">
            <a:spLocks noChangeArrowheads="1"/>
          </p:cNvSpPr>
          <p:nvPr/>
        </p:nvSpPr>
        <p:spPr bwMode="auto">
          <a:xfrm>
            <a:off x="304800" y="2133600"/>
            <a:ext cx="646112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The plane of the structure contains the point </a:t>
            </a:r>
            <a:r>
              <a:rPr lang="en-US" i="1" dirty="0"/>
              <a:t>O</a:t>
            </a:r>
            <a:r>
              <a:rPr lang="en-US" dirty="0"/>
              <a:t> and the force </a:t>
            </a:r>
            <a:r>
              <a:rPr lang="en-US" b="1" i="1" dirty="0"/>
              <a:t>F</a:t>
            </a:r>
            <a:r>
              <a:rPr lang="en-US" dirty="0"/>
              <a:t>.  </a:t>
            </a:r>
            <a:r>
              <a:rPr lang="en-US" b="1" i="1" dirty="0"/>
              <a:t>M</a:t>
            </a:r>
            <a:r>
              <a:rPr lang="en-US" b="1" i="1" baseline="-25000" dirty="0"/>
              <a:t>O</a:t>
            </a:r>
            <a:r>
              <a:rPr lang="en-US" dirty="0"/>
              <a:t>, the moment of the force about </a:t>
            </a:r>
            <a:r>
              <a:rPr lang="en-US" i="1" dirty="0"/>
              <a:t>O</a:t>
            </a:r>
            <a:r>
              <a:rPr lang="en-US" dirty="0"/>
              <a:t> is perpendicular to the plane.</a:t>
            </a:r>
          </a:p>
        </p:txBody>
      </p:sp>
      <p:sp>
        <p:nvSpPr>
          <p:cNvPr id="34824" name="Text Box 8"/>
          <p:cNvSpPr txBox="1">
            <a:spLocks noChangeArrowheads="1"/>
          </p:cNvSpPr>
          <p:nvPr/>
        </p:nvSpPr>
        <p:spPr bwMode="auto">
          <a:xfrm>
            <a:off x="304800" y="3429000"/>
            <a:ext cx="6259512" cy="10064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If the force tends to rotate the structure clockwise, the sense of the moment vector is out of the plane of the structure and the magnitude of the moment is positive.</a:t>
            </a:r>
          </a:p>
        </p:txBody>
      </p:sp>
      <p:sp>
        <p:nvSpPr>
          <p:cNvPr id="34825" name="Text Box 9"/>
          <p:cNvSpPr txBox="1">
            <a:spLocks noChangeArrowheads="1"/>
          </p:cNvSpPr>
          <p:nvPr/>
        </p:nvSpPr>
        <p:spPr bwMode="auto">
          <a:xfrm>
            <a:off x="331788" y="5162550"/>
            <a:ext cx="639127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a:t>If the force tends to rotate the structure counterclockwise, the sense of the moment vector is into the plane of the structure and the magnitude of the moment is negative.</a:t>
            </a:r>
          </a:p>
        </p:txBody>
      </p:sp>
      <p:sp>
        <p:nvSpPr>
          <p:cNvPr id="10" name="Date Placeholder 9"/>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1" name="Footer Placeholder 10"/>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autoUpdateAnimBg="0"/>
      <p:bldP spid="34824" grpId="0" autoUpdateAnimBg="0"/>
      <p:bldP spid="3482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066800" y="0"/>
            <a:ext cx="7772400" cy="1143000"/>
          </a:xfrm>
        </p:spPr>
        <p:txBody>
          <a:bodyPr/>
          <a:lstStyle/>
          <a:p>
            <a:r>
              <a:rPr lang="en-US" smtClean="0">
                <a:ea typeface="ＭＳ Ｐゴシック" charset="-128"/>
              </a:rPr>
              <a:t>Varignon’s Theorem</a:t>
            </a:r>
          </a:p>
        </p:txBody>
      </p:sp>
      <p:pic>
        <p:nvPicPr>
          <p:cNvPr id="14341" name="Picture 3" descr="C:\DOCUME~1\WALTOL~1\LOCALS~1\Temp\\msotw9_temp0.jpg"/>
          <p:cNvPicPr>
            <a:picLocks noChangeAspect="1" noChangeArrowheads="1"/>
          </p:cNvPicPr>
          <p:nvPr/>
        </p:nvPicPr>
        <p:blipFill>
          <a:blip r:embed="rId3" cstate="print"/>
          <a:srcRect/>
          <a:stretch>
            <a:fillRect/>
          </a:stretch>
        </p:blipFill>
        <p:spPr bwMode="auto">
          <a:xfrm>
            <a:off x="5578475" y="1033463"/>
            <a:ext cx="3413125" cy="2763837"/>
          </a:xfrm>
          <a:prstGeom prst="rect">
            <a:avLst/>
          </a:prstGeom>
          <a:noFill/>
          <a:ln w="9525">
            <a:noFill/>
            <a:miter lim="800000"/>
            <a:headEnd/>
            <a:tailEnd/>
          </a:ln>
        </p:spPr>
      </p:pic>
      <p:sp>
        <p:nvSpPr>
          <p:cNvPr id="14342" name="Text Box 4"/>
          <p:cNvSpPr txBox="1">
            <a:spLocks noChangeArrowheads="1"/>
          </p:cNvSpPr>
          <p:nvPr/>
        </p:nvSpPr>
        <p:spPr bwMode="auto">
          <a:xfrm>
            <a:off x="381000" y="1219200"/>
            <a:ext cx="5165725" cy="1569660"/>
          </a:xfrm>
          <a:prstGeom prst="rect">
            <a:avLst/>
          </a:prstGeom>
          <a:noFill/>
          <a:ln w="9525">
            <a:noFill/>
            <a:miter lim="800000"/>
            <a:headEnd/>
            <a:tailEnd/>
          </a:ln>
        </p:spPr>
        <p:txBody>
          <a:bodyPr>
            <a:spAutoFit/>
          </a:bodyPr>
          <a:lstStyle/>
          <a:p>
            <a:pPr marL="227013" indent="-227013">
              <a:spcBef>
                <a:spcPct val="50000"/>
              </a:spcBef>
              <a:buFontTx/>
              <a:buChar char="•"/>
            </a:pPr>
            <a:r>
              <a:rPr lang="en-US" dirty="0"/>
              <a:t>The moment </a:t>
            </a:r>
            <a:r>
              <a:rPr lang="en-US" dirty="0" smtClean="0"/>
              <a:t>of a force about </a:t>
            </a:r>
            <a:r>
              <a:rPr lang="en-US" dirty="0"/>
              <a:t>a </a:t>
            </a:r>
            <a:r>
              <a:rPr lang="en-US" dirty="0" smtClean="0"/>
              <a:t>given </a:t>
            </a:r>
            <a:r>
              <a:rPr lang="en-US" dirty="0"/>
              <a:t>point </a:t>
            </a:r>
            <a:r>
              <a:rPr lang="en-US" i="1" dirty="0"/>
              <a:t>O</a:t>
            </a:r>
            <a:r>
              <a:rPr lang="en-US" dirty="0"/>
              <a:t> </a:t>
            </a:r>
            <a:r>
              <a:rPr lang="en-US" dirty="0" smtClean="0"/>
              <a:t>is </a:t>
            </a:r>
            <a:r>
              <a:rPr lang="en-US" dirty="0"/>
              <a:t>equal to the sum of the </a:t>
            </a:r>
            <a:r>
              <a:rPr lang="en-US" dirty="0" smtClean="0"/>
              <a:t>moment </a:t>
            </a:r>
            <a:r>
              <a:rPr lang="en-US" dirty="0"/>
              <a:t>of the </a:t>
            </a:r>
            <a:r>
              <a:rPr lang="en-US" dirty="0" smtClean="0"/>
              <a:t>components of the force about </a:t>
            </a:r>
            <a:r>
              <a:rPr lang="en-US" dirty="0"/>
              <a:t>the same point </a:t>
            </a:r>
            <a:r>
              <a:rPr lang="en-US" i="1" dirty="0"/>
              <a:t>O</a:t>
            </a:r>
            <a:r>
              <a:rPr lang="en-US" dirty="0"/>
              <a:t>.</a:t>
            </a:r>
          </a:p>
        </p:txBody>
      </p:sp>
      <p:sp>
        <p:nvSpPr>
          <p:cNvPr id="11269" name="Text Box 5"/>
          <p:cNvSpPr txBox="1">
            <a:spLocks noChangeArrowheads="1"/>
          </p:cNvSpPr>
          <p:nvPr/>
        </p:nvSpPr>
        <p:spPr bwMode="auto">
          <a:xfrm>
            <a:off x="304800" y="3886200"/>
            <a:ext cx="5095875" cy="2862322"/>
          </a:xfrm>
          <a:prstGeom prst="rect">
            <a:avLst/>
          </a:prstGeom>
          <a:noFill/>
          <a:ln w="9525">
            <a:noFill/>
            <a:miter lim="800000"/>
            <a:headEnd/>
            <a:tailEnd/>
          </a:ln>
        </p:spPr>
        <p:txBody>
          <a:bodyPr>
            <a:spAutoFit/>
          </a:bodyPr>
          <a:lstStyle/>
          <a:p>
            <a:pPr marL="227013" indent="-227013">
              <a:spcBef>
                <a:spcPct val="50000"/>
              </a:spcBef>
              <a:buFontTx/>
              <a:buChar char="•"/>
            </a:pPr>
            <a:r>
              <a:rPr lang="en-US" dirty="0" err="1" smtClean="0"/>
              <a:t>Varignon’s</a:t>
            </a:r>
            <a:r>
              <a:rPr lang="en-US" dirty="0" smtClean="0"/>
              <a:t> </a:t>
            </a:r>
            <a:r>
              <a:rPr lang="en-US" dirty="0"/>
              <a:t>Theorem makes it possible to replace the direct determination of the moment of a force </a:t>
            </a:r>
            <a:r>
              <a:rPr lang="en-US" b="1" i="1" dirty="0"/>
              <a:t>F</a:t>
            </a:r>
            <a:r>
              <a:rPr lang="en-US" dirty="0"/>
              <a:t> </a:t>
            </a:r>
            <a:endParaRPr lang="en-US" dirty="0" smtClean="0"/>
          </a:p>
          <a:p>
            <a:pPr marL="227013" indent="-227013">
              <a:spcBef>
                <a:spcPct val="50000"/>
              </a:spcBef>
            </a:pPr>
            <a:r>
              <a:rPr lang="en-US" dirty="0" smtClean="0"/>
              <a:t>by </a:t>
            </a:r>
            <a:r>
              <a:rPr lang="en-US" dirty="0"/>
              <a:t>the moments of two or </a:t>
            </a:r>
            <a:endParaRPr lang="en-US" dirty="0" smtClean="0"/>
          </a:p>
          <a:p>
            <a:pPr marL="227013" indent="-227013">
              <a:spcBef>
                <a:spcPct val="50000"/>
              </a:spcBef>
            </a:pPr>
            <a:r>
              <a:rPr lang="en-US" dirty="0" smtClean="0"/>
              <a:t>more </a:t>
            </a:r>
            <a:r>
              <a:rPr lang="en-US" dirty="0"/>
              <a:t>component forces </a:t>
            </a:r>
            <a:endParaRPr lang="en-US" dirty="0" smtClean="0"/>
          </a:p>
          <a:p>
            <a:pPr marL="227013" indent="-227013">
              <a:spcBef>
                <a:spcPct val="50000"/>
              </a:spcBef>
            </a:pPr>
            <a:r>
              <a:rPr lang="en-US" dirty="0" smtClean="0"/>
              <a:t>of </a:t>
            </a:r>
            <a:r>
              <a:rPr lang="en-US" b="1" i="1" dirty="0"/>
              <a:t>F</a:t>
            </a:r>
            <a:r>
              <a:rPr lang="en-US" dirty="0"/>
              <a:t>.</a:t>
            </a:r>
          </a:p>
        </p:txBody>
      </p:sp>
      <p:graphicFrame>
        <p:nvGraphicFramePr>
          <p:cNvPr id="62464" name="Object 1024"/>
          <p:cNvGraphicFramePr>
            <a:graphicFrameLocks noChangeAspect="1"/>
          </p:cNvGraphicFramePr>
          <p:nvPr/>
        </p:nvGraphicFramePr>
        <p:xfrm>
          <a:off x="762000" y="3200400"/>
          <a:ext cx="3835400" cy="342900"/>
        </p:xfrm>
        <a:graphic>
          <a:graphicData uri="http://schemas.openxmlformats.org/presentationml/2006/ole">
            <p:oleObj spid="_x0000_s295938" name="Equation" r:id="rId4" imgW="3835080" imgH="342720" progId="Equation.3">
              <p:embed/>
            </p:oleObj>
          </a:graphicData>
        </a:graphic>
      </p:graphicFrame>
      <p:pic>
        <p:nvPicPr>
          <p:cNvPr id="8" name="Picture 2"/>
          <p:cNvPicPr>
            <a:picLocks noChangeAspect="1" noChangeArrowheads="1"/>
          </p:cNvPicPr>
          <p:nvPr/>
        </p:nvPicPr>
        <p:blipFill>
          <a:blip r:embed="rId5" cstate="print"/>
          <a:srcRect/>
          <a:stretch>
            <a:fillRect/>
          </a:stretch>
        </p:blipFill>
        <p:spPr bwMode="auto">
          <a:xfrm>
            <a:off x="3810000" y="4844414"/>
            <a:ext cx="5334000" cy="2013585"/>
          </a:xfrm>
          <a:prstGeom prst="rect">
            <a:avLst/>
          </a:prstGeom>
          <a:noFill/>
          <a:ln w="9525">
            <a:noFill/>
            <a:miter lim="800000"/>
            <a:headEnd/>
            <a:tailEnd/>
          </a:ln>
          <a:effectLst/>
        </p:spPr>
      </p:pic>
      <p:sp>
        <p:nvSpPr>
          <p:cNvPr id="9" name="Date Placeholder 8"/>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0" name="Footer Placeholder 9"/>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Calculate the magnitude of the moment about the base point O of the 600N force in </a:t>
            </a:r>
            <a:r>
              <a:rPr lang="en-US" dirty="0" smtClean="0"/>
              <a:t>four different </a:t>
            </a:r>
            <a:r>
              <a:rPr lang="en-US" dirty="0" smtClean="0"/>
              <a:t>ways.</a:t>
            </a:r>
            <a:endParaRPr lang="en-US" dirty="0"/>
          </a:p>
        </p:txBody>
      </p:sp>
      <p:sp>
        <p:nvSpPr>
          <p:cNvPr id="4" name="Footer Placeholder 3"/>
          <p:cNvSpPr>
            <a:spLocks noGrp="1"/>
          </p:cNvSpPr>
          <p:nvPr>
            <p:ph type="ftr" sz="quarter" idx="11"/>
          </p:nvPr>
        </p:nvSpPr>
        <p:spPr/>
        <p:txBody>
          <a:bodyPr/>
          <a:lstStyle/>
          <a:p>
            <a:r>
              <a:rPr lang="fi-FI" smtClean="0"/>
              <a:t>Dr. Nana Sarfo Agyemang Derkyi</a:t>
            </a:r>
            <a:endParaRPr lang="en-GB"/>
          </a:p>
        </p:txBody>
      </p:sp>
      <p:sp>
        <p:nvSpPr>
          <p:cNvPr id="5" name="Slide Number Placeholder 4"/>
          <p:cNvSpPr>
            <a:spLocks noGrp="1"/>
          </p:cNvSpPr>
          <p:nvPr>
            <p:ph type="sldNum" sz="quarter" idx="12"/>
          </p:nvPr>
        </p:nvSpPr>
        <p:spPr/>
        <p:txBody>
          <a:bodyPr/>
          <a:lstStyle/>
          <a:p>
            <a:fld id="{D2AC8ED3-FCA2-46E2-B7FF-E9B8229EFB1E}" type="slidenum">
              <a:rPr lang="en-GB" smtClean="0"/>
              <a:pPr/>
              <a:t>25</a:t>
            </a:fld>
            <a:endParaRPr lang="en-GB" sz="1400"/>
          </a:p>
        </p:txBody>
      </p:sp>
      <p:pic>
        <p:nvPicPr>
          <p:cNvPr id="291843" name="Picture 3"/>
          <p:cNvPicPr>
            <a:picLocks noChangeAspect="1" noChangeArrowheads="1"/>
          </p:cNvPicPr>
          <p:nvPr/>
        </p:nvPicPr>
        <p:blipFill>
          <a:blip r:embed="rId2" cstate="print"/>
          <a:srcRect/>
          <a:stretch>
            <a:fillRect/>
          </a:stretch>
        </p:blipFill>
        <p:spPr bwMode="auto">
          <a:xfrm>
            <a:off x="2743200" y="4038600"/>
            <a:ext cx="3400425" cy="2352675"/>
          </a:xfrm>
          <a:prstGeom prst="rect">
            <a:avLst/>
          </a:prstGeom>
          <a:noFill/>
          <a:ln w="9525">
            <a:noFill/>
            <a:miter lim="800000"/>
            <a:headEnd/>
            <a:tailEnd/>
          </a:ln>
        </p:spPr>
      </p:pic>
      <p:sp>
        <p:nvSpPr>
          <p:cNvPr id="7" name="Date Placeholder 6"/>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14400" y="-571500"/>
            <a:ext cx="7772400" cy="1143000"/>
          </a:xfrm>
        </p:spPr>
        <p:txBody>
          <a:bodyPr/>
          <a:lstStyle/>
          <a:p>
            <a:r>
              <a:rPr lang="en-US" dirty="0" smtClean="0"/>
              <a:t>Solution</a:t>
            </a:r>
            <a:endParaRPr lang="en-US" dirty="0"/>
          </a:p>
        </p:txBody>
      </p:sp>
      <p:sp>
        <p:nvSpPr>
          <p:cNvPr id="7" name="Content Placeholder 6"/>
          <p:cNvSpPr>
            <a:spLocks noGrp="1"/>
          </p:cNvSpPr>
          <p:nvPr>
            <p:ph sz="half" idx="1"/>
          </p:nvPr>
        </p:nvSpPr>
        <p:spPr>
          <a:xfrm>
            <a:off x="533400" y="762000"/>
            <a:ext cx="5334000" cy="4114800"/>
          </a:xfrm>
        </p:spPr>
        <p:txBody>
          <a:bodyPr/>
          <a:lstStyle/>
          <a:p>
            <a:r>
              <a:rPr lang="en-US" dirty="0" smtClean="0"/>
              <a:t>(I) The moment arm to the 600-N force is </a:t>
            </a:r>
          </a:p>
          <a:p>
            <a:pPr>
              <a:buNone/>
            </a:pPr>
            <a:r>
              <a:rPr lang="es-ES" b="1" dirty="0" smtClean="0"/>
              <a:t>d = 4 </a:t>
            </a:r>
            <a:r>
              <a:rPr lang="es-ES" b="1" dirty="0" err="1" smtClean="0"/>
              <a:t>cos</a:t>
            </a:r>
            <a:r>
              <a:rPr lang="es-ES" b="1" dirty="0" smtClean="0"/>
              <a:t> 40° + 2 sin 40° = 4.35 m </a:t>
            </a:r>
          </a:p>
          <a:p>
            <a:pPr>
              <a:buNone/>
            </a:pPr>
            <a:endParaRPr lang="es-ES" b="1" dirty="0" smtClean="0"/>
          </a:p>
          <a:p>
            <a:pPr>
              <a:buNone/>
            </a:pPr>
            <a:r>
              <a:rPr lang="en-US" dirty="0" smtClean="0"/>
              <a:t>(1)  By M = </a:t>
            </a:r>
            <a:r>
              <a:rPr lang="en-US" dirty="0" err="1" smtClean="0"/>
              <a:t>Fd</a:t>
            </a:r>
            <a:r>
              <a:rPr lang="en-US" dirty="0" smtClean="0"/>
              <a:t> the moment is clockwise and has the magnitude </a:t>
            </a:r>
          </a:p>
          <a:p>
            <a:pPr>
              <a:buNone/>
            </a:pPr>
            <a:r>
              <a:rPr lang="pt-BR" b="1" dirty="0" smtClean="0"/>
              <a:t>Mo = 600(4. 35) = 2610 N.m </a:t>
            </a:r>
          </a:p>
          <a:p>
            <a:pPr>
              <a:buNone/>
            </a:pPr>
            <a:endParaRPr lang="pt-BR" b="1" dirty="0" smtClean="0"/>
          </a:p>
          <a:p>
            <a:r>
              <a:rPr lang="en-US" dirty="0" smtClean="0"/>
              <a:t>(II) Replace the force by its rectangular components at A </a:t>
            </a:r>
          </a:p>
          <a:p>
            <a:pPr>
              <a:buNone/>
            </a:pPr>
            <a:r>
              <a:rPr lang="pt-BR" b="1" dirty="0" smtClean="0"/>
              <a:t>F1= 600 cos 40° = 460 </a:t>
            </a:r>
            <a:r>
              <a:rPr lang="pt-BR" b="1" dirty="0" smtClean="0"/>
              <a:t>N</a:t>
            </a:r>
          </a:p>
          <a:p>
            <a:pPr>
              <a:buNone/>
            </a:pPr>
            <a:r>
              <a:rPr lang="pt-BR" b="1" dirty="0" smtClean="0"/>
              <a:t>F2 </a:t>
            </a:r>
            <a:r>
              <a:rPr lang="pt-BR" b="1" dirty="0" smtClean="0"/>
              <a:t>= 600 sin 40°= 386N </a:t>
            </a:r>
          </a:p>
        </p:txBody>
      </p:sp>
      <p:sp>
        <p:nvSpPr>
          <p:cNvPr id="4" name="Footer Placeholder 3"/>
          <p:cNvSpPr>
            <a:spLocks noGrp="1"/>
          </p:cNvSpPr>
          <p:nvPr>
            <p:ph type="ftr" sz="quarter" idx="11"/>
          </p:nvPr>
        </p:nvSpPr>
        <p:spPr/>
        <p:txBody>
          <a:bodyPr/>
          <a:lstStyle/>
          <a:p>
            <a:r>
              <a:rPr lang="fi-FI" smtClean="0"/>
              <a:t>Dr. Nana Sarfo Agyemang Derkyi</a:t>
            </a:r>
            <a:endParaRPr lang="en-GB"/>
          </a:p>
        </p:txBody>
      </p:sp>
      <p:sp>
        <p:nvSpPr>
          <p:cNvPr id="5" name="Slide Number Placeholder 4"/>
          <p:cNvSpPr>
            <a:spLocks noGrp="1"/>
          </p:cNvSpPr>
          <p:nvPr>
            <p:ph type="sldNum" sz="quarter" idx="12"/>
          </p:nvPr>
        </p:nvSpPr>
        <p:spPr/>
        <p:txBody>
          <a:bodyPr/>
          <a:lstStyle/>
          <a:p>
            <a:r>
              <a:rPr lang="en-GB" dirty="0" smtClean="0"/>
              <a:t>   </a:t>
            </a:r>
            <a:fld id="{D2AC8ED3-FCA2-46E2-B7FF-E9B8229EFB1E}" type="slidenum">
              <a:rPr lang="en-GB" smtClean="0"/>
              <a:pPr/>
              <a:t>26</a:t>
            </a:fld>
            <a:endParaRPr lang="en-GB" sz="1400" dirty="0"/>
          </a:p>
        </p:txBody>
      </p:sp>
      <p:pic>
        <p:nvPicPr>
          <p:cNvPr id="292866" name="Picture 2"/>
          <p:cNvPicPr>
            <a:picLocks noGrp="1" noChangeAspect="1" noChangeArrowheads="1"/>
          </p:cNvPicPr>
          <p:nvPr>
            <p:ph sz="half" idx="2"/>
          </p:nvPr>
        </p:nvPicPr>
        <p:blipFill>
          <a:blip r:embed="rId2" cstate="print"/>
          <a:srcRect/>
          <a:stretch>
            <a:fillRect/>
          </a:stretch>
        </p:blipFill>
        <p:spPr bwMode="auto">
          <a:xfrm>
            <a:off x="6122532" y="875692"/>
            <a:ext cx="2640468" cy="59204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sp>
        <p:nvSpPr>
          <p:cNvPr id="3" name="Content Placeholder 2"/>
          <p:cNvSpPr>
            <a:spLocks noGrp="1"/>
          </p:cNvSpPr>
          <p:nvPr>
            <p:ph sz="half" idx="1"/>
          </p:nvPr>
        </p:nvSpPr>
        <p:spPr>
          <a:xfrm>
            <a:off x="609600" y="914400"/>
            <a:ext cx="4267200" cy="4114800"/>
          </a:xfrm>
        </p:spPr>
        <p:txBody>
          <a:bodyPr/>
          <a:lstStyle/>
          <a:p>
            <a:pPr>
              <a:buNone/>
            </a:pPr>
            <a:r>
              <a:rPr lang="en-US" dirty="0" smtClean="0"/>
              <a:t>(2)By </a:t>
            </a:r>
            <a:r>
              <a:rPr lang="en-US" dirty="0" err="1" smtClean="0"/>
              <a:t>Varignon's</a:t>
            </a:r>
            <a:r>
              <a:rPr lang="en-US" dirty="0" smtClean="0"/>
              <a:t> theorem, the moment becomes </a:t>
            </a:r>
          </a:p>
          <a:p>
            <a:pPr>
              <a:buNone/>
            </a:pPr>
            <a:r>
              <a:rPr lang="en-US" b="1" dirty="0" smtClean="0"/>
              <a:t>Mo = 460(4) + 386(2) = 2610N </a:t>
            </a:r>
          </a:p>
          <a:p>
            <a:pPr>
              <a:buNone/>
            </a:pPr>
            <a:endParaRPr lang="en-US" b="1" dirty="0" smtClean="0"/>
          </a:p>
          <a:p>
            <a:r>
              <a:rPr lang="en-US" sz="2400" dirty="0" smtClean="0"/>
              <a:t>(III) By the principle of transmissibility, </a:t>
            </a:r>
          </a:p>
          <a:p>
            <a:pPr>
              <a:buNone/>
            </a:pPr>
            <a:r>
              <a:rPr lang="en-US" sz="2400" dirty="0" smtClean="0"/>
              <a:t>(3)  Move the 600-N force along its line of action to point B, which eliminates the moment of the component F2. The moment arm of F1 becomes </a:t>
            </a:r>
          </a:p>
          <a:p>
            <a:pPr>
              <a:buNone/>
            </a:pPr>
            <a:endParaRPr lang="en-US" b="1" dirty="0" smtClean="0"/>
          </a:p>
          <a:p>
            <a:pPr>
              <a:buNone/>
            </a:pPr>
            <a:endParaRPr lang="en-US" dirty="0"/>
          </a:p>
        </p:txBody>
      </p:sp>
      <p:sp>
        <p:nvSpPr>
          <p:cNvPr id="9" name="Content Placeholder 8"/>
          <p:cNvSpPr>
            <a:spLocks noGrp="1"/>
          </p:cNvSpPr>
          <p:nvPr>
            <p:ph sz="half" idx="2"/>
          </p:nvPr>
        </p:nvSpPr>
        <p:spPr>
          <a:xfrm>
            <a:off x="4800600" y="762000"/>
            <a:ext cx="4343400" cy="4114800"/>
          </a:xfrm>
        </p:spPr>
        <p:txBody>
          <a:bodyPr/>
          <a:lstStyle/>
          <a:p>
            <a:pPr>
              <a:buNone/>
            </a:pPr>
            <a:r>
              <a:rPr lang="es-ES" b="1" dirty="0" smtClean="0"/>
              <a:t>d1 = 4 + 2 tan 40° = 5.68 m </a:t>
            </a:r>
          </a:p>
          <a:p>
            <a:pPr>
              <a:buNone/>
            </a:pPr>
            <a:r>
              <a:rPr lang="en-US" dirty="0" smtClean="0"/>
              <a:t>and the moment is </a:t>
            </a:r>
          </a:p>
          <a:p>
            <a:pPr>
              <a:buNone/>
            </a:pPr>
            <a:r>
              <a:rPr lang="en-US" b="1" dirty="0" smtClean="0"/>
              <a:t>Mo = 460(5.68) = 2610 </a:t>
            </a:r>
            <a:r>
              <a:rPr lang="en-US" b="1" dirty="0" err="1" smtClean="0"/>
              <a:t>N.m</a:t>
            </a:r>
            <a:endParaRPr lang="en-US" dirty="0" smtClean="0"/>
          </a:p>
          <a:p>
            <a:pPr>
              <a:buNone/>
            </a:pPr>
            <a:endParaRPr lang="en-US" dirty="0" smtClean="0"/>
          </a:p>
          <a:p>
            <a:pPr>
              <a:buNone/>
            </a:pPr>
            <a:r>
              <a:rPr lang="en-US" dirty="0" smtClean="0"/>
              <a:t>(4) Moving the force to point C eliminates the moment of the component F1. The moment arm of F2 becomes </a:t>
            </a:r>
          </a:p>
          <a:p>
            <a:pPr>
              <a:buNone/>
            </a:pPr>
            <a:r>
              <a:rPr lang="en-US" b="1" dirty="0" smtClean="0"/>
              <a:t>d2 = 2 + 4 cos40° = 6.77 m </a:t>
            </a:r>
          </a:p>
          <a:p>
            <a:pPr>
              <a:buNone/>
            </a:pPr>
            <a:r>
              <a:rPr lang="en-US" dirty="0" smtClean="0"/>
              <a:t>and the moment is </a:t>
            </a:r>
          </a:p>
          <a:p>
            <a:pPr>
              <a:buNone/>
            </a:pPr>
            <a:r>
              <a:rPr lang="en-US" b="1" dirty="0" smtClean="0"/>
              <a:t>Mo = 386(6.77) + 2610 </a:t>
            </a:r>
            <a:r>
              <a:rPr lang="en-US" b="1" dirty="0" err="1" smtClean="0"/>
              <a:t>N.m</a:t>
            </a:r>
            <a:endParaRPr lang="en-US" dirty="0" smtClean="0"/>
          </a:p>
          <a:p>
            <a:endParaRPr lang="en-US" dirty="0"/>
          </a:p>
        </p:txBody>
      </p:sp>
      <p:sp>
        <p:nvSpPr>
          <p:cNvPr id="5" name="Footer Placeholder 4"/>
          <p:cNvSpPr>
            <a:spLocks noGrp="1"/>
          </p:cNvSpPr>
          <p:nvPr>
            <p:ph type="ftr" sz="quarter" idx="11"/>
          </p:nvPr>
        </p:nvSpPr>
        <p:spPr/>
        <p:txBody>
          <a:bodyPr/>
          <a:lstStyle/>
          <a:p>
            <a:r>
              <a:rPr lang="fi-FI" smtClean="0"/>
              <a:t>Dr. Nana Sarfo Agyemang Derkyi</a:t>
            </a:r>
            <a:endParaRPr lang="en-GB"/>
          </a:p>
        </p:txBody>
      </p:sp>
      <p:sp>
        <p:nvSpPr>
          <p:cNvPr id="6" name="Slide Number Placeholder 5"/>
          <p:cNvSpPr>
            <a:spLocks noGrp="1"/>
          </p:cNvSpPr>
          <p:nvPr>
            <p:ph type="sldNum" sz="quarter" idx="12"/>
          </p:nvPr>
        </p:nvSpPr>
        <p:spPr/>
        <p:txBody>
          <a:bodyPr/>
          <a:lstStyle/>
          <a:p>
            <a:fld id="{69DF43F8-FE0C-44AE-856E-347CEC3D66D6}" type="slidenum">
              <a:rPr lang="en-GB" smtClean="0"/>
              <a:pPr/>
              <a:t>27</a:t>
            </a:fld>
            <a:endParaRPr lang="en-GB" sz="1400"/>
          </a:p>
        </p:txBody>
      </p:sp>
      <p:sp>
        <p:nvSpPr>
          <p:cNvPr id="7" name="Date Placeholder 6"/>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90600" y="0"/>
            <a:ext cx="7772400" cy="1143000"/>
          </a:xfrm>
        </p:spPr>
        <p:txBody>
          <a:bodyPr/>
          <a:lstStyle/>
          <a:p>
            <a:r>
              <a:rPr lang="en-US" dirty="0" smtClean="0">
                <a:ea typeface="ＭＳ Ｐゴシック" charset="-128"/>
              </a:rPr>
              <a:t>Example</a:t>
            </a:r>
          </a:p>
        </p:txBody>
      </p:sp>
      <p:sp>
        <p:nvSpPr>
          <p:cNvPr id="5" name="Slide Number Placeholder 2"/>
          <p:cNvSpPr>
            <a:spLocks noGrp="1"/>
          </p:cNvSpPr>
          <p:nvPr>
            <p:ph type="sldNum" sz="quarter" idx="10"/>
          </p:nvPr>
        </p:nvSpPr>
        <p:spPr>
          <a:xfrm>
            <a:off x="7239000" y="6400800"/>
            <a:ext cx="1905000" cy="457200"/>
          </a:xfrm>
        </p:spPr>
        <p:txBody>
          <a:bodyPr/>
          <a:lstStyle/>
          <a:p>
            <a:r>
              <a:rPr lang="en-US" dirty="0" smtClean="0"/>
              <a:t>                              </a:t>
            </a:r>
            <a:fld id="{798C1D08-3C6F-4F0A-9540-8D7E85AC8972}" type="slidenum">
              <a:rPr lang="en-US" sz="2400" smtClean="0"/>
              <a:pPr/>
              <a:t>28</a:t>
            </a:fld>
            <a:endParaRPr lang="en-US" sz="2400" dirty="0"/>
          </a:p>
        </p:txBody>
      </p:sp>
      <p:pic>
        <p:nvPicPr>
          <p:cNvPr id="18436" name="Picture 3" descr="C:\DOCUME~1\WALTOL~1\LOCALS~1\Temp\\msotw9_temp0.jpg"/>
          <p:cNvPicPr>
            <a:picLocks noChangeAspect="1" noChangeArrowheads="1"/>
          </p:cNvPicPr>
          <p:nvPr/>
        </p:nvPicPr>
        <p:blipFill>
          <a:blip r:embed="rId2" cstate="print"/>
          <a:srcRect/>
          <a:stretch>
            <a:fillRect/>
          </a:stretch>
        </p:blipFill>
        <p:spPr bwMode="auto">
          <a:xfrm>
            <a:off x="679450" y="1301750"/>
            <a:ext cx="2349500" cy="2973388"/>
          </a:xfrm>
          <a:prstGeom prst="rect">
            <a:avLst/>
          </a:prstGeom>
          <a:noFill/>
          <a:ln w="9525">
            <a:noFill/>
            <a:miter lim="800000"/>
            <a:headEnd/>
            <a:tailEnd/>
          </a:ln>
        </p:spPr>
      </p:pic>
      <p:sp>
        <p:nvSpPr>
          <p:cNvPr id="18437" name="Text Box 8"/>
          <p:cNvSpPr txBox="1">
            <a:spLocks noChangeArrowheads="1"/>
          </p:cNvSpPr>
          <p:nvPr/>
        </p:nvSpPr>
        <p:spPr bwMode="auto">
          <a:xfrm>
            <a:off x="3740150" y="1235075"/>
            <a:ext cx="5403850" cy="5078313"/>
          </a:xfrm>
          <a:prstGeom prst="rect">
            <a:avLst/>
          </a:prstGeom>
          <a:noFill/>
          <a:ln w="9525">
            <a:noFill/>
            <a:miter lim="800000"/>
            <a:headEnd/>
            <a:tailEnd/>
          </a:ln>
        </p:spPr>
        <p:txBody>
          <a:bodyPr>
            <a:spAutoFit/>
          </a:bodyPr>
          <a:lstStyle/>
          <a:p>
            <a:pPr marL="346075" indent="-346075">
              <a:spcBef>
                <a:spcPct val="50000"/>
              </a:spcBef>
            </a:pPr>
            <a:r>
              <a:rPr lang="en-US" dirty="0"/>
              <a:t>A 100-lb vertical force is applied to the end of a lever which is attached to a shaft at </a:t>
            </a:r>
            <a:r>
              <a:rPr lang="en-US" i="1" dirty="0"/>
              <a:t>O</a:t>
            </a:r>
            <a:r>
              <a:rPr lang="en-US" dirty="0"/>
              <a:t>.</a:t>
            </a:r>
            <a:endParaRPr lang="en-US" i="1" dirty="0"/>
          </a:p>
          <a:p>
            <a:pPr marL="346075" indent="-346075">
              <a:spcBef>
                <a:spcPct val="50000"/>
              </a:spcBef>
            </a:pPr>
            <a:r>
              <a:rPr lang="en-US" dirty="0"/>
              <a:t>Determine:</a:t>
            </a:r>
          </a:p>
          <a:p>
            <a:pPr marL="346075" indent="-346075">
              <a:spcBef>
                <a:spcPct val="50000"/>
              </a:spcBef>
              <a:buFontTx/>
              <a:buAutoNum type="alphaLcParenR"/>
            </a:pPr>
            <a:r>
              <a:rPr lang="en-US" dirty="0"/>
              <a:t>moment about </a:t>
            </a:r>
            <a:r>
              <a:rPr lang="en-US" i="1" dirty="0"/>
              <a:t>O,</a:t>
            </a:r>
          </a:p>
          <a:p>
            <a:pPr marL="346075" indent="-346075">
              <a:spcBef>
                <a:spcPct val="50000"/>
              </a:spcBef>
              <a:buFontTx/>
              <a:buAutoNum type="alphaLcParenR"/>
            </a:pPr>
            <a:r>
              <a:rPr lang="en-US" dirty="0"/>
              <a:t>horizontal force at </a:t>
            </a:r>
            <a:r>
              <a:rPr lang="en-US" i="1" dirty="0"/>
              <a:t>A </a:t>
            </a:r>
            <a:r>
              <a:rPr lang="en-US" dirty="0"/>
              <a:t>which creates the same moment,</a:t>
            </a:r>
          </a:p>
          <a:p>
            <a:pPr marL="346075" indent="-346075">
              <a:spcBef>
                <a:spcPct val="50000"/>
              </a:spcBef>
              <a:buFontTx/>
              <a:buAutoNum type="alphaLcParenR"/>
            </a:pPr>
            <a:r>
              <a:rPr lang="en-US" dirty="0"/>
              <a:t>smallest force at A which produces the same moment</a:t>
            </a:r>
            <a:r>
              <a:rPr lang="en-US" dirty="0" smtClean="0"/>
              <a:t>,</a:t>
            </a:r>
          </a:p>
          <a:p>
            <a:pPr marL="346075" indent="-346075">
              <a:spcBef>
                <a:spcPct val="50000"/>
              </a:spcBef>
              <a:buFontTx/>
              <a:buAutoNum type="alphaLcParenR"/>
            </a:pPr>
            <a:r>
              <a:rPr lang="en-US" dirty="0" smtClean="0"/>
              <a:t>location for a 240-lb vertical force to produce the same moment,</a:t>
            </a:r>
          </a:p>
        </p:txBody>
      </p:sp>
      <p:sp>
        <p:nvSpPr>
          <p:cNvPr id="6" name="Date Placeholder 5"/>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7" name="Footer Placeholder 6"/>
          <p:cNvSpPr>
            <a:spLocks noGrp="1"/>
          </p:cNvSpPr>
          <p:nvPr>
            <p:ph type="ftr" sz="quarter" idx="11"/>
          </p:nvPr>
        </p:nvSpPr>
        <p:spPr/>
        <p:txBody>
          <a:bodyPr/>
          <a:lstStyle/>
          <a:p>
            <a:r>
              <a:rPr lang="fi-FI" smtClean="0"/>
              <a:t>Dr. Nana Sarfo Agyemang Derkyi</a:t>
            </a:r>
            <a:endParaRPr lang="en-GB"/>
          </a:p>
        </p:txBody>
      </p:sp>
      <p:sp>
        <p:nvSpPr>
          <p:cNvPr id="8" name="TextBox 7"/>
          <p:cNvSpPr txBox="1"/>
          <p:nvPr/>
        </p:nvSpPr>
        <p:spPr>
          <a:xfrm>
            <a:off x="762000" y="5105400"/>
            <a:ext cx="2667000" cy="461665"/>
          </a:xfrm>
          <a:prstGeom prst="rect">
            <a:avLst/>
          </a:prstGeom>
          <a:noFill/>
        </p:spPr>
        <p:txBody>
          <a:bodyPr wrap="square" rtlCol="0">
            <a:spAutoFit/>
          </a:bodyPr>
          <a:lstStyle/>
          <a:p>
            <a:endParaRPr lang="en-US" dirty="0"/>
          </a:p>
        </p:txBody>
      </p:sp>
      <p:sp>
        <p:nvSpPr>
          <p:cNvPr id="9" name="TextBox 8"/>
          <p:cNvSpPr txBox="1"/>
          <p:nvPr/>
        </p:nvSpPr>
        <p:spPr>
          <a:xfrm>
            <a:off x="609600" y="4876800"/>
            <a:ext cx="3124200" cy="1569660"/>
          </a:xfrm>
          <a:prstGeom prst="rect">
            <a:avLst/>
          </a:prstGeom>
          <a:noFill/>
        </p:spPr>
        <p:txBody>
          <a:bodyPr wrap="square" rtlCol="0">
            <a:spAutoFit/>
          </a:bodyPr>
          <a:lstStyle/>
          <a:p>
            <a:pPr marL="346075" indent="-346075">
              <a:spcBef>
                <a:spcPct val="50000"/>
              </a:spcBef>
            </a:pPr>
            <a:r>
              <a:rPr lang="en-US" dirty="0" smtClean="0"/>
              <a:t>e)  whether any of the forces from b, c, and d is equivalent to the original force.</a:t>
            </a:r>
            <a:endParaRPr lang="en-US" i="1" dirty="0"/>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1066800" y="0"/>
            <a:ext cx="7772400" cy="1143000"/>
          </a:xfrm>
        </p:spPr>
        <p:txBody>
          <a:bodyPr/>
          <a:lstStyle/>
          <a:p>
            <a:r>
              <a:rPr lang="en-US" dirty="0" smtClean="0">
                <a:ea typeface="ＭＳ Ｐゴシック" charset="-128"/>
              </a:rPr>
              <a:t>Solution</a:t>
            </a:r>
          </a:p>
        </p:txBody>
      </p:sp>
      <p:sp>
        <p:nvSpPr>
          <p:cNvPr id="7" name="Slide Number Placeholder 2"/>
          <p:cNvSpPr>
            <a:spLocks noGrp="1"/>
          </p:cNvSpPr>
          <p:nvPr>
            <p:ph type="sldNum" sz="quarter" idx="10"/>
          </p:nvPr>
        </p:nvSpPr>
        <p:spPr>
          <a:xfrm>
            <a:off x="7239000" y="6400800"/>
            <a:ext cx="1905000" cy="457200"/>
          </a:xfrm>
        </p:spPr>
        <p:txBody>
          <a:bodyPr/>
          <a:lstStyle/>
          <a:p>
            <a:r>
              <a:rPr lang="en-US" dirty="0" smtClean="0"/>
              <a:t>                               </a:t>
            </a:r>
            <a:fld id="{77BC95C1-09D3-4F3E-BB74-E86408B27E5A}" type="slidenum">
              <a:rPr lang="en-US" sz="2400" smtClean="0"/>
              <a:pPr/>
              <a:t>29</a:t>
            </a:fld>
            <a:endParaRPr lang="en-US" sz="2400" dirty="0"/>
          </a:p>
        </p:txBody>
      </p:sp>
      <p:pic>
        <p:nvPicPr>
          <p:cNvPr id="19462" name="Picture 4" descr="C:\DOCUME~1\WALTOL~1\LOCALS~1\Temp\\msotw9_temp0.jpg"/>
          <p:cNvPicPr>
            <a:picLocks noChangeAspect="1" noChangeArrowheads="1"/>
          </p:cNvPicPr>
          <p:nvPr/>
        </p:nvPicPr>
        <p:blipFill>
          <a:blip r:embed="rId3" cstate="print"/>
          <a:srcRect/>
          <a:stretch>
            <a:fillRect/>
          </a:stretch>
        </p:blipFill>
        <p:spPr bwMode="auto">
          <a:xfrm>
            <a:off x="392113" y="1174750"/>
            <a:ext cx="2373312" cy="2865438"/>
          </a:xfrm>
          <a:prstGeom prst="rect">
            <a:avLst/>
          </a:prstGeom>
          <a:noFill/>
          <a:ln w="9525">
            <a:noFill/>
            <a:miter lim="800000"/>
            <a:headEnd/>
            <a:tailEnd/>
          </a:ln>
        </p:spPr>
      </p:pic>
      <p:sp>
        <p:nvSpPr>
          <p:cNvPr id="19463" name="Text Box 8"/>
          <p:cNvSpPr txBox="1">
            <a:spLocks noChangeArrowheads="1"/>
          </p:cNvSpPr>
          <p:nvPr/>
        </p:nvSpPr>
        <p:spPr bwMode="auto">
          <a:xfrm>
            <a:off x="3005138" y="1139825"/>
            <a:ext cx="5699125" cy="1616075"/>
          </a:xfrm>
          <a:prstGeom prst="rect">
            <a:avLst/>
          </a:prstGeom>
          <a:noFill/>
          <a:ln w="9525">
            <a:noFill/>
            <a:miter lim="800000"/>
            <a:headEnd/>
            <a:tailEnd/>
          </a:ln>
        </p:spPr>
        <p:txBody>
          <a:bodyPr>
            <a:spAutoFit/>
          </a:bodyPr>
          <a:lstStyle/>
          <a:p>
            <a:pPr marL="346075" indent="-346075">
              <a:spcBef>
                <a:spcPct val="50000"/>
              </a:spcBef>
            </a:pPr>
            <a:r>
              <a:rPr lang="en-US"/>
              <a:t>a)  Moment about </a:t>
            </a:r>
            <a:r>
              <a:rPr lang="en-US" i="1"/>
              <a:t>O </a:t>
            </a:r>
            <a:r>
              <a:rPr lang="en-US"/>
              <a:t>is equal to the product of the force and the perpendicular distance between the line of action of the force and </a:t>
            </a:r>
            <a:r>
              <a:rPr lang="en-US" i="1"/>
              <a:t>O.  </a:t>
            </a:r>
            <a:r>
              <a:rPr lang="en-US"/>
              <a:t>Since the force tends to rotate the lever clockwise, the moment vector is into the plane of the paper.</a:t>
            </a:r>
            <a:endParaRPr lang="en-US" i="1"/>
          </a:p>
        </p:txBody>
      </p:sp>
      <p:graphicFrame>
        <p:nvGraphicFramePr>
          <p:cNvPr id="66560" name="Object 1024"/>
          <p:cNvGraphicFramePr>
            <a:graphicFrameLocks noChangeAspect="1"/>
          </p:cNvGraphicFramePr>
          <p:nvPr/>
        </p:nvGraphicFramePr>
        <p:xfrm>
          <a:off x="3429000" y="4038600"/>
          <a:ext cx="2946400" cy="1092200"/>
        </p:xfrm>
        <a:graphic>
          <a:graphicData uri="http://schemas.openxmlformats.org/presentationml/2006/ole">
            <p:oleObj spid="_x0000_s296962" name="Equation" r:id="rId4" imgW="2946240" imgH="1091880" progId="Equation.3">
              <p:embed/>
            </p:oleObj>
          </a:graphicData>
        </a:graphic>
      </p:graphicFrame>
      <p:graphicFrame>
        <p:nvGraphicFramePr>
          <p:cNvPr id="66561" name="Object 1025"/>
          <p:cNvGraphicFramePr>
            <a:graphicFrameLocks noChangeAspect="1"/>
          </p:cNvGraphicFramePr>
          <p:nvPr/>
        </p:nvGraphicFramePr>
        <p:xfrm>
          <a:off x="7010400" y="4876800"/>
          <a:ext cx="1790700" cy="330200"/>
        </p:xfrm>
        <a:graphic>
          <a:graphicData uri="http://schemas.openxmlformats.org/presentationml/2006/ole">
            <p:oleObj spid="_x0000_s296963" name="Equation" r:id="rId5" imgW="1790640" imgH="330120" progId="Equation.3">
              <p:embed/>
            </p:oleObj>
          </a:graphicData>
        </a:graphic>
      </p:graphicFrame>
      <p:sp>
        <p:nvSpPr>
          <p:cNvPr id="8" name="Date Placeholder 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990600" y="-2286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7" name="Slide Number Placeholder 2"/>
          <p:cNvSpPr>
            <a:spLocks noGrp="1"/>
          </p:cNvSpPr>
          <p:nvPr>
            <p:ph type="sldNum" sz="quarter" idx="10"/>
          </p:nvPr>
        </p:nvSpPr>
        <p:spPr>
          <a:xfrm>
            <a:off x="7239000" y="6400800"/>
            <a:ext cx="1905000" cy="457200"/>
          </a:xfrm>
        </p:spPr>
        <p:txBody>
          <a:bodyPr/>
          <a:lstStyle/>
          <a:p>
            <a:r>
              <a:rPr lang="en-US" dirty="0" smtClean="0"/>
              <a:t>                               </a:t>
            </a:r>
            <a:fld id="{874DB7E4-F573-4401-9803-5610469495D9}" type="slidenum">
              <a:rPr lang="en-US" sz="2400" smtClean="0"/>
              <a:pPr/>
              <a:t>30</a:t>
            </a:fld>
            <a:endParaRPr lang="en-US" sz="2400" dirty="0"/>
          </a:p>
        </p:txBody>
      </p:sp>
      <p:sp>
        <p:nvSpPr>
          <p:cNvPr id="20486" name="Text Box 8"/>
          <p:cNvSpPr txBox="1">
            <a:spLocks noChangeArrowheads="1"/>
          </p:cNvSpPr>
          <p:nvPr/>
        </p:nvSpPr>
        <p:spPr bwMode="auto">
          <a:xfrm>
            <a:off x="3313113" y="1139825"/>
            <a:ext cx="5568950" cy="701675"/>
          </a:xfrm>
          <a:prstGeom prst="rect">
            <a:avLst/>
          </a:prstGeom>
          <a:noFill/>
          <a:ln w="9525">
            <a:noFill/>
            <a:miter lim="800000"/>
            <a:headEnd/>
            <a:tailEnd/>
          </a:ln>
        </p:spPr>
        <p:txBody>
          <a:bodyPr>
            <a:spAutoFit/>
          </a:bodyPr>
          <a:lstStyle/>
          <a:p>
            <a:pPr marL="346075" indent="-346075">
              <a:spcBef>
                <a:spcPct val="50000"/>
              </a:spcBef>
            </a:pPr>
            <a:r>
              <a:rPr lang="en-US"/>
              <a:t>c)  Horizontal force at </a:t>
            </a:r>
            <a:r>
              <a:rPr lang="en-US" i="1"/>
              <a:t>A</a:t>
            </a:r>
            <a:r>
              <a:rPr lang="en-US"/>
              <a:t> that produces the same moment,</a:t>
            </a:r>
          </a:p>
        </p:txBody>
      </p:sp>
      <p:pic>
        <p:nvPicPr>
          <p:cNvPr id="20487" name="Picture 9" descr="C:\DOCUME~1\WALTOL~1\LOCALS~1\Temp\\msotw9_temp0.jpg"/>
          <p:cNvPicPr>
            <a:picLocks noChangeAspect="1" noChangeArrowheads="1"/>
          </p:cNvPicPr>
          <p:nvPr/>
        </p:nvPicPr>
        <p:blipFill>
          <a:blip r:embed="rId3" cstate="print"/>
          <a:srcRect/>
          <a:stretch>
            <a:fillRect/>
          </a:stretch>
        </p:blipFill>
        <p:spPr bwMode="auto">
          <a:xfrm>
            <a:off x="441325" y="1241425"/>
            <a:ext cx="2808288" cy="2614613"/>
          </a:xfrm>
          <a:prstGeom prst="rect">
            <a:avLst/>
          </a:prstGeom>
          <a:noFill/>
          <a:ln w="9525">
            <a:noFill/>
            <a:miter lim="800000"/>
            <a:headEnd/>
            <a:tailEnd/>
          </a:ln>
        </p:spPr>
      </p:pic>
      <p:graphicFrame>
        <p:nvGraphicFramePr>
          <p:cNvPr id="67584" name="Object 1024"/>
          <p:cNvGraphicFramePr>
            <a:graphicFrameLocks noChangeAspect="1"/>
          </p:cNvGraphicFramePr>
          <p:nvPr/>
        </p:nvGraphicFramePr>
        <p:xfrm>
          <a:off x="3810000" y="2667000"/>
          <a:ext cx="3810000" cy="1752600"/>
        </p:xfrm>
        <a:graphic>
          <a:graphicData uri="http://schemas.openxmlformats.org/presentationml/2006/ole">
            <p:oleObj spid="_x0000_s297986" name="Equation" r:id="rId4" imgW="3809880" imgH="1752480" progId="Equation.3">
              <p:embed/>
            </p:oleObj>
          </a:graphicData>
        </a:graphic>
      </p:graphicFrame>
      <p:graphicFrame>
        <p:nvGraphicFramePr>
          <p:cNvPr id="67585" name="Object 1025"/>
          <p:cNvGraphicFramePr>
            <a:graphicFrameLocks noChangeAspect="1"/>
          </p:cNvGraphicFramePr>
          <p:nvPr/>
        </p:nvGraphicFramePr>
        <p:xfrm>
          <a:off x="7697788" y="3313113"/>
          <a:ext cx="1181100" cy="254000"/>
        </p:xfrm>
        <a:graphic>
          <a:graphicData uri="http://schemas.openxmlformats.org/presentationml/2006/ole">
            <p:oleObj spid="_x0000_s297987" name="Equation" r:id="rId5" imgW="1180800" imgH="253800" progId="Equation.3">
              <p:embed/>
            </p:oleObj>
          </a:graphicData>
        </a:graphic>
      </p:graphicFrame>
      <p:sp>
        <p:nvSpPr>
          <p:cNvPr id="8" name="Date Placeholder 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990600" y="-3810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7" name="Slide Number Placeholder 2"/>
          <p:cNvSpPr>
            <a:spLocks noGrp="1"/>
          </p:cNvSpPr>
          <p:nvPr>
            <p:ph type="sldNum" sz="quarter" idx="10"/>
          </p:nvPr>
        </p:nvSpPr>
        <p:spPr>
          <a:xfrm>
            <a:off x="7239000" y="6400800"/>
            <a:ext cx="1905000" cy="457200"/>
          </a:xfrm>
        </p:spPr>
        <p:txBody>
          <a:bodyPr/>
          <a:lstStyle/>
          <a:p>
            <a:r>
              <a:rPr lang="en-US" dirty="0" smtClean="0"/>
              <a:t>                               </a:t>
            </a:r>
            <a:fld id="{82FF63A8-7F74-4223-A854-A5B8EBDF50EE}" type="slidenum">
              <a:rPr lang="en-US" sz="2400" smtClean="0"/>
              <a:pPr/>
              <a:t>31</a:t>
            </a:fld>
            <a:endParaRPr lang="en-US" sz="2400" dirty="0"/>
          </a:p>
        </p:txBody>
      </p:sp>
      <p:pic>
        <p:nvPicPr>
          <p:cNvPr id="21510" name="Picture 6" descr="C:\DOCUME~1\WALTOL~1\LOCALS~1\Temp\\msotw9_temp0.jpg"/>
          <p:cNvPicPr>
            <a:picLocks noChangeAspect="1" noChangeArrowheads="1"/>
          </p:cNvPicPr>
          <p:nvPr/>
        </p:nvPicPr>
        <p:blipFill>
          <a:blip r:embed="rId3" cstate="print"/>
          <a:srcRect/>
          <a:stretch>
            <a:fillRect/>
          </a:stretch>
        </p:blipFill>
        <p:spPr bwMode="auto">
          <a:xfrm>
            <a:off x="490538" y="1327150"/>
            <a:ext cx="2622550" cy="2647950"/>
          </a:xfrm>
          <a:prstGeom prst="rect">
            <a:avLst/>
          </a:prstGeom>
          <a:noFill/>
          <a:ln w="9525">
            <a:noFill/>
            <a:miter lim="800000"/>
            <a:headEnd/>
            <a:tailEnd/>
          </a:ln>
        </p:spPr>
      </p:pic>
      <p:sp>
        <p:nvSpPr>
          <p:cNvPr id="21511" name="Text Box 8"/>
          <p:cNvSpPr txBox="1">
            <a:spLocks noChangeArrowheads="1"/>
          </p:cNvSpPr>
          <p:nvPr/>
        </p:nvSpPr>
        <p:spPr bwMode="auto">
          <a:xfrm>
            <a:off x="3206750" y="1104900"/>
            <a:ext cx="5686425" cy="1006475"/>
          </a:xfrm>
          <a:prstGeom prst="rect">
            <a:avLst/>
          </a:prstGeom>
          <a:noFill/>
          <a:ln w="9525">
            <a:noFill/>
            <a:miter lim="800000"/>
            <a:headEnd/>
            <a:tailEnd/>
          </a:ln>
        </p:spPr>
        <p:txBody>
          <a:bodyPr>
            <a:spAutoFit/>
          </a:bodyPr>
          <a:lstStyle/>
          <a:p>
            <a:pPr marL="346075" indent="-346075">
              <a:spcBef>
                <a:spcPct val="50000"/>
              </a:spcBef>
            </a:pPr>
            <a:r>
              <a:rPr lang="en-US"/>
              <a:t>c)  The smallest force </a:t>
            </a:r>
            <a:r>
              <a:rPr lang="en-US" i="1"/>
              <a:t>A</a:t>
            </a:r>
            <a:r>
              <a:rPr lang="en-US"/>
              <a:t> to produce the same moment occurs when the perpendicular distance is a maximum or when </a:t>
            </a:r>
            <a:r>
              <a:rPr lang="en-US" i="1"/>
              <a:t>F</a:t>
            </a:r>
            <a:r>
              <a:rPr lang="en-US"/>
              <a:t> is perpendicular to </a:t>
            </a:r>
            <a:r>
              <a:rPr lang="en-US" i="1"/>
              <a:t>OA</a:t>
            </a:r>
            <a:r>
              <a:rPr lang="en-US"/>
              <a:t>.</a:t>
            </a:r>
          </a:p>
        </p:txBody>
      </p:sp>
      <p:graphicFrame>
        <p:nvGraphicFramePr>
          <p:cNvPr id="68608" name="Object 1024"/>
          <p:cNvGraphicFramePr>
            <a:graphicFrameLocks noChangeAspect="1"/>
          </p:cNvGraphicFramePr>
          <p:nvPr/>
        </p:nvGraphicFramePr>
        <p:xfrm>
          <a:off x="3733800" y="2971800"/>
          <a:ext cx="2540000" cy="1384300"/>
        </p:xfrm>
        <a:graphic>
          <a:graphicData uri="http://schemas.openxmlformats.org/presentationml/2006/ole">
            <p:oleObj spid="_x0000_s299010" name="Equation" r:id="rId4" imgW="2539800" imgH="1384200" progId="Equation.3">
              <p:embed/>
            </p:oleObj>
          </a:graphicData>
        </a:graphic>
      </p:graphicFrame>
      <p:graphicFrame>
        <p:nvGraphicFramePr>
          <p:cNvPr id="68609" name="Object 1025"/>
          <p:cNvGraphicFramePr>
            <a:graphicFrameLocks noChangeAspect="1"/>
          </p:cNvGraphicFramePr>
          <p:nvPr/>
        </p:nvGraphicFramePr>
        <p:xfrm>
          <a:off x="7772400" y="3886200"/>
          <a:ext cx="977900" cy="254000"/>
        </p:xfrm>
        <a:graphic>
          <a:graphicData uri="http://schemas.openxmlformats.org/presentationml/2006/ole">
            <p:oleObj spid="_x0000_s299011" name="Equation" r:id="rId5" imgW="977760" imgH="253800" progId="Equation.3">
              <p:embed/>
            </p:oleObj>
          </a:graphicData>
        </a:graphic>
      </p:graphicFrame>
      <p:sp>
        <p:nvSpPr>
          <p:cNvPr id="8" name="Date Placeholder 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1026"/>
          <p:cNvSpPr>
            <a:spLocks noGrp="1" noChangeArrowheads="1"/>
          </p:cNvSpPr>
          <p:nvPr>
            <p:ph type="title"/>
          </p:nvPr>
        </p:nvSpPr>
        <p:spPr>
          <a:xfrm>
            <a:off x="990600" y="-2286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7" name="Slide Number Placeholder 2"/>
          <p:cNvSpPr>
            <a:spLocks noGrp="1"/>
          </p:cNvSpPr>
          <p:nvPr>
            <p:ph type="sldNum" sz="quarter" idx="10"/>
          </p:nvPr>
        </p:nvSpPr>
        <p:spPr>
          <a:xfrm>
            <a:off x="7239000" y="6400800"/>
            <a:ext cx="1905000" cy="457200"/>
          </a:xfrm>
        </p:spPr>
        <p:txBody>
          <a:bodyPr/>
          <a:lstStyle/>
          <a:p>
            <a:r>
              <a:rPr lang="en-US" dirty="0" smtClean="0"/>
              <a:t>                               </a:t>
            </a:r>
            <a:fld id="{A71C31B9-6988-43A1-BDB9-A898F8DBB5F4}" type="slidenum">
              <a:rPr lang="en-US" sz="2400"/>
              <a:pPr/>
              <a:t>32</a:t>
            </a:fld>
            <a:endParaRPr lang="en-US" sz="2400" dirty="0"/>
          </a:p>
        </p:txBody>
      </p:sp>
      <p:pic>
        <p:nvPicPr>
          <p:cNvPr id="22534" name="Picture 1031" descr="C:\DOCUME~1\WALTOL~1\LOCALS~1\Temp\\msotw9_temp0.jpg"/>
          <p:cNvPicPr>
            <a:picLocks noChangeAspect="1" noChangeArrowheads="1"/>
          </p:cNvPicPr>
          <p:nvPr/>
        </p:nvPicPr>
        <p:blipFill>
          <a:blip r:embed="rId3" cstate="print"/>
          <a:srcRect/>
          <a:stretch>
            <a:fillRect/>
          </a:stretch>
        </p:blipFill>
        <p:spPr bwMode="auto">
          <a:xfrm>
            <a:off x="496888" y="1225550"/>
            <a:ext cx="2381250" cy="2579688"/>
          </a:xfrm>
          <a:prstGeom prst="rect">
            <a:avLst/>
          </a:prstGeom>
          <a:noFill/>
          <a:ln w="9525">
            <a:noFill/>
            <a:miter lim="800000"/>
            <a:headEnd/>
            <a:tailEnd/>
          </a:ln>
        </p:spPr>
      </p:pic>
      <p:sp>
        <p:nvSpPr>
          <p:cNvPr id="22535" name="Text Box 1032"/>
          <p:cNvSpPr txBox="1">
            <a:spLocks noChangeArrowheads="1"/>
          </p:cNvSpPr>
          <p:nvPr/>
        </p:nvSpPr>
        <p:spPr bwMode="auto">
          <a:xfrm>
            <a:off x="3040063" y="1270000"/>
            <a:ext cx="5603875" cy="701675"/>
          </a:xfrm>
          <a:prstGeom prst="rect">
            <a:avLst/>
          </a:prstGeom>
          <a:noFill/>
          <a:ln w="9525">
            <a:noFill/>
            <a:miter lim="800000"/>
            <a:headEnd/>
            <a:tailEnd/>
          </a:ln>
        </p:spPr>
        <p:txBody>
          <a:bodyPr>
            <a:spAutoFit/>
          </a:bodyPr>
          <a:lstStyle/>
          <a:p>
            <a:pPr marL="346075" indent="-346075">
              <a:spcBef>
                <a:spcPct val="50000"/>
              </a:spcBef>
            </a:pPr>
            <a:r>
              <a:rPr lang="en-US" dirty="0"/>
              <a:t>d)  To determine the point of application of a 240 lb force to produce the same moment,</a:t>
            </a:r>
          </a:p>
        </p:txBody>
      </p:sp>
      <p:graphicFrame>
        <p:nvGraphicFramePr>
          <p:cNvPr id="69632" name="Object 1024"/>
          <p:cNvGraphicFramePr>
            <a:graphicFrameLocks noChangeAspect="1"/>
          </p:cNvGraphicFramePr>
          <p:nvPr/>
        </p:nvGraphicFramePr>
        <p:xfrm>
          <a:off x="3505200" y="2819400"/>
          <a:ext cx="3200400" cy="1752600"/>
        </p:xfrm>
        <a:graphic>
          <a:graphicData uri="http://schemas.openxmlformats.org/presentationml/2006/ole">
            <p:oleObj spid="_x0000_s300034" name="Equation" r:id="rId4" imgW="3200400" imgH="1752480" progId="Equation.3">
              <p:embed/>
            </p:oleObj>
          </a:graphicData>
        </a:graphic>
      </p:graphicFrame>
      <p:graphicFrame>
        <p:nvGraphicFramePr>
          <p:cNvPr id="69633" name="Object 1025"/>
          <p:cNvGraphicFramePr>
            <a:graphicFrameLocks noChangeAspect="1"/>
          </p:cNvGraphicFramePr>
          <p:nvPr/>
        </p:nvGraphicFramePr>
        <p:xfrm>
          <a:off x="7391400" y="4191000"/>
          <a:ext cx="1155700" cy="254000"/>
        </p:xfrm>
        <a:graphic>
          <a:graphicData uri="http://schemas.openxmlformats.org/presentationml/2006/ole">
            <p:oleObj spid="_x0000_s300035" name="Equation" r:id="rId5" imgW="1155600" imgH="253800" progId="Equation.3">
              <p:embed/>
            </p:oleObj>
          </a:graphicData>
        </a:graphic>
      </p:graphicFrame>
      <p:sp>
        <p:nvSpPr>
          <p:cNvPr id="8" name="Date Placeholder 7"/>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90600" y="-2286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8" name="Slide Number Placeholder 2"/>
          <p:cNvSpPr>
            <a:spLocks noGrp="1"/>
          </p:cNvSpPr>
          <p:nvPr>
            <p:ph type="sldNum" sz="quarter" idx="10"/>
          </p:nvPr>
        </p:nvSpPr>
        <p:spPr>
          <a:xfrm>
            <a:off x="7239000" y="6400800"/>
            <a:ext cx="1905000" cy="457200"/>
          </a:xfrm>
        </p:spPr>
        <p:txBody>
          <a:bodyPr/>
          <a:lstStyle/>
          <a:p>
            <a:r>
              <a:rPr lang="en-US" dirty="0" smtClean="0"/>
              <a:t>                              </a:t>
            </a:r>
            <a:fld id="{3B7CE034-71A5-4358-9536-60EDF47BC49C}" type="slidenum">
              <a:rPr lang="en-US" sz="2400" smtClean="0"/>
              <a:pPr/>
              <a:t>33</a:t>
            </a:fld>
            <a:endParaRPr lang="en-US" sz="2400" dirty="0"/>
          </a:p>
        </p:txBody>
      </p:sp>
      <p:pic>
        <p:nvPicPr>
          <p:cNvPr id="23556" name="Picture 4" descr="C:\DOCUME~1\WALTOL~1\LOCALS~1\Temp\\msotw9_temp0.jpg"/>
          <p:cNvPicPr>
            <a:picLocks noChangeAspect="1" noChangeArrowheads="1"/>
          </p:cNvPicPr>
          <p:nvPr/>
        </p:nvPicPr>
        <p:blipFill>
          <a:blip r:embed="rId2" cstate="print"/>
          <a:srcRect/>
          <a:stretch>
            <a:fillRect/>
          </a:stretch>
        </p:blipFill>
        <p:spPr bwMode="auto">
          <a:xfrm>
            <a:off x="427038" y="1098550"/>
            <a:ext cx="2174875" cy="2625725"/>
          </a:xfrm>
          <a:prstGeom prst="rect">
            <a:avLst/>
          </a:prstGeom>
          <a:noFill/>
          <a:ln w="9525">
            <a:noFill/>
            <a:miter lim="800000"/>
            <a:headEnd/>
            <a:tailEnd/>
          </a:ln>
        </p:spPr>
      </p:pic>
      <p:pic>
        <p:nvPicPr>
          <p:cNvPr id="23557" name="Picture 5" descr="C:\DOCUME~1\WALTOL~1\LOCALS~1\Temp\\msotw9_temp0.jpg"/>
          <p:cNvPicPr>
            <a:picLocks noChangeAspect="1" noChangeArrowheads="1"/>
          </p:cNvPicPr>
          <p:nvPr/>
        </p:nvPicPr>
        <p:blipFill>
          <a:blip r:embed="rId3" cstate="print"/>
          <a:srcRect/>
          <a:stretch>
            <a:fillRect/>
          </a:stretch>
        </p:blipFill>
        <p:spPr bwMode="auto">
          <a:xfrm>
            <a:off x="606425" y="3881438"/>
            <a:ext cx="2540000" cy="2365375"/>
          </a:xfrm>
          <a:prstGeom prst="rect">
            <a:avLst/>
          </a:prstGeom>
          <a:noFill/>
          <a:ln w="9525">
            <a:noFill/>
            <a:miter lim="800000"/>
            <a:headEnd/>
            <a:tailEnd/>
          </a:ln>
        </p:spPr>
      </p:pic>
      <p:pic>
        <p:nvPicPr>
          <p:cNvPr id="23558" name="Picture 6" descr="C:\DOCUME~1\WALTOL~1\LOCALS~1\Temp\\msotw9_temp0.jpg"/>
          <p:cNvPicPr>
            <a:picLocks noChangeAspect="1" noChangeArrowheads="1"/>
          </p:cNvPicPr>
          <p:nvPr/>
        </p:nvPicPr>
        <p:blipFill>
          <a:blip r:embed="rId4" cstate="print"/>
          <a:srcRect/>
          <a:stretch>
            <a:fillRect/>
          </a:stretch>
        </p:blipFill>
        <p:spPr bwMode="auto">
          <a:xfrm>
            <a:off x="3595688" y="3868738"/>
            <a:ext cx="2506662" cy="2530475"/>
          </a:xfrm>
          <a:prstGeom prst="rect">
            <a:avLst/>
          </a:prstGeom>
          <a:noFill/>
          <a:ln w="9525">
            <a:noFill/>
            <a:miter lim="800000"/>
            <a:headEnd/>
            <a:tailEnd/>
          </a:ln>
        </p:spPr>
      </p:pic>
      <p:pic>
        <p:nvPicPr>
          <p:cNvPr id="23559" name="Picture 7" descr="C:\DOCUME~1\WALTOL~1\LOCALS~1\Temp\\msotw9_temp0.jpg"/>
          <p:cNvPicPr>
            <a:picLocks noChangeAspect="1" noChangeArrowheads="1"/>
          </p:cNvPicPr>
          <p:nvPr/>
        </p:nvPicPr>
        <p:blipFill>
          <a:blip r:embed="rId5" cstate="print"/>
          <a:srcRect/>
          <a:stretch>
            <a:fillRect/>
          </a:stretch>
        </p:blipFill>
        <p:spPr bwMode="auto">
          <a:xfrm>
            <a:off x="6553200" y="3887788"/>
            <a:ext cx="2233613" cy="2419350"/>
          </a:xfrm>
          <a:prstGeom prst="rect">
            <a:avLst/>
          </a:prstGeom>
          <a:noFill/>
          <a:ln w="9525">
            <a:noFill/>
            <a:miter lim="800000"/>
            <a:headEnd/>
            <a:tailEnd/>
          </a:ln>
        </p:spPr>
      </p:pic>
      <p:sp>
        <p:nvSpPr>
          <p:cNvPr id="23560" name="Text Box 8"/>
          <p:cNvSpPr txBox="1">
            <a:spLocks noChangeArrowheads="1"/>
          </p:cNvSpPr>
          <p:nvPr/>
        </p:nvSpPr>
        <p:spPr bwMode="auto">
          <a:xfrm>
            <a:off x="2909888" y="1306513"/>
            <a:ext cx="5972175" cy="1616075"/>
          </a:xfrm>
          <a:prstGeom prst="rect">
            <a:avLst/>
          </a:prstGeom>
          <a:noFill/>
          <a:ln w="9525">
            <a:noFill/>
            <a:miter lim="800000"/>
            <a:headEnd/>
            <a:tailEnd/>
          </a:ln>
        </p:spPr>
        <p:txBody>
          <a:bodyPr>
            <a:spAutoFit/>
          </a:bodyPr>
          <a:lstStyle/>
          <a:p>
            <a:pPr marL="346075" indent="-346075">
              <a:spcBef>
                <a:spcPct val="50000"/>
              </a:spcBef>
            </a:pPr>
            <a:r>
              <a:rPr lang="en-US" dirty="0"/>
              <a:t>e)	Although each of the forces in parts b), c), and d) produces the same moment as the 100 lb force, none are of the same magnitude and sense, or on the same line of action.  None of the forces is equivalent to the 100 lb force.</a:t>
            </a:r>
          </a:p>
        </p:txBody>
      </p:sp>
      <p:sp>
        <p:nvSpPr>
          <p:cNvPr id="9" name="Date Placeholder 8"/>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10" name="Footer Placeholder 9"/>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990600" y="-228600"/>
            <a:ext cx="7772400" cy="1143000"/>
          </a:xfrm>
        </p:spPr>
        <p:txBody>
          <a:bodyPr/>
          <a:lstStyle/>
          <a:p>
            <a:r>
              <a:rPr lang="en-US" smtClean="0">
                <a:ea typeface="ＭＳ Ｐゴシック" charset="-128"/>
              </a:rPr>
              <a:t>Moment of a Couple</a:t>
            </a:r>
          </a:p>
        </p:txBody>
      </p:sp>
      <p:sp>
        <p:nvSpPr>
          <p:cNvPr id="13" name="Slide Number Placeholder 2"/>
          <p:cNvSpPr>
            <a:spLocks noGrp="1"/>
          </p:cNvSpPr>
          <p:nvPr>
            <p:ph type="sldNum" sz="quarter" idx="10"/>
          </p:nvPr>
        </p:nvSpPr>
        <p:spPr>
          <a:xfrm>
            <a:off x="7239000" y="6400800"/>
            <a:ext cx="1905000" cy="457200"/>
          </a:xfrm>
        </p:spPr>
        <p:txBody>
          <a:bodyPr/>
          <a:lstStyle/>
          <a:p>
            <a:r>
              <a:rPr lang="en-US" sz="2400" dirty="0" smtClean="0"/>
              <a:t>                  </a:t>
            </a:r>
            <a:fld id="{DBDAA019-3B79-4CBB-97DA-3BCB1838AB9F}" type="slidenum">
              <a:rPr lang="en-US" sz="2400" smtClean="0"/>
              <a:pPr/>
              <a:t>34</a:t>
            </a:fld>
            <a:endParaRPr lang="en-US" sz="2400" dirty="0"/>
          </a:p>
        </p:txBody>
      </p:sp>
      <p:grpSp>
        <p:nvGrpSpPr>
          <p:cNvPr id="2" name="Group 8"/>
          <p:cNvGrpSpPr>
            <a:grpSpLocks/>
          </p:cNvGrpSpPr>
          <p:nvPr/>
        </p:nvGrpSpPr>
        <p:grpSpPr bwMode="auto">
          <a:xfrm>
            <a:off x="333375" y="1049338"/>
            <a:ext cx="8285163" cy="1235075"/>
            <a:chOff x="210" y="661"/>
            <a:chExt cx="5219" cy="778"/>
          </a:xfrm>
        </p:grpSpPr>
        <p:pic>
          <p:nvPicPr>
            <p:cNvPr id="35852" name="Picture 3" descr="C:\DOCUME~1\WALTOL~1\LOCALS~1\Temp\\msotw9_temp0.jpg"/>
            <p:cNvPicPr>
              <a:picLocks noChangeAspect="1" noChangeArrowheads="1"/>
            </p:cNvPicPr>
            <p:nvPr/>
          </p:nvPicPr>
          <p:blipFill>
            <a:blip r:embed="rId3" cstate="print"/>
            <a:srcRect/>
            <a:stretch>
              <a:fillRect/>
            </a:stretch>
          </p:blipFill>
          <p:spPr bwMode="auto">
            <a:xfrm>
              <a:off x="4166" y="661"/>
              <a:ext cx="1263" cy="778"/>
            </a:xfrm>
            <a:prstGeom prst="rect">
              <a:avLst/>
            </a:prstGeom>
            <a:noFill/>
            <a:ln w="9525">
              <a:noFill/>
              <a:miter lim="800000"/>
              <a:headEnd/>
              <a:tailEnd/>
            </a:ln>
          </p:spPr>
        </p:pic>
        <p:sp>
          <p:nvSpPr>
            <p:cNvPr id="35853" name="Text Box 7"/>
            <p:cNvSpPr txBox="1">
              <a:spLocks noChangeArrowheads="1"/>
            </p:cNvSpPr>
            <p:nvPr/>
          </p:nvSpPr>
          <p:spPr bwMode="auto">
            <a:xfrm>
              <a:off x="210" y="674"/>
              <a:ext cx="3494" cy="634"/>
            </a:xfrm>
            <a:prstGeom prst="rect">
              <a:avLst/>
            </a:prstGeom>
            <a:noFill/>
            <a:ln w="9525">
              <a:noFill/>
              <a:miter lim="800000"/>
              <a:headEnd/>
              <a:tailEnd/>
            </a:ln>
          </p:spPr>
          <p:txBody>
            <a:bodyPr>
              <a:spAutoFit/>
            </a:bodyPr>
            <a:lstStyle/>
            <a:p>
              <a:pPr marL="227013" indent="-227013">
                <a:spcBef>
                  <a:spcPct val="50000"/>
                </a:spcBef>
                <a:buFontTx/>
                <a:buChar char="•"/>
              </a:pPr>
              <a:r>
                <a:rPr lang="en-US"/>
                <a:t>Two forces </a:t>
              </a:r>
              <a:r>
                <a:rPr lang="en-US" b="1" i="1"/>
                <a:t>F</a:t>
              </a:r>
              <a:r>
                <a:rPr lang="en-US"/>
                <a:t> and -</a:t>
              </a:r>
              <a:r>
                <a:rPr lang="en-US" b="1" i="1"/>
                <a:t>F</a:t>
              </a:r>
              <a:r>
                <a:rPr lang="en-US"/>
                <a:t>  having the same magnitude, parallel lines of action, and opposite sense are said to form a </a:t>
              </a:r>
              <a:r>
                <a:rPr lang="en-US" i="1"/>
                <a:t>couple</a:t>
              </a:r>
              <a:r>
                <a:rPr lang="en-US"/>
                <a:t>.</a:t>
              </a:r>
            </a:p>
          </p:txBody>
        </p:sp>
      </p:grpSp>
      <p:grpSp>
        <p:nvGrpSpPr>
          <p:cNvPr id="3" name="Group 12"/>
          <p:cNvGrpSpPr>
            <a:grpSpLocks/>
          </p:cNvGrpSpPr>
          <p:nvPr/>
        </p:nvGrpSpPr>
        <p:grpSpPr bwMode="auto">
          <a:xfrm>
            <a:off x="309563" y="2355850"/>
            <a:ext cx="8539162" cy="2695575"/>
            <a:chOff x="195" y="1484"/>
            <a:chExt cx="5379" cy="1698"/>
          </a:xfrm>
        </p:grpSpPr>
        <p:pic>
          <p:nvPicPr>
            <p:cNvPr id="35850" name="Picture 4" descr="C:\DOCUME~1\WALTOL~1\LOCALS~1\Temp\\msotw9_temp0.jpg"/>
            <p:cNvPicPr>
              <a:picLocks noChangeAspect="1" noChangeArrowheads="1"/>
            </p:cNvPicPr>
            <p:nvPr/>
          </p:nvPicPr>
          <p:blipFill>
            <a:blip r:embed="rId4" cstate="print"/>
            <a:srcRect/>
            <a:stretch>
              <a:fillRect/>
            </a:stretch>
          </p:blipFill>
          <p:spPr bwMode="auto">
            <a:xfrm>
              <a:off x="3798" y="1484"/>
              <a:ext cx="1776" cy="1698"/>
            </a:xfrm>
            <a:prstGeom prst="rect">
              <a:avLst/>
            </a:prstGeom>
            <a:noFill/>
            <a:ln w="9525">
              <a:noFill/>
              <a:miter lim="800000"/>
              <a:headEnd/>
              <a:tailEnd/>
            </a:ln>
          </p:spPr>
        </p:pic>
        <p:sp>
          <p:nvSpPr>
            <p:cNvPr id="35851" name="Text Box 9"/>
            <p:cNvSpPr txBox="1">
              <a:spLocks noChangeArrowheads="1"/>
            </p:cNvSpPr>
            <p:nvPr/>
          </p:nvSpPr>
          <p:spPr bwMode="auto">
            <a:xfrm>
              <a:off x="195" y="1489"/>
              <a:ext cx="2140" cy="250"/>
            </a:xfrm>
            <a:prstGeom prst="rect">
              <a:avLst/>
            </a:prstGeom>
            <a:noFill/>
            <a:ln w="9525">
              <a:noFill/>
              <a:miter lim="800000"/>
              <a:headEnd/>
              <a:tailEnd/>
            </a:ln>
          </p:spPr>
          <p:txBody>
            <a:bodyPr>
              <a:spAutoFit/>
            </a:bodyPr>
            <a:lstStyle/>
            <a:p>
              <a:pPr marL="227013" indent="-227013">
                <a:spcBef>
                  <a:spcPct val="50000"/>
                </a:spcBef>
                <a:buFontTx/>
                <a:buChar char="•"/>
              </a:pPr>
              <a:r>
                <a:rPr lang="en-US"/>
                <a:t>Moment of the couple,</a:t>
              </a:r>
            </a:p>
          </p:txBody>
        </p:sp>
        <p:graphicFrame>
          <p:nvGraphicFramePr>
            <p:cNvPr id="80896" name="Object 1024"/>
            <p:cNvGraphicFramePr>
              <a:graphicFrameLocks noChangeAspect="1"/>
            </p:cNvGraphicFramePr>
            <p:nvPr/>
          </p:nvGraphicFramePr>
          <p:xfrm>
            <a:off x="572" y="1807"/>
            <a:ext cx="1472" cy="944"/>
          </p:xfrm>
          <a:graphic>
            <a:graphicData uri="http://schemas.openxmlformats.org/presentationml/2006/ole">
              <p:oleObj spid="_x0000_s301058" name="Equation" r:id="rId5" imgW="2336760" imgH="1498320" progId="Equation.3">
                <p:embed/>
              </p:oleObj>
            </a:graphicData>
          </a:graphic>
        </p:graphicFrame>
      </p:grpSp>
      <p:grpSp>
        <p:nvGrpSpPr>
          <p:cNvPr id="4" name="Group 13"/>
          <p:cNvGrpSpPr>
            <a:grpSpLocks/>
          </p:cNvGrpSpPr>
          <p:nvPr/>
        </p:nvGrpSpPr>
        <p:grpSpPr bwMode="auto">
          <a:xfrm>
            <a:off x="333375" y="4691063"/>
            <a:ext cx="7954963" cy="1709737"/>
            <a:chOff x="210" y="2955"/>
            <a:chExt cx="5011" cy="1077"/>
          </a:xfrm>
        </p:grpSpPr>
        <p:pic>
          <p:nvPicPr>
            <p:cNvPr id="35848" name="Picture 5" descr="C:\DOCUME~1\WALTOL~1\LOCALS~1\Temp\\msotw9_temp0.jpg"/>
            <p:cNvPicPr>
              <a:picLocks noChangeAspect="1" noChangeArrowheads="1"/>
            </p:cNvPicPr>
            <p:nvPr/>
          </p:nvPicPr>
          <p:blipFill>
            <a:blip r:embed="rId6" cstate="print"/>
            <a:srcRect/>
            <a:stretch>
              <a:fillRect/>
            </a:stretch>
          </p:blipFill>
          <p:spPr bwMode="auto">
            <a:xfrm>
              <a:off x="4077" y="3018"/>
              <a:ext cx="1144" cy="1014"/>
            </a:xfrm>
            <a:prstGeom prst="rect">
              <a:avLst/>
            </a:prstGeom>
            <a:noFill/>
            <a:ln w="9525">
              <a:noFill/>
              <a:miter lim="800000"/>
              <a:headEnd/>
              <a:tailEnd/>
            </a:ln>
          </p:spPr>
        </p:pic>
        <p:sp>
          <p:nvSpPr>
            <p:cNvPr id="35849" name="Text Box 11"/>
            <p:cNvSpPr txBox="1">
              <a:spLocks noChangeArrowheads="1"/>
            </p:cNvSpPr>
            <p:nvPr/>
          </p:nvSpPr>
          <p:spPr bwMode="auto">
            <a:xfrm>
              <a:off x="210" y="2955"/>
              <a:ext cx="3224" cy="989"/>
            </a:xfrm>
            <a:prstGeom prst="rect">
              <a:avLst/>
            </a:prstGeom>
            <a:noFill/>
            <a:ln w="9525">
              <a:noFill/>
              <a:miter lim="800000"/>
              <a:headEnd/>
              <a:tailEnd/>
            </a:ln>
          </p:spPr>
          <p:txBody>
            <a:bodyPr>
              <a:spAutoFit/>
            </a:bodyPr>
            <a:lstStyle/>
            <a:p>
              <a:pPr marL="227013" indent="-227013">
                <a:spcBef>
                  <a:spcPct val="50000"/>
                </a:spcBef>
                <a:buFontTx/>
                <a:buChar char="•"/>
              </a:pPr>
              <a:r>
                <a:rPr lang="en-US" dirty="0" smtClean="0"/>
                <a:t>The only effect that a couple can have on a body is too ten to cause it to rotate. A couple has no tendency to cause translation in any direction.</a:t>
              </a:r>
              <a:endParaRPr lang="en-US" dirty="0"/>
            </a:p>
          </p:txBody>
        </p:sp>
      </p:grpSp>
      <p:sp>
        <p:nvSpPr>
          <p:cNvPr id="14" name="Date Placeholder 13"/>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5" name="Footer Placeholder 14"/>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1066800" y="0"/>
            <a:ext cx="7772400" cy="1143000"/>
          </a:xfrm>
        </p:spPr>
        <p:txBody>
          <a:bodyPr/>
          <a:lstStyle/>
          <a:p>
            <a:r>
              <a:rPr lang="en-US" smtClean="0">
                <a:ea typeface="ＭＳ Ｐゴシック" charset="-128"/>
              </a:rPr>
              <a:t>Moment of a Couple</a:t>
            </a:r>
          </a:p>
        </p:txBody>
      </p:sp>
      <p:sp>
        <p:nvSpPr>
          <p:cNvPr id="12" name="Slide Number Placeholder 2"/>
          <p:cNvSpPr>
            <a:spLocks noGrp="1"/>
          </p:cNvSpPr>
          <p:nvPr>
            <p:ph type="sldNum" sz="quarter" idx="10"/>
          </p:nvPr>
        </p:nvSpPr>
        <p:spPr>
          <a:xfrm>
            <a:off x="8610600" y="6400800"/>
            <a:ext cx="533400" cy="457200"/>
          </a:xfrm>
        </p:spPr>
        <p:txBody>
          <a:bodyPr/>
          <a:lstStyle/>
          <a:p>
            <a:fld id="{824EC242-89CD-4A9A-A095-6C4A7C30CB5F}" type="slidenum">
              <a:rPr lang="en-US" sz="2400" smtClean="0"/>
              <a:pPr/>
              <a:t>35</a:t>
            </a:fld>
            <a:endParaRPr lang="en-US" sz="2400" dirty="0"/>
          </a:p>
        </p:txBody>
      </p:sp>
      <p:grpSp>
        <p:nvGrpSpPr>
          <p:cNvPr id="2" name="Group 13"/>
          <p:cNvGrpSpPr>
            <a:grpSpLocks/>
          </p:cNvGrpSpPr>
          <p:nvPr/>
        </p:nvGrpSpPr>
        <p:grpSpPr bwMode="auto">
          <a:xfrm>
            <a:off x="463550" y="1228725"/>
            <a:ext cx="8294688" cy="5003800"/>
            <a:chOff x="292" y="774"/>
            <a:chExt cx="5225" cy="3152"/>
          </a:xfrm>
        </p:grpSpPr>
        <p:pic>
          <p:nvPicPr>
            <p:cNvPr id="36872" name="Picture 5" descr="C:\DOCUME~1\WALTOL~1\LOCALS~1\Temp\\msotw9_temp0.jpg"/>
            <p:cNvPicPr>
              <a:picLocks noChangeAspect="1" noChangeArrowheads="1"/>
            </p:cNvPicPr>
            <p:nvPr/>
          </p:nvPicPr>
          <p:blipFill>
            <a:blip r:embed="rId3" cstate="print"/>
            <a:srcRect/>
            <a:stretch>
              <a:fillRect/>
            </a:stretch>
          </p:blipFill>
          <p:spPr bwMode="auto">
            <a:xfrm>
              <a:off x="3957" y="774"/>
              <a:ext cx="1524" cy="1351"/>
            </a:xfrm>
            <a:prstGeom prst="rect">
              <a:avLst/>
            </a:prstGeom>
            <a:noFill/>
            <a:ln w="9525">
              <a:noFill/>
              <a:miter lim="800000"/>
              <a:headEnd/>
              <a:tailEnd/>
            </a:ln>
          </p:spPr>
        </p:pic>
        <p:pic>
          <p:nvPicPr>
            <p:cNvPr id="36873" name="Picture 6" descr="C:\DOCUME~1\WALTOL~1\LOCALS~1\Temp\\msotw9_temp0.jpg"/>
            <p:cNvPicPr>
              <a:picLocks noChangeAspect="1" noChangeArrowheads="1"/>
            </p:cNvPicPr>
            <p:nvPr/>
          </p:nvPicPr>
          <p:blipFill>
            <a:blip r:embed="rId4" cstate="print"/>
            <a:srcRect/>
            <a:stretch>
              <a:fillRect/>
            </a:stretch>
          </p:blipFill>
          <p:spPr bwMode="auto">
            <a:xfrm>
              <a:off x="3993" y="2490"/>
              <a:ext cx="1524" cy="1436"/>
            </a:xfrm>
            <a:prstGeom prst="rect">
              <a:avLst/>
            </a:prstGeom>
            <a:noFill/>
            <a:ln w="9525">
              <a:noFill/>
              <a:miter lim="800000"/>
              <a:headEnd/>
              <a:tailEnd/>
            </a:ln>
          </p:spPr>
        </p:pic>
        <p:sp>
          <p:nvSpPr>
            <p:cNvPr id="36874" name="Text Box 7"/>
            <p:cNvSpPr txBox="1">
              <a:spLocks noChangeArrowheads="1"/>
            </p:cNvSpPr>
            <p:nvPr/>
          </p:nvSpPr>
          <p:spPr bwMode="auto">
            <a:xfrm>
              <a:off x="292" y="868"/>
              <a:ext cx="3291" cy="250"/>
            </a:xfrm>
            <a:prstGeom prst="rect">
              <a:avLst/>
            </a:prstGeom>
            <a:noFill/>
            <a:ln w="9525">
              <a:noFill/>
              <a:miter lim="800000"/>
              <a:headEnd/>
              <a:tailEnd/>
            </a:ln>
          </p:spPr>
          <p:txBody>
            <a:bodyPr>
              <a:spAutoFit/>
            </a:bodyPr>
            <a:lstStyle/>
            <a:p>
              <a:pPr>
                <a:spcBef>
                  <a:spcPct val="50000"/>
                </a:spcBef>
              </a:pPr>
              <a:r>
                <a:rPr lang="en-US" dirty="0"/>
                <a:t>Two couples will have equal moments if</a:t>
              </a:r>
            </a:p>
          </p:txBody>
        </p:sp>
        <p:grpSp>
          <p:nvGrpSpPr>
            <p:cNvPr id="3" name="Group 11"/>
            <p:cNvGrpSpPr>
              <a:grpSpLocks/>
            </p:cNvGrpSpPr>
            <p:nvPr/>
          </p:nvGrpSpPr>
          <p:grpSpPr bwMode="auto">
            <a:xfrm>
              <a:off x="434" y="1197"/>
              <a:ext cx="1908" cy="255"/>
              <a:chOff x="456" y="1339"/>
              <a:chExt cx="1908" cy="255"/>
            </a:xfrm>
          </p:grpSpPr>
          <p:sp>
            <p:nvSpPr>
              <p:cNvPr id="36876" name="Text Box 8"/>
              <p:cNvSpPr txBox="1">
                <a:spLocks noChangeArrowheads="1"/>
              </p:cNvSpPr>
              <p:nvPr/>
            </p:nvSpPr>
            <p:spPr bwMode="auto">
              <a:xfrm>
                <a:off x="456" y="1339"/>
                <a:ext cx="1908" cy="250"/>
              </a:xfrm>
              <a:prstGeom prst="rect">
                <a:avLst/>
              </a:prstGeom>
              <a:noFill/>
              <a:ln w="9525">
                <a:noFill/>
                <a:miter lim="800000"/>
                <a:headEnd/>
                <a:tailEnd/>
              </a:ln>
            </p:spPr>
            <p:txBody>
              <a:bodyPr>
                <a:spAutoFit/>
              </a:bodyPr>
              <a:lstStyle/>
              <a:p>
                <a:pPr marL="227013" indent="-227013">
                  <a:spcBef>
                    <a:spcPct val="50000"/>
                  </a:spcBef>
                  <a:buFontTx/>
                  <a:buChar char="•"/>
                </a:pPr>
                <a:r>
                  <a:rPr lang="en-US"/>
                  <a:t> </a:t>
                </a:r>
              </a:p>
            </p:txBody>
          </p:sp>
          <p:graphicFrame>
            <p:nvGraphicFramePr>
              <p:cNvPr id="81920" name="Object 1024"/>
              <p:cNvGraphicFramePr>
                <a:graphicFrameLocks noChangeAspect="1"/>
              </p:cNvGraphicFramePr>
              <p:nvPr/>
            </p:nvGraphicFramePr>
            <p:xfrm>
              <a:off x="626" y="1394"/>
              <a:ext cx="768" cy="200"/>
            </p:xfrm>
            <a:graphic>
              <a:graphicData uri="http://schemas.openxmlformats.org/presentationml/2006/ole">
                <p:oleObj spid="_x0000_s302082" name="Equation" r:id="rId5" imgW="1218960" imgH="317160" progId="Equation.3">
                  <p:embed/>
                </p:oleObj>
              </a:graphicData>
            </a:graphic>
          </p:graphicFrame>
        </p:grpSp>
      </p:grpSp>
      <p:sp>
        <p:nvSpPr>
          <p:cNvPr id="52234" name="Text Box 10"/>
          <p:cNvSpPr txBox="1">
            <a:spLocks noChangeArrowheads="1"/>
          </p:cNvSpPr>
          <p:nvPr/>
        </p:nvSpPr>
        <p:spPr bwMode="auto">
          <a:xfrm>
            <a:off x="688975" y="2497138"/>
            <a:ext cx="4748213" cy="396875"/>
          </a:xfrm>
          <a:prstGeom prst="rect">
            <a:avLst/>
          </a:prstGeom>
          <a:noFill/>
          <a:ln w="9525">
            <a:noFill/>
            <a:miter lim="800000"/>
            <a:headEnd/>
            <a:tailEnd/>
          </a:ln>
        </p:spPr>
        <p:txBody>
          <a:bodyPr>
            <a:spAutoFit/>
          </a:bodyPr>
          <a:lstStyle/>
          <a:p>
            <a:pPr marL="227013" indent="-227013">
              <a:spcBef>
                <a:spcPct val="50000"/>
              </a:spcBef>
              <a:buFontTx/>
              <a:buChar char="•"/>
            </a:pPr>
            <a:r>
              <a:rPr lang="en-US"/>
              <a:t>the two couples lie in parallel planes, and</a:t>
            </a:r>
          </a:p>
        </p:txBody>
      </p:sp>
      <p:sp>
        <p:nvSpPr>
          <p:cNvPr id="52236" name="Text Box 12"/>
          <p:cNvSpPr txBox="1">
            <a:spLocks noChangeArrowheads="1"/>
          </p:cNvSpPr>
          <p:nvPr/>
        </p:nvSpPr>
        <p:spPr bwMode="auto">
          <a:xfrm>
            <a:off x="685800" y="3505200"/>
            <a:ext cx="470217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the two couples have the same sense or the tendency to cause rotation in the same direction.</a:t>
            </a:r>
          </a:p>
        </p:txBody>
      </p:sp>
      <p:sp>
        <p:nvSpPr>
          <p:cNvPr id="13" name="Date Placeholder 12"/>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14" name="Footer Placeholder 13"/>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22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4" grpId="0" autoUpdateAnimBg="0"/>
      <p:bldP spid="5223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a:xfrm>
            <a:off x="990600" y="-304800"/>
            <a:ext cx="7772400" cy="1143000"/>
          </a:xfrm>
        </p:spPr>
        <p:txBody>
          <a:bodyPr/>
          <a:lstStyle/>
          <a:p>
            <a:r>
              <a:rPr lang="en-US" smtClean="0">
                <a:ea typeface="ＭＳ Ｐゴシック" charset="-128"/>
              </a:rPr>
              <a:t>Addition of Couples</a:t>
            </a:r>
          </a:p>
        </p:txBody>
      </p:sp>
      <p:sp>
        <p:nvSpPr>
          <p:cNvPr id="16" name="Slide Number Placeholder 2"/>
          <p:cNvSpPr>
            <a:spLocks noGrp="1"/>
          </p:cNvSpPr>
          <p:nvPr>
            <p:ph type="sldNum" sz="quarter" idx="10"/>
          </p:nvPr>
        </p:nvSpPr>
        <p:spPr>
          <a:xfrm>
            <a:off x="8610600" y="6400800"/>
            <a:ext cx="533400" cy="457200"/>
          </a:xfrm>
        </p:spPr>
        <p:txBody>
          <a:bodyPr/>
          <a:lstStyle/>
          <a:p>
            <a:fld id="{CFB1203A-5DDC-470F-8E14-46CEE1A33FAB}" type="slidenum">
              <a:rPr lang="en-US" sz="2400" smtClean="0"/>
              <a:pPr/>
              <a:t>36</a:t>
            </a:fld>
            <a:endParaRPr lang="en-US" sz="2400" dirty="0"/>
          </a:p>
        </p:txBody>
      </p:sp>
      <p:pic>
        <p:nvPicPr>
          <p:cNvPr id="37895" name="Picture 3" descr="C:\DOCUME~1\WALTOL~1\LOCALS~1\Temp\\msotw9_temp0.jpg"/>
          <p:cNvPicPr>
            <a:picLocks noChangeAspect="1" noChangeArrowheads="1"/>
          </p:cNvPicPr>
          <p:nvPr/>
        </p:nvPicPr>
        <p:blipFill>
          <a:blip r:embed="rId3" cstate="print"/>
          <a:srcRect/>
          <a:stretch>
            <a:fillRect/>
          </a:stretch>
        </p:blipFill>
        <p:spPr bwMode="auto">
          <a:xfrm>
            <a:off x="5072063" y="1042988"/>
            <a:ext cx="3887787" cy="2794000"/>
          </a:xfrm>
          <a:prstGeom prst="rect">
            <a:avLst/>
          </a:prstGeom>
          <a:noFill/>
          <a:ln w="9525">
            <a:noFill/>
            <a:miter lim="800000"/>
            <a:headEnd/>
            <a:tailEnd/>
          </a:ln>
        </p:spPr>
      </p:pic>
      <p:grpSp>
        <p:nvGrpSpPr>
          <p:cNvPr id="2" name="Group 12"/>
          <p:cNvGrpSpPr>
            <a:grpSpLocks/>
          </p:cNvGrpSpPr>
          <p:nvPr/>
        </p:nvGrpSpPr>
        <p:grpSpPr bwMode="auto">
          <a:xfrm>
            <a:off x="344488" y="1044575"/>
            <a:ext cx="4606925" cy="1622426"/>
            <a:chOff x="217" y="658"/>
            <a:chExt cx="2902" cy="1022"/>
          </a:xfrm>
        </p:grpSpPr>
        <p:sp>
          <p:nvSpPr>
            <p:cNvPr id="37904" name="Text Box 5"/>
            <p:cNvSpPr txBox="1">
              <a:spLocks noChangeArrowheads="1"/>
            </p:cNvSpPr>
            <p:nvPr/>
          </p:nvSpPr>
          <p:spPr bwMode="auto">
            <a:xfrm>
              <a:off x="217" y="658"/>
              <a:ext cx="2902" cy="442"/>
            </a:xfrm>
            <a:prstGeom prst="rect">
              <a:avLst/>
            </a:prstGeom>
            <a:noFill/>
            <a:ln w="9525">
              <a:noFill/>
              <a:miter lim="800000"/>
              <a:headEnd/>
              <a:tailEnd/>
            </a:ln>
          </p:spPr>
          <p:txBody>
            <a:bodyPr>
              <a:spAutoFit/>
            </a:bodyPr>
            <a:lstStyle/>
            <a:p>
              <a:pPr marL="227013" indent="-227013">
                <a:spcBef>
                  <a:spcPct val="50000"/>
                </a:spcBef>
                <a:buFontTx/>
                <a:buChar char="•"/>
              </a:pPr>
              <a:r>
                <a:rPr lang="en-US"/>
                <a:t>Consider two intersecting planes </a:t>
              </a:r>
              <a:r>
                <a:rPr lang="en-US" i="1"/>
                <a:t>P</a:t>
              </a:r>
              <a:r>
                <a:rPr lang="en-US" baseline="-25000"/>
                <a:t>1</a:t>
              </a:r>
              <a:r>
                <a:rPr lang="en-US"/>
                <a:t> and </a:t>
              </a:r>
              <a:r>
                <a:rPr lang="en-US" i="1"/>
                <a:t>P</a:t>
              </a:r>
              <a:r>
                <a:rPr lang="en-US" baseline="-25000"/>
                <a:t>2 </a:t>
              </a:r>
              <a:r>
                <a:rPr lang="en-US"/>
                <a:t>with each containing a couple</a:t>
              </a:r>
            </a:p>
          </p:txBody>
        </p:sp>
        <p:graphicFrame>
          <p:nvGraphicFramePr>
            <p:cNvPr id="82946" name="Object 1026"/>
            <p:cNvGraphicFramePr>
              <a:graphicFrameLocks noChangeAspect="1"/>
            </p:cNvGraphicFramePr>
            <p:nvPr/>
          </p:nvGraphicFramePr>
          <p:xfrm>
            <a:off x="1488" y="1200"/>
            <a:ext cx="1488" cy="480"/>
          </p:xfrm>
          <a:graphic>
            <a:graphicData uri="http://schemas.openxmlformats.org/presentationml/2006/ole">
              <p:oleObj spid="_x0000_s303108" name="Equation" r:id="rId4" imgW="2361960" imgH="761760" progId="Equation.3">
                <p:embed/>
              </p:oleObj>
            </a:graphicData>
          </a:graphic>
        </p:graphicFrame>
      </p:grpSp>
      <p:grpSp>
        <p:nvGrpSpPr>
          <p:cNvPr id="3" name="Group 13"/>
          <p:cNvGrpSpPr>
            <a:grpSpLocks/>
          </p:cNvGrpSpPr>
          <p:nvPr/>
        </p:nvGrpSpPr>
        <p:grpSpPr bwMode="auto">
          <a:xfrm>
            <a:off x="344488" y="2813051"/>
            <a:ext cx="4394200" cy="1187451"/>
            <a:chOff x="217" y="1795"/>
            <a:chExt cx="2768" cy="748"/>
          </a:xfrm>
        </p:grpSpPr>
        <p:sp>
          <p:nvSpPr>
            <p:cNvPr id="37903" name="Text Box 7"/>
            <p:cNvSpPr txBox="1">
              <a:spLocks noChangeArrowheads="1"/>
            </p:cNvSpPr>
            <p:nvPr/>
          </p:nvSpPr>
          <p:spPr bwMode="auto">
            <a:xfrm>
              <a:off x="217" y="1795"/>
              <a:ext cx="2768" cy="442"/>
            </a:xfrm>
            <a:prstGeom prst="rect">
              <a:avLst/>
            </a:prstGeom>
            <a:noFill/>
            <a:ln w="9525">
              <a:noFill/>
              <a:miter lim="800000"/>
              <a:headEnd/>
              <a:tailEnd/>
            </a:ln>
          </p:spPr>
          <p:txBody>
            <a:bodyPr>
              <a:spAutoFit/>
            </a:bodyPr>
            <a:lstStyle/>
            <a:p>
              <a:pPr marL="227013" indent="-227013">
                <a:spcBef>
                  <a:spcPct val="50000"/>
                </a:spcBef>
                <a:buFontTx/>
                <a:buChar char="•"/>
              </a:pPr>
              <a:r>
                <a:rPr lang="en-US"/>
                <a:t>Resultants of the vectors also form a couple</a:t>
              </a:r>
            </a:p>
          </p:txBody>
        </p:sp>
        <p:graphicFrame>
          <p:nvGraphicFramePr>
            <p:cNvPr id="82945" name="Object 1025"/>
            <p:cNvGraphicFramePr>
              <a:graphicFrameLocks noChangeAspect="1"/>
            </p:cNvGraphicFramePr>
            <p:nvPr/>
          </p:nvGraphicFramePr>
          <p:xfrm>
            <a:off x="1392" y="2327"/>
            <a:ext cx="1584" cy="216"/>
          </p:xfrm>
          <a:graphic>
            <a:graphicData uri="http://schemas.openxmlformats.org/presentationml/2006/ole">
              <p:oleObj spid="_x0000_s303107" name="Equation" r:id="rId5" imgW="2514600" imgH="342720" progId="Equation.3">
                <p:embed/>
              </p:oleObj>
            </a:graphicData>
          </a:graphic>
        </p:graphicFrame>
      </p:grpSp>
      <p:grpSp>
        <p:nvGrpSpPr>
          <p:cNvPr id="4" name="Group 14"/>
          <p:cNvGrpSpPr>
            <a:grpSpLocks/>
          </p:cNvGrpSpPr>
          <p:nvPr/>
        </p:nvGrpSpPr>
        <p:grpSpPr bwMode="auto">
          <a:xfrm>
            <a:off x="344488" y="4194175"/>
            <a:ext cx="4179887" cy="1243013"/>
            <a:chOff x="217" y="2619"/>
            <a:chExt cx="2633" cy="783"/>
          </a:xfrm>
        </p:grpSpPr>
        <p:sp>
          <p:nvSpPr>
            <p:cNvPr id="37902" name="Text Box 9"/>
            <p:cNvSpPr txBox="1">
              <a:spLocks noChangeArrowheads="1"/>
            </p:cNvSpPr>
            <p:nvPr/>
          </p:nvSpPr>
          <p:spPr bwMode="auto">
            <a:xfrm>
              <a:off x="217" y="2619"/>
              <a:ext cx="2633" cy="250"/>
            </a:xfrm>
            <a:prstGeom prst="rect">
              <a:avLst/>
            </a:prstGeom>
            <a:noFill/>
            <a:ln w="9525">
              <a:noFill/>
              <a:miter lim="800000"/>
              <a:headEnd/>
              <a:tailEnd/>
            </a:ln>
          </p:spPr>
          <p:txBody>
            <a:bodyPr>
              <a:spAutoFit/>
            </a:bodyPr>
            <a:lstStyle/>
            <a:p>
              <a:pPr marL="227013" indent="-227013">
                <a:spcBef>
                  <a:spcPct val="50000"/>
                </a:spcBef>
                <a:buFontTx/>
                <a:buChar char="•"/>
              </a:pPr>
              <a:r>
                <a:rPr lang="en-US"/>
                <a:t>By Varigon’s theorem</a:t>
              </a:r>
            </a:p>
          </p:txBody>
        </p:sp>
        <p:graphicFrame>
          <p:nvGraphicFramePr>
            <p:cNvPr id="82944" name="Object 1024"/>
            <p:cNvGraphicFramePr>
              <a:graphicFrameLocks noChangeAspect="1"/>
            </p:cNvGraphicFramePr>
            <p:nvPr/>
          </p:nvGraphicFramePr>
          <p:xfrm>
            <a:off x="602" y="2922"/>
            <a:ext cx="1208" cy="480"/>
          </p:xfrm>
          <a:graphic>
            <a:graphicData uri="http://schemas.openxmlformats.org/presentationml/2006/ole">
              <p:oleObj spid="_x0000_s303106" name="Equation" r:id="rId6" imgW="1917360" imgH="761760" progId="Equation.3">
                <p:embed/>
              </p:oleObj>
            </a:graphicData>
          </a:graphic>
        </p:graphicFrame>
      </p:grpSp>
      <p:grpSp>
        <p:nvGrpSpPr>
          <p:cNvPr id="5" name="Group 16"/>
          <p:cNvGrpSpPr>
            <a:grpSpLocks/>
          </p:cNvGrpSpPr>
          <p:nvPr/>
        </p:nvGrpSpPr>
        <p:grpSpPr bwMode="auto">
          <a:xfrm>
            <a:off x="381000" y="3886200"/>
            <a:ext cx="7399337" cy="2352675"/>
            <a:chOff x="217" y="2558"/>
            <a:chExt cx="4661" cy="1482"/>
          </a:xfrm>
        </p:grpSpPr>
        <p:pic>
          <p:nvPicPr>
            <p:cNvPr id="37900" name="Picture 4" descr="C:\DOCUME~1\WALTOL~1\LOCALS~1\Temp\\msotw9_temp0.jpg"/>
            <p:cNvPicPr>
              <a:picLocks noChangeAspect="1" noChangeArrowheads="1"/>
            </p:cNvPicPr>
            <p:nvPr/>
          </p:nvPicPr>
          <p:blipFill>
            <a:blip r:embed="rId7" cstate="print"/>
            <a:srcRect/>
            <a:stretch>
              <a:fillRect/>
            </a:stretch>
          </p:blipFill>
          <p:spPr bwMode="auto">
            <a:xfrm>
              <a:off x="3828" y="2558"/>
              <a:ext cx="1050" cy="1248"/>
            </a:xfrm>
            <a:prstGeom prst="rect">
              <a:avLst/>
            </a:prstGeom>
            <a:noFill/>
            <a:ln w="9525">
              <a:noFill/>
              <a:miter lim="800000"/>
              <a:headEnd/>
              <a:tailEnd/>
            </a:ln>
          </p:spPr>
        </p:pic>
        <p:sp>
          <p:nvSpPr>
            <p:cNvPr id="37901" name="Text Box 11"/>
            <p:cNvSpPr txBox="1">
              <a:spLocks noChangeArrowheads="1"/>
            </p:cNvSpPr>
            <p:nvPr/>
          </p:nvSpPr>
          <p:spPr bwMode="auto">
            <a:xfrm>
              <a:off x="217" y="3598"/>
              <a:ext cx="3373" cy="442"/>
            </a:xfrm>
            <a:prstGeom prst="rect">
              <a:avLst/>
            </a:prstGeom>
            <a:noFill/>
            <a:ln w="9525">
              <a:noFill/>
              <a:miter lim="800000"/>
              <a:headEnd/>
              <a:tailEnd/>
            </a:ln>
          </p:spPr>
          <p:txBody>
            <a:bodyPr>
              <a:spAutoFit/>
            </a:bodyPr>
            <a:lstStyle/>
            <a:p>
              <a:pPr marL="227013" indent="-227013">
                <a:spcBef>
                  <a:spcPct val="50000"/>
                </a:spcBef>
                <a:buFontTx/>
                <a:buChar char="•"/>
              </a:pPr>
              <a:r>
                <a:rPr lang="en-US" dirty="0"/>
                <a:t>Sum of two couples is also a couple that is equal to the vector sum of the two couples</a:t>
              </a:r>
            </a:p>
          </p:txBody>
        </p:sp>
      </p:grpSp>
      <p:sp>
        <p:nvSpPr>
          <p:cNvPr id="17" name="Date Placeholder 16"/>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18" name="Footer Placeholder 17"/>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990600" y="-304800"/>
            <a:ext cx="7772400" cy="1143000"/>
          </a:xfrm>
        </p:spPr>
        <p:txBody>
          <a:bodyPr/>
          <a:lstStyle/>
          <a:p>
            <a:r>
              <a:rPr lang="en-US" sz="3600" dirty="0" smtClean="0">
                <a:ea typeface="ＭＳ Ｐゴシック" charset="-128"/>
              </a:rPr>
              <a:t>Couples Can Be Represented by Vectors</a:t>
            </a:r>
          </a:p>
        </p:txBody>
      </p:sp>
      <p:sp>
        <p:nvSpPr>
          <p:cNvPr id="8" name="Slide Number Placeholder 2"/>
          <p:cNvSpPr>
            <a:spLocks noGrp="1"/>
          </p:cNvSpPr>
          <p:nvPr>
            <p:ph type="sldNum" sz="quarter" idx="10"/>
          </p:nvPr>
        </p:nvSpPr>
        <p:spPr>
          <a:xfrm>
            <a:off x="8610600" y="6400800"/>
            <a:ext cx="533400" cy="457200"/>
          </a:xfrm>
        </p:spPr>
        <p:txBody>
          <a:bodyPr/>
          <a:lstStyle/>
          <a:p>
            <a:r>
              <a:rPr lang="en-US" dirty="0" smtClean="0"/>
              <a:t> </a:t>
            </a:r>
            <a:fld id="{61C3A68F-5C85-4018-B550-99ACD9FA2AAE}" type="slidenum">
              <a:rPr lang="en-US" sz="2400"/>
              <a:pPr/>
              <a:t>37</a:t>
            </a:fld>
            <a:endParaRPr lang="en-US" sz="2400" dirty="0"/>
          </a:p>
        </p:txBody>
      </p:sp>
      <p:pic>
        <p:nvPicPr>
          <p:cNvPr id="38916" name="Picture 3" descr="C:\DOCUME~1\WALTOL~1\LOCALS~1\Temp\\msotw9_temp0.jpg"/>
          <p:cNvPicPr>
            <a:picLocks noChangeAspect="1" noChangeArrowheads="1"/>
          </p:cNvPicPr>
          <p:nvPr/>
        </p:nvPicPr>
        <p:blipFill>
          <a:blip r:embed="rId2" cstate="print"/>
          <a:srcRect/>
          <a:stretch>
            <a:fillRect/>
          </a:stretch>
        </p:blipFill>
        <p:spPr bwMode="auto">
          <a:xfrm>
            <a:off x="835025" y="1119188"/>
            <a:ext cx="7467600" cy="1644650"/>
          </a:xfrm>
          <a:prstGeom prst="rect">
            <a:avLst/>
          </a:prstGeom>
          <a:noFill/>
          <a:ln w="9525">
            <a:noFill/>
            <a:miter lim="800000"/>
            <a:headEnd/>
            <a:tailEnd/>
          </a:ln>
        </p:spPr>
      </p:pic>
      <p:sp>
        <p:nvSpPr>
          <p:cNvPr id="38917" name="Text Box 5"/>
          <p:cNvSpPr txBox="1">
            <a:spLocks noChangeArrowheads="1"/>
          </p:cNvSpPr>
          <p:nvPr/>
        </p:nvSpPr>
        <p:spPr bwMode="auto">
          <a:xfrm>
            <a:off x="1317625" y="3017838"/>
            <a:ext cx="6272213" cy="701675"/>
          </a:xfrm>
          <a:prstGeom prst="rect">
            <a:avLst/>
          </a:prstGeom>
          <a:noFill/>
          <a:ln w="9525">
            <a:noFill/>
            <a:miter lim="800000"/>
            <a:headEnd/>
            <a:tailEnd/>
          </a:ln>
        </p:spPr>
        <p:txBody>
          <a:bodyPr>
            <a:spAutoFit/>
          </a:bodyPr>
          <a:lstStyle/>
          <a:p>
            <a:pPr marL="227013" indent="-227013">
              <a:spcBef>
                <a:spcPct val="50000"/>
              </a:spcBef>
              <a:buFontTx/>
              <a:buChar char="•"/>
            </a:pPr>
            <a:r>
              <a:rPr lang="en-US"/>
              <a:t>A couple can be represented by a vector with magnitude and direction equal to the moment of the couple.</a:t>
            </a:r>
          </a:p>
        </p:txBody>
      </p:sp>
      <p:sp>
        <p:nvSpPr>
          <p:cNvPr id="23558" name="Text Box 6"/>
          <p:cNvSpPr txBox="1">
            <a:spLocks noChangeArrowheads="1"/>
          </p:cNvSpPr>
          <p:nvPr/>
        </p:nvSpPr>
        <p:spPr bwMode="auto">
          <a:xfrm>
            <a:off x="1317625" y="3997325"/>
            <a:ext cx="6353175" cy="396875"/>
          </a:xfrm>
          <a:prstGeom prst="rect">
            <a:avLst/>
          </a:prstGeom>
          <a:noFill/>
          <a:ln w="9525">
            <a:noFill/>
            <a:miter lim="800000"/>
            <a:headEnd/>
            <a:tailEnd/>
          </a:ln>
        </p:spPr>
        <p:txBody>
          <a:bodyPr>
            <a:spAutoFit/>
          </a:bodyPr>
          <a:lstStyle/>
          <a:p>
            <a:pPr marL="227013" indent="-227013">
              <a:spcBef>
                <a:spcPct val="50000"/>
              </a:spcBef>
              <a:buFontTx/>
              <a:buChar char="•"/>
            </a:pPr>
            <a:r>
              <a:rPr lang="en-US" i="1"/>
              <a:t>Couple vectors</a:t>
            </a:r>
            <a:r>
              <a:rPr lang="en-US"/>
              <a:t> obey the law of addition of vectors.</a:t>
            </a:r>
          </a:p>
        </p:txBody>
      </p:sp>
      <p:sp>
        <p:nvSpPr>
          <p:cNvPr id="23559" name="Text Box 7"/>
          <p:cNvSpPr txBox="1">
            <a:spLocks noChangeArrowheads="1"/>
          </p:cNvSpPr>
          <p:nvPr/>
        </p:nvSpPr>
        <p:spPr bwMode="auto">
          <a:xfrm>
            <a:off x="1317625" y="4672013"/>
            <a:ext cx="6543675" cy="701675"/>
          </a:xfrm>
          <a:prstGeom prst="rect">
            <a:avLst/>
          </a:prstGeom>
          <a:noFill/>
          <a:ln w="9525">
            <a:noFill/>
            <a:miter lim="800000"/>
            <a:headEnd/>
            <a:tailEnd/>
          </a:ln>
        </p:spPr>
        <p:txBody>
          <a:bodyPr>
            <a:spAutoFit/>
          </a:bodyPr>
          <a:lstStyle/>
          <a:p>
            <a:pPr marL="227013" indent="-227013">
              <a:spcBef>
                <a:spcPct val="50000"/>
              </a:spcBef>
              <a:buFontTx/>
              <a:buChar char="•"/>
            </a:pPr>
            <a:r>
              <a:rPr lang="en-US"/>
              <a:t>Couple vectors are free vectors, i.e., the point of application is not significant.</a:t>
            </a:r>
          </a:p>
        </p:txBody>
      </p:sp>
      <p:sp>
        <p:nvSpPr>
          <p:cNvPr id="23560" name="Text Box 8"/>
          <p:cNvSpPr txBox="1">
            <a:spLocks noChangeArrowheads="1"/>
          </p:cNvSpPr>
          <p:nvPr/>
        </p:nvSpPr>
        <p:spPr bwMode="auto">
          <a:xfrm>
            <a:off x="1317625" y="5653088"/>
            <a:ext cx="6329363" cy="396875"/>
          </a:xfrm>
          <a:prstGeom prst="rect">
            <a:avLst/>
          </a:prstGeom>
          <a:noFill/>
          <a:ln w="9525">
            <a:noFill/>
            <a:miter lim="800000"/>
            <a:headEnd/>
            <a:tailEnd/>
          </a:ln>
        </p:spPr>
        <p:txBody>
          <a:bodyPr>
            <a:spAutoFit/>
          </a:bodyPr>
          <a:lstStyle/>
          <a:p>
            <a:pPr marL="227013" indent="-227013">
              <a:spcBef>
                <a:spcPct val="50000"/>
              </a:spcBef>
              <a:buFontTx/>
              <a:buChar char="•"/>
            </a:pPr>
            <a:r>
              <a:rPr lang="en-US" dirty="0"/>
              <a:t>Couple vectors may be resolved into component vectors.</a:t>
            </a:r>
          </a:p>
        </p:txBody>
      </p:sp>
      <p:sp>
        <p:nvSpPr>
          <p:cNvPr id="9" name="Date Placeholder 8"/>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0" name="Footer Placeholder 9"/>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autoUpdateAnimBg="0"/>
      <p:bldP spid="23559" grpId="0" autoUpdateAnimBg="0"/>
      <p:bldP spid="23560"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90600" y="0"/>
            <a:ext cx="7772400" cy="1143000"/>
          </a:xfrm>
        </p:spPr>
        <p:txBody>
          <a:bodyPr/>
          <a:lstStyle/>
          <a:p>
            <a:r>
              <a:rPr lang="en-US" dirty="0" smtClean="0"/>
              <a:t>Equivalent Couples</a:t>
            </a:r>
            <a:endParaRPr lang="en-US" dirty="0"/>
          </a:p>
        </p:txBody>
      </p:sp>
      <p:sp>
        <p:nvSpPr>
          <p:cNvPr id="6" name="Content Placeholder 5"/>
          <p:cNvSpPr>
            <a:spLocks noGrp="1"/>
          </p:cNvSpPr>
          <p:nvPr>
            <p:ph idx="1"/>
          </p:nvPr>
        </p:nvSpPr>
        <p:spPr>
          <a:xfrm>
            <a:off x="1066800" y="1219200"/>
            <a:ext cx="7772400" cy="4114800"/>
          </a:xfrm>
        </p:spPr>
        <p:txBody>
          <a:bodyPr/>
          <a:lstStyle/>
          <a:p>
            <a:r>
              <a:rPr lang="en-US" sz="2800" dirty="0" smtClean="0"/>
              <a:t>Two couples are said to be equivalent if they have the same moment. </a:t>
            </a:r>
          </a:p>
          <a:p>
            <a:pPr>
              <a:buNone/>
            </a:pPr>
            <a:endParaRPr lang="en-US" sz="2800" dirty="0" smtClean="0"/>
          </a:p>
          <a:p>
            <a:r>
              <a:rPr lang="en-US" sz="2800" dirty="0" smtClean="0"/>
              <a:t>The forces of equivalent couples must lie either in the same plane or in planes that are parallel to each other.</a:t>
            </a:r>
          </a:p>
          <a:p>
            <a:endParaRPr lang="en-US" dirty="0" smtClean="0"/>
          </a:p>
          <a:p>
            <a:endParaRPr lang="en-US" dirty="0"/>
          </a:p>
        </p:txBody>
      </p:sp>
      <p:sp>
        <p:nvSpPr>
          <p:cNvPr id="3" name="Footer Placeholder 2"/>
          <p:cNvSpPr>
            <a:spLocks noGrp="1"/>
          </p:cNvSpPr>
          <p:nvPr>
            <p:ph type="ftr" sz="quarter" idx="11"/>
          </p:nvPr>
        </p:nvSpPr>
        <p:spPr/>
        <p:txBody>
          <a:bodyPr/>
          <a:lstStyle/>
          <a:p>
            <a:r>
              <a:rPr lang="fi-FI" smtClean="0"/>
              <a:t>Dr. Nana Sarfo Agyemang Derkyi</a:t>
            </a:r>
            <a:endParaRPr lang="en-GB"/>
          </a:p>
        </p:txBody>
      </p:sp>
      <p:sp>
        <p:nvSpPr>
          <p:cNvPr id="4" name="Slide Number Placeholder 3"/>
          <p:cNvSpPr>
            <a:spLocks noGrp="1"/>
          </p:cNvSpPr>
          <p:nvPr>
            <p:ph type="sldNum" sz="quarter" idx="12"/>
          </p:nvPr>
        </p:nvSpPr>
        <p:spPr/>
        <p:txBody>
          <a:bodyPr/>
          <a:lstStyle/>
          <a:p>
            <a:fld id="{DAE1B9F5-D994-44C1-ABFE-3725D93B0B3F}" type="slidenum">
              <a:rPr lang="en-GB" smtClean="0"/>
              <a:pPr/>
              <a:t>38</a:t>
            </a:fld>
            <a:endParaRPr lang="en-GB" sz="1400"/>
          </a:p>
        </p:txBody>
      </p:sp>
      <p:pic>
        <p:nvPicPr>
          <p:cNvPr id="304131" name="Picture 3"/>
          <p:cNvPicPr>
            <a:picLocks noChangeAspect="1" noChangeArrowheads="1"/>
          </p:cNvPicPr>
          <p:nvPr/>
        </p:nvPicPr>
        <p:blipFill>
          <a:blip r:embed="rId2" cstate="print"/>
          <a:srcRect/>
          <a:stretch>
            <a:fillRect/>
          </a:stretch>
        </p:blipFill>
        <p:spPr bwMode="auto">
          <a:xfrm>
            <a:off x="685800" y="3962400"/>
            <a:ext cx="8470309" cy="2295525"/>
          </a:xfrm>
          <a:prstGeom prst="rect">
            <a:avLst/>
          </a:prstGeom>
          <a:noFill/>
          <a:ln w="9525">
            <a:noFill/>
            <a:miter lim="800000"/>
            <a:headEnd/>
            <a:tailEnd/>
          </a:ln>
        </p:spPr>
      </p:pic>
      <p:sp>
        <p:nvSpPr>
          <p:cNvPr id="9" name="Date Placeholder 8"/>
          <p:cNvSpPr>
            <a:spLocks noGrp="1"/>
          </p:cNvSpPr>
          <p:nvPr>
            <p:ph type="dt" sz="half" idx="10"/>
          </p:nvPr>
        </p:nvSpPr>
        <p:spPr/>
        <p:txBody>
          <a:bodyPr/>
          <a:lstStyle/>
          <a:p>
            <a:r>
              <a:rPr lang="en-US" smtClean="0"/>
              <a:t>Engineering Mechanics</a:t>
            </a:r>
            <a:endParaRPr lang="en-GB"/>
          </a:p>
        </p:txBody>
      </p:sp>
    </p:spTree>
  </p:cSld>
  <p:clrMapOvr>
    <a:masterClrMapping/>
  </p:clrMapOvr>
  <p:transition>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EQUILIBRIUM OF RIGID BODIES</a:t>
            </a:r>
            <a:endParaRPr lang="en-US" dirty="0"/>
          </a:p>
        </p:txBody>
      </p:sp>
      <p:sp>
        <p:nvSpPr>
          <p:cNvPr id="7" name="Subtitle 6"/>
          <p:cNvSpPr>
            <a:spLocks noGrp="1"/>
          </p:cNvSpPr>
          <p:nvPr>
            <p:ph type="subTitle" idx="1"/>
          </p:nvPr>
        </p:nvSpPr>
        <p:spPr/>
        <p:txBody>
          <a:bodyPr/>
          <a:lstStyle/>
          <a:p>
            <a:endParaRPr lang="en-US"/>
          </a:p>
        </p:txBody>
      </p:sp>
    </p:spTree>
  </p:cSld>
  <p:clrMapOvr>
    <a:masterClrMapping/>
  </p:clrMapOvr>
  <p:transition>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1066800" y="-228600"/>
            <a:ext cx="7772400" cy="1143000"/>
          </a:xfrm>
        </p:spPr>
        <p:txBody>
          <a:bodyPr/>
          <a:lstStyle/>
          <a:p>
            <a:r>
              <a:rPr lang="en-US" dirty="0" smtClean="0">
                <a:ea typeface="ＭＳ Ｐゴシック" charset="-128"/>
              </a:rPr>
              <a:t>Introduction</a:t>
            </a:r>
          </a:p>
        </p:txBody>
      </p:sp>
      <p:sp>
        <p:nvSpPr>
          <p:cNvPr id="10" name="Slide Number Placeholder 2"/>
          <p:cNvSpPr>
            <a:spLocks noGrp="1"/>
          </p:cNvSpPr>
          <p:nvPr>
            <p:ph type="sldNum" sz="quarter" idx="10"/>
          </p:nvPr>
        </p:nvSpPr>
        <p:spPr>
          <a:xfrm>
            <a:off x="8382000" y="6400800"/>
            <a:ext cx="533400" cy="457200"/>
          </a:xfrm>
        </p:spPr>
        <p:txBody>
          <a:bodyPr/>
          <a:lstStyle/>
          <a:p>
            <a:r>
              <a:rPr lang="en-US" sz="2400" dirty="0" smtClean="0"/>
              <a:t> </a:t>
            </a:r>
            <a:fld id="{39B4798D-32AA-46C7-B570-60CA114A81DD}" type="slidenum">
              <a:rPr lang="en-US" sz="2400" smtClean="0"/>
              <a:pPr/>
              <a:t>40</a:t>
            </a:fld>
            <a:endParaRPr lang="en-US" sz="2400" dirty="0"/>
          </a:p>
        </p:txBody>
      </p:sp>
      <p:grpSp>
        <p:nvGrpSpPr>
          <p:cNvPr id="2" name="Group 13"/>
          <p:cNvGrpSpPr>
            <a:grpSpLocks/>
          </p:cNvGrpSpPr>
          <p:nvPr/>
        </p:nvGrpSpPr>
        <p:grpSpPr bwMode="auto">
          <a:xfrm>
            <a:off x="998538" y="2398713"/>
            <a:ext cx="7564437" cy="1552575"/>
            <a:chOff x="427" y="1467"/>
            <a:chExt cx="4765" cy="978"/>
          </a:xfrm>
        </p:grpSpPr>
        <p:sp>
          <p:nvSpPr>
            <p:cNvPr id="8202" name="Text Box 3"/>
            <p:cNvSpPr txBox="1">
              <a:spLocks noChangeArrowheads="1"/>
            </p:cNvSpPr>
            <p:nvPr/>
          </p:nvSpPr>
          <p:spPr bwMode="auto">
            <a:xfrm>
              <a:off x="427" y="1467"/>
              <a:ext cx="4765"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The necessary and sufficient condition for the static equilibrium of a body are that the resultant force and couple from all external forces form a system equivalent to zero,</a:t>
              </a:r>
            </a:p>
          </p:txBody>
        </p:sp>
        <p:graphicFrame>
          <p:nvGraphicFramePr>
            <p:cNvPr id="8195" name="Object 3"/>
            <p:cNvGraphicFramePr>
              <a:graphicFrameLocks noChangeAspect="1"/>
            </p:cNvGraphicFramePr>
            <p:nvPr/>
          </p:nvGraphicFramePr>
          <p:xfrm>
            <a:off x="823" y="2221"/>
            <a:ext cx="2048" cy="224"/>
          </p:xfrm>
          <a:graphic>
            <a:graphicData uri="http://schemas.openxmlformats.org/presentationml/2006/ole">
              <p:oleObj spid="_x0000_s305155" name="Equation" r:id="rId3" imgW="3251160" imgH="355320" progId="Equation.3">
                <p:embed/>
              </p:oleObj>
            </a:graphicData>
          </a:graphic>
        </p:graphicFrame>
      </p:grpSp>
      <p:grpSp>
        <p:nvGrpSpPr>
          <p:cNvPr id="3" name="Group 14"/>
          <p:cNvGrpSpPr>
            <a:grpSpLocks/>
          </p:cNvGrpSpPr>
          <p:nvPr/>
        </p:nvGrpSpPr>
        <p:grpSpPr bwMode="auto">
          <a:xfrm>
            <a:off x="998538" y="4262438"/>
            <a:ext cx="7516812" cy="1892300"/>
            <a:chOff x="427" y="2685"/>
            <a:chExt cx="4735" cy="1192"/>
          </a:xfrm>
        </p:grpSpPr>
        <p:graphicFrame>
          <p:nvGraphicFramePr>
            <p:cNvPr id="8194" name="Object 2"/>
            <p:cNvGraphicFramePr>
              <a:graphicFrameLocks noChangeAspect="1"/>
            </p:cNvGraphicFramePr>
            <p:nvPr/>
          </p:nvGraphicFramePr>
          <p:xfrm>
            <a:off x="823" y="3413"/>
            <a:ext cx="2200" cy="464"/>
          </p:xfrm>
          <a:graphic>
            <a:graphicData uri="http://schemas.openxmlformats.org/presentationml/2006/ole">
              <p:oleObj spid="_x0000_s305154" name="Equation" r:id="rId4" imgW="3492360" imgH="736560" progId="Equation.3">
                <p:embed/>
              </p:oleObj>
            </a:graphicData>
          </a:graphic>
        </p:graphicFrame>
        <p:sp>
          <p:nvSpPr>
            <p:cNvPr id="8201" name="Text Box 10"/>
            <p:cNvSpPr txBox="1">
              <a:spLocks noChangeArrowheads="1"/>
            </p:cNvSpPr>
            <p:nvPr/>
          </p:nvSpPr>
          <p:spPr bwMode="auto">
            <a:xfrm>
              <a:off x="427" y="2685"/>
              <a:ext cx="4735"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Resolving each force and moment into its rectangular components leads to 6 scalar equations which also express the conditions for static equilibrium,</a:t>
              </a:r>
            </a:p>
          </p:txBody>
        </p:sp>
      </p:grpSp>
      <p:sp>
        <p:nvSpPr>
          <p:cNvPr id="8200" name="Text Box 11"/>
          <p:cNvSpPr txBox="1">
            <a:spLocks noChangeArrowheads="1"/>
          </p:cNvSpPr>
          <p:nvPr/>
        </p:nvSpPr>
        <p:spPr bwMode="auto">
          <a:xfrm>
            <a:off x="998538" y="1081088"/>
            <a:ext cx="7256462" cy="10064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For a rigid body in static equilibrium, the external forces and moments are balanced and will impart no translational or rotational motion to the body.</a:t>
            </a:r>
          </a:p>
        </p:txBody>
      </p:sp>
      <p:sp>
        <p:nvSpPr>
          <p:cNvPr id="11" name="Date Placeholder 10"/>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2" name="Footer Placeholder 11"/>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90600" y="-304800"/>
            <a:ext cx="7772400" cy="1143000"/>
          </a:xfrm>
        </p:spPr>
        <p:txBody>
          <a:bodyPr/>
          <a:lstStyle/>
          <a:p>
            <a:r>
              <a:rPr lang="en-US" smtClean="0">
                <a:ea typeface="ＭＳ Ｐゴシック" charset="-128"/>
              </a:rPr>
              <a:t>Free-Body Diagram</a:t>
            </a:r>
          </a:p>
        </p:txBody>
      </p:sp>
      <p:sp>
        <p:nvSpPr>
          <p:cNvPr id="12" name="Slide Number Placeholder 2"/>
          <p:cNvSpPr>
            <a:spLocks noGrp="1"/>
          </p:cNvSpPr>
          <p:nvPr>
            <p:ph type="sldNum" sz="quarter" idx="10"/>
          </p:nvPr>
        </p:nvSpPr>
        <p:spPr>
          <a:xfrm>
            <a:off x="8534400" y="6400800"/>
            <a:ext cx="609600" cy="457200"/>
          </a:xfrm>
        </p:spPr>
        <p:txBody>
          <a:bodyPr/>
          <a:lstStyle/>
          <a:p>
            <a:r>
              <a:rPr lang="en-US" dirty="0" smtClean="0"/>
              <a:t> </a:t>
            </a:r>
            <a:fld id="{C92DAB13-045F-4214-B453-92434AC5C734}" type="slidenum">
              <a:rPr lang="en-US" sz="2400"/>
              <a:pPr/>
              <a:t>41</a:t>
            </a:fld>
            <a:endParaRPr lang="en-US" sz="2400" dirty="0"/>
          </a:p>
        </p:txBody>
      </p:sp>
      <p:grpSp>
        <p:nvGrpSpPr>
          <p:cNvPr id="2" name="Group 19"/>
          <p:cNvGrpSpPr>
            <a:grpSpLocks/>
          </p:cNvGrpSpPr>
          <p:nvPr/>
        </p:nvGrpSpPr>
        <p:grpSpPr bwMode="auto">
          <a:xfrm>
            <a:off x="285750" y="982663"/>
            <a:ext cx="8572500" cy="2640012"/>
            <a:chOff x="216" y="566"/>
            <a:chExt cx="5400" cy="1663"/>
          </a:xfrm>
        </p:grpSpPr>
        <p:sp>
          <p:nvSpPr>
            <p:cNvPr id="9227" name="Text Box 9"/>
            <p:cNvSpPr txBox="1">
              <a:spLocks noChangeArrowheads="1"/>
            </p:cNvSpPr>
            <p:nvPr/>
          </p:nvSpPr>
          <p:spPr bwMode="auto">
            <a:xfrm>
              <a:off x="2496" y="612"/>
              <a:ext cx="3120" cy="577"/>
            </a:xfrm>
            <a:prstGeom prst="rect">
              <a:avLst/>
            </a:prstGeom>
            <a:noFill/>
            <a:ln w="9525">
              <a:noFill/>
              <a:miter lim="800000"/>
              <a:headEnd/>
              <a:tailEnd/>
            </a:ln>
          </p:spPr>
          <p:txBody>
            <a:bodyPr>
              <a:spAutoFit/>
            </a:bodyPr>
            <a:lstStyle/>
            <a:p>
              <a:pPr>
                <a:spcBef>
                  <a:spcPct val="50000"/>
                </a:spcBef>
              </a:pPr>
              <a:r>
                <a:rPr lang="en-US" sz="1800" b="0"/>
                <a:t>First step in the static equilibrium analysis of a rigid body is identification of all forces acting on the body with a </a:t>
              </a:r>
              <a:r>
                <a:rPr lang="en-US" sz="1800" b="0" i="1"/>
                <a:t>free-body</a:t>
              </a:r>
              <a:r>
                <a:rPr lang="en-US" sz="1800" b="0"/>
                <a:t> diagram.</a:t>
              </a:r>
            </a:p>
          </p:txBody>
        </p:sp>
        <p:pic>
          <p:nvPicPr>
            <p:cNvPr id="9228" name="Picture 14" descr="C:\DOCUME~1\WALTOL~1\LOCALS~1\Temp\\msotw9_temp0.jpg"/>
            <p:cNvPicPr>
              <a:picLocks noChangeAspect="1" noChangeArrowheads="1"/>
            </p:cNvPicPr>
            <p:nvPr/>
          </p:nvPicPr>
          <p:blipFill>
            <a:blip r:embed="rId2" cstate="print"/>
            <a:srcRect/>
            <a:stretch>
              <a:fillRect/>
            </a:stretch>
          </p:blipFill>
          <p:spPr bwMode="auto">
            <a:xfrm>
              <a:off x="216" y="566"/>
              <a:ext cx="2114" cy="1663"/>
            </a:xfrm>
            <a:prstGeom prst="rect">
              <a:avLst/>
            </a:prstGeom>
            <a:noFill/>
            <a:ln w="9525">
              <a:noFill/>
              <a:miter lim="800000"/>
              <a:headEnd/>
              <a:tailEnd/>
            </a:ln>
          </p:spPr>
        </p:pic>
      </p:grpSp>
      <p:grpSp>
        <p:nvGrpSpPr>
          <p:cNvPr id="3" name="Group 20"/>
          <p:cNvGrpSpPr>
            <a:grpSpLocks/>
          </p:cNvGrpSpPr>
          <p:nvPr/>
        </p:nvGrpSpPr>
        <p:grpSpPr bwMode="auto">
          <a:xfrm>
            <a:off x="404813" y="2109788"/>
            <a:ext cx="8334375" cy="4202112"/>
            <a:chOff x="222" y="1307"/>
            <a:chExt cx="5250" cy="2647"/>
          </a:xfrm>
        </p:grpSpPr>
        <p:sp>
          <p:nvSpPr>
            <p:cNvPr id="9225" name="Text Box 11"/>
            <p:cNvSpPr txBox="1">
              <a:spLocks noChangeArrowheads="1"/>
            </p:cNvSpPr>
            <p:nvPr/>
          </p:nvSpPr>
          <p:spPr bwMode="auto">
            <a:xfrm>
              <a:off x="2496" y="1307"/>
              <a:ext cx="2976" cy="404"/>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Select the extent of the free-body and detach it from the ground and all other bodies.</a:t>
              </a:r>
            </a:p>
          </p:txBody>
        </p:sp>
        <p:pic>
          <p:nvPicPr>
            <p:cNvPr id="9226" name="Picture 15" descr="C:\DOCUME~1\WALTOL~1\LOCALS~1\Temp\\msotw9_temp0.jpg"/>
            <p:cNvPicPr>
              <a:picLocks noChangeAspect="1" noChangeArrowheads="1"/>
            </p:cNvPicPr>
            <p:nvPr/>
          </p:nvPicPr>
          <p:blipFill>
            <a:blip r:embed="rId3" cstate="print"/>
            <a:srcRect/>
            <a:stretch>
              <a:fillRect/>
            </a:stretch>
          </p:blipFill>
          <p:spPr bwMode="auto">
            <a:xfrm>
              <a:off x="222" y="2340"/>
              <a:ext cx="2266" cy="1614"/>
            </a:xfrm>
            <a:prstGeom prst="rect">
              <a:avLst/>
            </a:prstGeom>
            <a:noFill/>
            <a:ln w="9525">
              <a:noFill/>
              <a:miter lim="800000"/>
              <a:headEnd/>
              <a:tailEnd/>
            </a:ln>
          </p:spPr>
        </p:pic>
      </p:grpSp>
      <p:sp>
        <p:nvSpPr>
          <p:cNvPr id="6160" name="Text Box 16"/>
          <p:cNvSpPr txBox="1">
            <a:spLocks noChangeArrowheads="1"/>
          </p:cNvSpPr>
          <p:nvPr/>
        </p:nvSpPr>
        <p:spPr bwMode="auto">
          <a:xfrm>
            <a:off x="3962400" y="5664200"/>
            <a:ext cx="4656138" cy="641350"/>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Include the dimensions necessary to compute the moments of the forces.</a:t>
            </a:r>
          </a:p>
        </p:txBody>
      </p:sp>
      <p:sp>
        <p:nvSpPr>
          <p:cNvPr id="6161" name="Text Box 17"/>
          <p:cNvSpPr txBox="1">
            <a:spLocks noChangeArrowheads="1"/>
          </p:cNvSpPr>
          <p:nvPr/>
        </p:nvSpPr>
        <p:spPr bwMode="auto">
          <a:xfrm>
            <a:off x="3962400" y="4010025"/>
            <a:ext cx="4749800" cy="1465263"/>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Indicate point of application and assumed direction of unknown applied forces.  These usually consist of reactions through which the ground and other bodies oppose the possible motion of the rigid body.</a:t>
            </a:r>
          </a:p>
        </p:txBody>
      </p:sp>
      <p:sp>
        <p:nvSpPr>
          <p:cNvPr id="6162" name="Text Box 18"/>
          <p:cNvSpPr txBox="1">
            <a:spLocks noChangeArrowheads="1"/>
          </p:cNvSpPr>
          <p:nvPr/>
        </p:nvSpPr>
        <p:spPr bwMode="auto">
          <a:xfrm>
            <a:off x="3962400" y="2905125"/>
            <a:ext cx="4751388" cy="915988"/>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Indicate point of application, magnitude, and direction of external forces, including the rigid body weight.</a:t>
            </a:r>
          </a:p>
        </p:txBody>
      </p:sp>
      <p:sp>
        <p:nvSpPr>
          <p:cNvPr id="13" name="Date Placeholder 12"/>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4" name="Footer Placeholder 13"/>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0" grpId="0" autoUpdateAnimBg="0"/>
      <p:bldP spid="6161" grpId="0" autoUpdateAnimBg="0"/>
      <p:bldP spid="6162"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90600" y="-304800"/>
            <a:ext cx="7772400" cy="1143000"/>
          </a:xfrm>
        </p:spPr>
        <p:txBody>
          <a:bodyPr/>
          <a:lstStyle/>
          <a:p>
            <a:r>
              <a:rPr lang="en-US" sz="2800" dirty="0" smtClean="0">
                <a:ea typeface="ＭＳ Ｐゴシック" charset="-128"/>
              </a:rPr>
              <a:t>Reactions at Supports and Connections for a Two-Dimensional Structure</a:t>
            </a:r>
          </a:p>
        </p:txBody>
      </p:sp>
      <p:sp>
        <p:nvSpPr>
          <p:cNvPr id="5" name="Slide Number Placeholder 2"/>
          <p:cNvSpPr>
            <a:spLocks noGrp="1"/>
          </p:cNvSpPr>
          <p:nvPr>
            <p:ph type="sldNum" sz="quarter" idx="10"/>
          </p:nvPr>
        </p:nvSpPr>
        <p:spPr>
          <a:xfrm>
            <a:off x="8610600" y="6400800"/>
            <a:ext cx="533400" cy="457200"/>
          </a:xfrm>
        </p:spPr>
        <p:txBody>
          <a:bodyPr/>
          <a:lstStyle/>
          <a:p>
            <a:r>
              <a:rPr lang="en-US" dirty="0" smtClean="0"/>
              <a:t> </a:t>
            </a:r>
            <a:fld id="{49331EED-D850-49DF-9098-49EEB16468B5}" type="slidenum">
              <a:rPr lang="en-US" sz="2400"/>
              <a:pPr/>
              <a:t>42</a:t>
            </a:fld>
            <a:endParaRPr lang="en-US" sz="2400" dirty="0"/>
          </a:p>
        </p:txBody>
      </p:sp>
      <p:sp>
        <p:nvSpPr>
          <p:cNvPr id="10244" name="Text Box 8"/>
          <p:cNvSpPr txBox="1">
            <a:spLocks noChangeArrowheads="1"/>
          </p:cNvSpPr>
          <p:nvPr/>
        </p:nvSpPr>
        <p:spPr bwMode="auto">
          <a:xfrm>
            <a:off x="6019800" y="1600200"/>
            <a:ext cx="2895600" cy="915988"/>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Reactions equivalent to a force with known line of action.</a:t>
            </a:r>
          </a:p>
        </p:txBody>
      </p:sp>
      <p:pic>
        <p:nvPicPr>
          <p:cNvPr id="10245" name="Picture 12" descr="C:\DOCUME~1\WALTOL~1\LOCALS~1\Temp\\msotw9_temp0.jpg"/>
          <p:cNvPicPr>
            <a:picLocks noChangeAspect="1" noChangeArrowheads="1"/>
          </p:cNvPicPr>
          <p:nvPr/>
        </p:nvPicPr>
        <p:blipFill>
          <a:blip r:embed="rId2" cstate="print"/>
          <a:srcRect/>
          <a:stretch>
            <a:fillRect/>
          </a:stretch>
        </p:blipFill>
        <p:spPr bwMode="auto">
          <a:xfrm>
            <a:off x="354013" y="1454150"/>
            <a:ext cx="5335587" cy="5057775"/>
          </a:xfrm>
          <a:prstGeom prst="rect">
            <a:avLst/>
          </a:prstGeom>
          <a:noFill/>
          <a:ln w="9525">
            <a:noFill/>
            <a:miter lim="800000"/>
            <a:headEnd/>
            <a:tailEnd/>
          </a:ln>
        </p:spPr>
      </p:pic>
      <p:sp>
        <p:nvSpPr>
          <p:cNvPr id="6" name="Date Placeholder 5"/>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7" name="Footer Placeholder 6"/>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title"/>
          </p:nvPr>
        </p:nvSpPr>
        <p:spPr>
          <a:xfrm>
            <a:off x="1066800" y="-304800"/>
            <a:ext cx="7772400" cy="1143000"/>
          </a:xfrm>
        </p:spPr>
        <p:txBody>
          <a:bodyPr/>
          <a:lstStyle/>
          <a:p>
            <a:r>
              <a:rPr lang="en-US" sz="2800" dirty="0" smtClean="0">
                <a:ea typeface="ＭＳ Ｐゴシック" charset="-128"/>
              </a:rPr>
              <a:t>Reactions at Supports and Connections for a Two-Dimensional Structure</a:t>
            </a:r>
          </a:p>
        </p:txBody>
      </p:sp>
      <p:sp>
        <p:nvSpPr>
          <p:cNvPr id="9" name="Slide Number Placeholder 2"/>
          <p:cNvSpPr>
            <a:spLocks noGrp="1"/>
          </p:cNvSpPr>
          <p:nvPr>
            <p:ph type="sldNum" sz="quarter" idx="10"/>
          </p:nvPr>
        </p:nvSpPr>
        <p:spPr>
          <a:xfrm>
            <a:off x="8610600" y="6400800"/>
            <a:ext cx="533400" cy="457200"/>
          </a:xfrm>
        </p:spPr>
        <p:txBody>
          <a:bodyPr/>
          <a:lstStyle/>
          <a:p>
            <a:r>
              <a:rPr lang="en-US" dirty="0" smtClean="0"/>
              <a:t> </a:t>
            </a:r>
            <a:fld id="{3E054146-1142-400C-9AE5-F9102D7FC20D}" type="slidenum">
              <a:rPr lang="en-US" sz="2400"/>
              <a:pPr/>
              <a:t>43</a:t>
            </a:fld>
            <a:endParaRPr lang="en-US" sz="2400" dirty="0"/>
          </a:p>
        </p:txBody>
      </p:sp>
      <p:grpSp>
        <p:nvGrpSpPr>
          <p:cNvPr id="2" name="Group 18"/>
          <p:cNvGrpSpPr>
            <a:grpSpLocks/>
          </p:cNvGrpSpPr>
          <p:nvPr/>
        </p:nvGrpSpPr>
        <p:grpSpPr bwMode="auto">
          <a:xfrm>
            <a:off x="384175" y="1798638"/>
            <a:ext cx="8759825" cy="1808162"/>
            <a:chOff x="242" y="894"/>
            <a:chExt cx="5518" cy="1139"/>
          </a:xfrm>
        </p:grpSpPr>
        <p:sp>
          <p:nvSpPr>
            <p:cNvPr id="11272" name="Text Box 6"/>
            <p:cNvSpPr txBox="1">
              <a:spLocks noChangeArrowheads="1"/>
            </p:cNvSpPr>
            <p:nvPr/>
          </p:nvSpPr>
          <p:spPr bwMode="auto">
            <a:xfrm>
              <a:off x="3840" y="936"/>
              <a:ext cx="1920" cy="577"/>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Reactions equivalent to a force of unknown direction and magnitude.</a:t>
              </a:r>
            </a:p>
          </p:txBody>
        </p:sp>
        <p:pic>
          <p:nvPicPr>
            <p:cNvPr id="11273" name="Picture 16" descr="C:\DOCUME~1\WALTOL~1\LOCALS~1\Temp\\msotw9_temp0.jpg"/>
            <p:cNvPicPr>
              <a:picLocks noChangeAspect="1" noChangeArrowheads="1"/>
            </p:cNvPicPr>
            <p:nvPr/>
          </p:nvPicPr>
          <p:blipFill>
            <a:blip r:embed="rId2" cstate="print"/>
            <a:srcRect/>
            <a:stretch>
              <a:fillRect/>
            </a:stretch>
          </p:blipFill>
          <p:spPr bwMode="auto">
            <a:xfrm>
              <a:off x="242" y="894"/>
              <a:ext cx="3476" cy="1139"/>
            </a:xfrm>
            <a:prstGeom prst="rect">
              <a:avLst/>
            </a:prstGeom>
            <a:noFill/>
            <a:ln w="9525">
              <a:noFill/>
              <a:miter lim="800000"/>
              <a:headEnd/>
              <a:tailEnd/>
            </a:ln>
          </p:spPr>
        </p:pic>
      </p:grpSp>
      <p:grpSp>
        <p:nvGrpSpPr>
          <p:cNvPr id="3" name="Group 19"/>
          <p:cNvGrpSpPr>
            <a:grpSpLocks/>
          </p:cNvGrpSpPr>
          <p:nvPr/>
        </p:nvGrpSpPr>
        <p:grpSpPr bwMode="auto">
          <a:xfrm>
            <a:off x="384175" y="3581400"/>
            <a:ext cx="8507413" cy="1816100"/>
            <a:chOff x="242" y="2017"/>
            <a:chExt cx="5359" cy="1144"/>
          </a:xfrm>
        </p:grpSpPr>
        <p:sp>
          <p:nvSpPr>
            <p:cNvPr id="11270" name="Text Box 8"/>
            <p:cNvSpPr txBox="1">
              <a:spLocks noChangeArrowheads="1"/>
            </p:cNvSpPr>
            <p:nvPr/>
          </p:nvSpPr>
          <p:spPr bwMode="auto">
            <a:xfrm>
              <a:off x="3825" y="2038"/>
              <a:ext cx="1776" cy="923"/>
            </a:xfrm>
            <a:prstGeom prst="rect">
              <a:avLst/>
            </a:prstGeom>
            <a:noFill/>
            <a:ln w="9525">
              <a:noFill/>
              <a:miter lim="800000"/>
              <a:headEnd/>
              <a:tailEnd/>
            </a:ln>
          </p:spPr>
          <p:txBody>
            <a:bodyPr>
              <a:spAutoFit/>
            </a:bodyPr>
            <a:lstStyle/>
            <a:p>
              <a:pPr marL="227013" indent="-227013">
                <a:spcBef>
                  <a:spcPct val="50000"/>
                </a:spcBef>
                <a:buFontTx/>
                <a:buChar char="•"/>
              </a:pPr>
              <a:r>
                <a:rPr lang="en-US" sz="1800" b="0"/>
                <a:t>Reactions equivalent to a force of unknown direction and magnitude and a couple.of unknown magnitude</a:t>
              </a:r>
            </a:p>
          </p:txBody>
        </p:sp>
        <p:pic>
          <p:nvPicPr>
            <p:cNvPr id="11271" name="Picture 17" descr="C:\DOCUME~1\WALTOL~1\LOCALS~1\Temp\\msotw9_temp0.jpg"/>
            <p:cNvPicPr>
              <a:picLocks noChangeAspect="1" noChangeArrowheads="1"/>
            </p:cNvPicPr>
            <p:nvPr/>
          </p:nvPicPr>
          <p:blipFill>
            <a:blip r:embed="rId3" cstate="print"/>
            <a:srcRect/>
            <a:stretch>
              <a:fillRect/>
            </a:stretch>
          </p:blipFill>
          <p:spPr bwMode="auto">
            <a:xfrm>
              <a:off x="242" y="2017"/>
              <a:ext cx="3494" cy="1144"/>
            </a:xfrm>
            <a:prstGeom prst="rect">
              <a:avLst/>
            </a:prstGeom>
            <a:noFill/>
            <a:ln w="9525">
              <a:noFill/>
              <a:miter lim="800000"/>
              <a:headEnd/>
              <a:tailEnd/>
            </a:ln>
          </p:spPr>
        </p:pic>
      </p:grpSp>
      <p:sp>
        <p:nvSpPr>
          <p:cNvPr id="10" name="Date Placeholder 9"/>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11" name="Footer Placeholder 10"/>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a:xfrm>
            <a:off x="838200" y="-304800"/>
            <a:ext cx="7772400" cy="1143000"/>
          </a:xfrm>
        </p:spPr>
        <p:txBody>
          <a:bodyPr/>
          <a:lstStyle/>
          <a:p>
            <a:r>
              <a:rPr lang="en-US" sz="2800" dirty="0" smtClean="0">
                <a:ea typeface="ＭＳ Ｐゴシック" charset="-128"/>
              </a:rPr>
              <a:t>Equilibrium of a Rigid Body in Two Dimensions</a:t>
            </a:r>
          </a:p>
        </p:txBody>
      </p:sp>
      <p:sp>
        <p:nvSpPr>
          <p:cNvPr id="15" name="Slide Number Placeholder 2"/>
          <p:cNvSpPr>
            <a:spLocks noGrp="1"/>
          </p:cNvSpPr>
          <p:nvPr>
            <p:ph type="sldNum" sz="quarter" idx="10"/>
          </p:nvPr>
        </p:nvSpPr>
        <p:spPr>
          <a:xfrm>
            <a:off x="8610600" y="6400800"/>
            <a:ext cx="533400" cy="457200"/>
          </a:xfrm>
        </p:spPr>
        <p:txBody>
          <a:bodyPr/>
          <a:lstStyle/>
          <a:p>
            <a:r>
              <a:rPr lang="en-US" dirty="0" smtClean="0"/>
              <a:t> </a:t>
            </a:r>
            <a:fld id="{11A79AE2-1806-434B-9C21-8B6289A8F049}" type="slidenum">
              <a:rPr lang="en-US" sz="2400"/>
              <a:pPr/>
              <a:t>44</a:t>
            </a:fld>
            <a:endParaRPr lang="en-US" sz="2400" dirty="0"/>
          </a:p>
        </p:txBody>
      </p:sp>
      <p:pic>
        <p:nvPicPr>
          <p:cNvPr id="12295" name="Picture 9" descr="C:\DOCUME~1\WALTOL~1\LOCALS~1\Temp\\msotw9_temp0.jpg"/>
          <p:cNvPicPr>
            <a:picLocks noChangeAspect="1" noChangeArrowheads="1"/>
          </p:cNvPicPr>
          <p:nvPr/>
        </p:nvPicPr>
        <p:blipFill>
          <a:blip r:embed="rId3" cstate="print"/>
          <a:srcRect/>
          <a:stretch>
            <a:fillRect/>
          </a:stretch>
        </p:blipFill>
        <p:spPr bwMode="auto">
          <a:xfrm>
            <a:off x="395288" y="968375"/>
            <a:ext cx="3349625" cy="5492750"/>
          </a:xfrm>
          <a:prstGeom prst="rect">
            <a:avLst/>
          </a:prstGeom>
          <a:noFill/>
          <a:ln w="9525">
            <a:noFill/>
            <a:miter lim="800000"/>
            <a:headEnd/>
            <a:tailEnd/>
          </a:ln>
        </p:spPr>
      </p:pic>
      <p:grpSp>
        <p:nvGrpSpPr>
          <p:cNvPr id="2" name="Group 18"/>
          <p:cNvGrpSpPr>
            <a:grpSpLocks/>
          </p:cNvGrpSpPr>
          <p:nvPr/>
        </p:nvGrpSpPr>
        <p:grpSpPr bwMode="auto">
          <a:xfrm>
            <a:off x="3798888" y="1068388"/>
            <a:ext cx="5141912" cy="1093787"/>
            <a:chOff x="2401" y="681"/>
            <a:chExt cx="3239" cy="689"/>
          </a:xfrm>
        </p:grpSpPr>
        <p:sp>
          <p:nvSpPr>
            <p:cNvPr id="12303" name="Text Box 10"/>
            <p:cNvSpPr txBox="1">
              <a:spLocks noChangeArrowheads="1"/>
            </p:cNvSpPr>
            <p:nvPr/>
          </p:nvSpPr>
          <p:spPr bwMode="auto">
            <a:xfrm>
              <a:off x="2401" y="681"/>
              <a:ext cx="3239"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For all forces and moments acting on a two-dimensional structure,</a:t>
              </a:r>
            </a:p>
          </p:txBody>
        </p:sp>
        <p:graphicFrame>
          <p:nvGraphicFramePr>
            <p:cNvPr id="36866" name="Object 1026"/>
            <p:cNvGraphicFramePr>
              <a:graphicFrameLocks noChangeAspect="1"/>
            </p:cNvGraphicFramePr>
            <p:nvPr/>
          </p:nvGraphicFramePr>
          <p:xfrm>
            <a:off x="2622" y="1138"/>
            <a:ext cx="2312" cy="232"/>
          </p:xfrm>
          <a:graphic>
            <a:graphicData uri="http://schemas.openxmlformats.org/presentationml/2006/ole">
              <p:oleObj spid="_x0000_s306180" name="Equation" r:id="rId4" imgW="3670200" imgH="368280" progId="Equation.3">
                <p:embed/>
              </p:oleObj>
            </a:graphicData>
          </a:graphic>
        </p:graphicFrame>
      </p:grpSp>
      <p:grpSp>
        <p:nvGrpSpPr>
          <p:cNvPr id="3" name="Group 19"/>
          <p:cNvGrpSpPr>
            <a:grpSpLocks/>
          </p:cNvGrpSpPr>
          <p:nvPr/>
        </p:nvGrpSpPr>
        <p:grpSpPr bwMode="auto">
          <a:xfrm>
            <a:off x="3798888" y="2417763"/>
            <a:ext cx="5035550" cy="1557337"/>
            <a:chOff x="2393" y="1556"/>
            <a:chExt cx="3172" cy="981"/>
          </a:xfrm>
        </p:grpSpPr>
        <p:sp>
          <p:nvSpPr>
            <p:cNvPr id="12301" name="Text Box 12"/>
            <p:cNvSpPr txBox="1">
              <a:spLocks noChangeArrowheads="1"/>
            </p:cNvSpPr>
            <p:nvPr/>
          </p:nvSpPr>
          <p:spPr bwMode="auto">
            <a:xfrm>
              <a:off x="2401" y="1556"/>
              <a:ext cx="3164" cy="250"/>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Equations of equilibrium become</a:t>
              </a:r>
            </a:p>
          </p:txBody>
        </p:sp>
        <p:graphicFrame>
          <p:nvGraphicFramePr>
            <p:cNvPr id="36865" name="Object 1025"/>
            <p:cNvGraphicFramePr>
              <a:graphicFrameLocks noChangeAspect="1"/>
            </p:cNvGraphicFramePr>
            <p:nvPr/>
          </p:nvGraphicFramePr>
          <p:xfrm>
            <a:off x="2622" y="1857"/>
            <a:ext cx="2104" cy="232"/>
          </p:xfrm>
          <a:graphic>
            <a:graphicData uri="http://schemas.openxmlformats.org/presentationml/2006/ole">
              <p:oleObj spid="_x0000_s306179" name="Equation" r:id="rId5" imgW="3340080" imgH="368280" progId="Equation.3">
                <p:embed/>
              </p:oleObj>
            </a:graphicData>
          </a:graphic>
        </p:graphicFrame>
        <p:sp>
          <p:nvSpPr>
            <p:cNvPr id="12302" name="Text Box 14"/>
            <p:cNvSpPr txBox="1">
              <a:spLocks noChangeArrowheads="1"/>
            </p:cNvSpPr>
            <p:nvPr/>
          </p:nvSpPr>
          <p:spPr bwMode="auto">
            <a:xfrm>
              <a:off x="2393" y="2095"/>
              <a:ext cx="2985" cy="442"/>
            </a:xfrm>
            <a:prstGeom prst="rect">
              <a:avLst/>
            </a:prstGeom>
            <a:noFill/>
            <a:ln w="9525">
              <a:noFill/>
              <a:miter lim="800000"/>
              <a:headEnd/>
              <a:tailEnd/>
            </a:ln>
          </p:spPr>
          <p:txBody>
            <a:bodyPr>
              <a:spAutoFit/>
            </a:bodyPr>
            <a:lstStyle/>
            <a:p>
              <a:pPr marL="227013" indent="-227013">
                <a:spcBef>
                  <a:spcPct val="50000"/>
                </a:spcBef>
              </a:pPr>
              <a:r>
                <a:rPr lang="en-US" sz="2000" b="0"/>
                <a:t>	where </a:t>
              </a:r>
              <a:r>
                <a:rPr lang="en-US" sz="2000" b="0" i="1"/>
                <a:t>A</a:t>
              </a:r>
              <a:r>
                <a:rPr lang="en-US" sz="2000" b="0"/>
                <a:t> is any point in the plane of the structure.</a:t>
              </a:r>
            </a:p>
          </p:txBody>
        </p:sp>
      </p:grpSp>
      <p:sp>
        <p:nvSpPr>
          <p:cNvPr id="8207" name="Text Box 15"/>
          <p:cNvSpPr txBox="1">
            <a:spLocks noChangeArrowheads="1"/>
          </p:cNvSpPr>
          <p:nvPr/>
        </p:nvSpPr>
        <p:spPr bwMode="auto">
          <a:xfrm>
            <a:off x="3798888" y="4230688"/>
            <a:ext cx="4916487" cy="7016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The 3 equations can be solved for no more than 3 unknowns.</a:t>
            </a:r>
          </a:p>
        </p:txBody>
      </p:sp>
      <p:grpSp>
        <p:nvGrpSpPr>
          <p:cNvPr id="4" name="Group 20"/>
          <p:cNvGrpSpPr>
            <a:grpSpLocks/>
          </p:cNvGrpSpPr>
          <p:nvPr/>
        </p:nvGrpSpPr>
        <p:grpSpPr bwMode="auto">
          <a:xfrm>
            <a:off x="3798888" y="5189538"/>
            <a:ext cx="5105400" cy="1038225"/>
            <a:chOff x="2401" y="3202"/>
            <a:chExt cx="3216" cy="654"/>
          </a:xfrm>
        </p:grpSpPr>
        <p:sp>
          <p:nvSpPr>
            <p:cNvPr id="12300" name="Text Box 16"/>
            <p:cNvSpPr txBox="1">
              <a:spLocks noChangeArrowheads="1"/>
            </p:cNvSpPr>
            <p:nvPr/>
          </p:nvSpPr>
          <p:spPr bwMode="auto">
            <a:xfrm>
              <a:off x="2401" y="3202"/>
              <a:ext cx="3216"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The 3 equations can not be augmented with additional equations, but they can be replaced</a:t>
              </a:r>
            </a:p>
          </p:txBody>
        </p:sp>
        <p:graphicFrame>
          <p:nvGraphicFramePr>
            <p:cNvPr id="36864" name="Object 1024"/>
            <p:cNvGraphicFramePr>
              <a:graphicFrameLocks noChangeAspect="1"/>
            </p:cNvGraphicFramePr>
            <p:nvPr/>
          </p:nvGraphicFramePr>
          <p:xfrm>
            <a:off x="2622" y="3648"/>
            <a:ext cx="2176" cy="208"/>
          </p:xfrm>
          <a:graphic>
            <a:graphicData uri="http://schemas.openxmlformats.org/presentationml/2006/ole">
              <p:oleObj spid="_x0000_s306178" name="Equation" r:id="rId6" imgW="3454200" imgH="330120" progId="Equation.3">
                <p:embed/>
              </p:oleObj>
            </a:graphicData>
          </a:graphic>
        </p:graphicFrame>
      </p:grpSp>
      <p:sp>
        <p:nvSpPr>
          <p:cNvPr id="16" name="Date Placeholder 15"/>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17" name="Footer Placeholder 16"/>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66800" y="-228600"/>
            <a:ext cx="7772400" cy="1143000"/>
          </a:xfrm>
        </p:spPr>
        <p:txBody>
          <a:bodyPr/>
          <a:lstStyle/>
          <a:p>
            <a:r>
              <a:rPr lang="en-US" dirty="0" err="1" smtClean="0">
                <a:ea typeface="ＭＳ Ｐゴシック" charset="-128"/>
              </a:rPr>
              <a:t>Exmple</a:t>
            </a:r>
            <a:endParaRPr lang="en-US" dirty="0" smtClean="0">
              <a:ea typeface="ＭＳ Ｐゴシック" charset="-128"/>
            </a:endParaRPr>
          </a:p>
        </p:txBody>
      </p:sp>
      <p:sp>
        <p:nvSpPr>
          <p:cNvPr id="9" name="Slide Number Placeholder 2"/>
          <p:cNvSpPr>
            <a:spLocks noGrp="1"/>
          </p:cNvSpPr>
          <p:nvPr>
            <p:ph type="sldNum" sz="quarter" idx="10"/>
          </p:nvPr>
        </p:nvSpPr>
        <p:spPr>
          <a:xfrm>
            <a:off x="8610600" y="6400800"/>
            <a:ext cx="533400" cy="457200"/>
          </a:xfrm>
        </p:spPr>
        <p:txBody>
          <a:bodyPr/>
          <a:lstStyle/>
          <a:p>
            <a:r>
              <a:rPr lang="en-US" dirty="0" smtClean="0"/>
              <a:t> </a:t>
            </a:r>
            <a:fld id="{55B4857F-757E-4CDF-8B1F-AF3AD5AE7C8A}" type="slidenum">
              <a:rPr lang="en-US" sz="2400"/>
              <a:pPr/>
              <a:t>45</a:t>
            </a:fld>
            <a:endParaRPr lang="en-US" sz="2400" dirty="0"/>
          </a:p>
        </p:txBody>
      </p:sp>
      <p:pic>
        <p:nvPicPr>
          <p:cNvPr id="14340" name="Picture 7" descr="C:\DOCUME~1\WALTOL~1\LOCALS~1\Temp\\msotw9_temp0.jpg"/>
          <p:cNvPicPr>
            <a:picLocks noChangeAspect="1" noChangeArrowheads="1"/>
          </p:cNvPicPr>
          <p:nvPr/>
        </p:nvPicPr>
        <p:blipFill>
          <a:blip r:embed="rId2" cstate="print"/>
          <a:srcRect/>
          <a:stretch>
            <a:fillRect/>
          </a:stretch>
        </p:blipFill>
        <p:spPr bwMode="auto">
          <a:xfrm>
            <a:off x="442913" y="1023938"/>
            <a:ext cx="3511550" cy="2757487"/>
          </a:xfrm>
          <a:prstGeom prst="rect">
            <a:avLst/>
          </a:prstGeom>
          <a:noFill/>
          <a:ln w="9525">
            <a:noFill/>
            <a:miter lim="800000"/>
            <a:headEnd/>
            <a:tailEnd/>
          </a:ln>
        </p:spPr>
      </p:pic>
      <p:sp>
        <p:nvSpPr>
          <p:cNvPr id="14341" name="Text Box 9"/>
          <p:cNvSpPr txBox="1">
            <a:spLocks noChangeArrowheads="1"/>
          </p:cNvSpPr>
          <p:nvPr/>
        </p:nvSpPr>
        <p:spPr bwMode="auto">
          <a:xfrm>
            <a:off x="427038" y="3943350"/>
            <a:ext cx="3941762" cy="2378075"/>
          </a:xfrm>
          <a:prstGeom prst="rect">
            <a:avLst/>
          </a:prstGeom>
          <a:noFill/>
          <a:ln w="9525">
            <a:noFill/>
            <a:miter lim="800000"/>
            <a:headEnd/>
            <a:tailEnd/>
          </a:ln>
        </p:spPr>
        <p:txBody>
          <a:bodyPr>
            <a:spAutoFit/>
          </a:bodyPr>
          <a:lstStyle/>
          <a:p>
            <a:pPr>
              <a:spcBef>
                <a:spcPct val="50000"/>
              </a:spcBef>
            </a:pPr>
            <a:r>
              <a:rPr lang="en-US" sz="2000" b="0"/>
              <a:t>A fixed crane has a mass of 1000 kg and is used to lift a 2400 kg crate.  It is held in place by a pin at </a:t>
            </a:r>
            <a:r>
              <a:rPr lang="en-US" sz="2000" b="0" i="1"/>
              <a:t>A</a:t>
            </a:r>
            <a:r>
              <a:rPr lang="en-US" sz="2000" b="0"/>
              <a:t> and a rocker at </a:t>
            </a:r>
            <a:r>
              <a:rPr lang="en-US" sz="2000" b="0" i="1"/>
              <a:t>B</a:t>
            </a:r>
            <a:r>
              <a:rPr lang="en-US" sz="2000" b="0"/>
              <a:t>.  The center of gravity of the crane is located at </a:t>
            </a:r>
            <a:r>
              <a:rPr lang="en-US" sz="2000" b="0" i="1"/>
              <a:t>G</a:t>
            </a:r>
            <a:r>
              <a:rPr lang="en-US" sz="2000" b="0"/>
              <a:t>.  </a:t>
            </a:r>
          </a:p>
          <a:p>
            <a:pPr>
              <a:spcBef>
                <a:spcPct val="50000"/>
              </a:spcBef>
            </a:pPr>
            <a:r>
              <a:rPr lang="en-US" sz="2000" b="0"/>
              <a:t>Determine the components of the reactions at </a:t>
            </a:r>
            <a:r>
              <a:rPr lang="en-US" sz="2000" b="0" i="1"/>
              <a:t>A</a:t>
            </a:r>
            <a:r>
              <a:rPr lang="en-US" sz="2000" b="0"/>
              <a:t> and </a:t>
            </a:r>
            <a:r>
              <a:rPr lang="en-US" sz="2000" b="0" i="1"/>
              <a:t>B</a:t>
            </a:r>
            <a:r>
              <a:rPr lang="en-US" sz="2000" b="0"/>
              <a:t>.</a:t>
            </a:r>
          </a:p>
        </p:txBody>
      </p:sp>
      <p:sp>
        <p:nvSpPr>
          <p:cNvPr id="10250" name="Text Box 10"/>
          <p:cNvSpPr txBox="1">
            <a:spLocks noChangeArrowheads="1"/>
          </p:cNvSpPr>
          <p:nvPr/>
        </p:nvSpPr>
        <p:spPr bwMode="auto">
          <a:xfrm>
            <a:off x="4513263" y="1057275"/>
            <a:ext cx="4630737" cy="854075"/>
          </a:xfrm>
          <a:prstGeom prst="rect">
            <a:avLst/>
          </a:prstGeom>
          <a:noFill/>
          <a:ln w="9525">
            <a:noFill/>
            <a:miter lim="800000"/>
            <a:headEnd/>
            <a:tailEnd/>
          </a:ln>
        </p:spPr>
        <p:txBody>
          <a:bodyPr>
            <a:spAutoFit/>
          </a:bodyPr>
          <a:lstStyle/>
          <a:p>
            <a:pPr marL="227013" indent="-227013">
              <a:spcBef>
                <a:spcPct val="50000"/>
              </a:spcBef>
            </a:pPr>
            <a:r>
              <a:rPr lang="en-US" sz="2000" b="0"/>
              <a:t>SOLUTION:</a:t>
            </a:r>
          </a:p>
          <a:p>
            <a:pPr marL="227013" indent="-227013">
              <a:spcBef>
                <a:spcPct val="50000"/>
              </a:spcBef>
              <a:buFontTx/>
              <a:buChar char="•"/>
            </a:pPr>
            <a:r>
              <a:rPr lang="en-US" sz="2000" b="0"/>
              <a:t>Create a free-body diagram for the crane.</a:t>
            </a:r>
          </a:p>
        </p:txBody>
      </p:sp>
      <p:sp>
        <p:nvSpPr>
          <p:cNvPr id="10251" name="Text Box 11"/>
          <p:cNvSpPr txBox="1">
            <a:spLocks noChangeArrowheads="1"/>
          </p:cNvSpPr>
          <p:nvPr/>
        </p:nvSpPr>
        <p:spPr bwMode="auto">
          <a:xfrm>
            <a:off x="4513263" y="2012950"/>
            <a:ext cx="4500562" cy="16160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a:t>
            </a:r>
            <a:r>
              <a:rPr lang="en-US" sz="2000" b="0" i="1"/>
              <a:t>B</a:t>
            </a:r>
            <a:r>
              <a:rPr lang="en-US" sz="2000" b="0"/>
              <a:t> by solving the equation for the sum of the moments of all forces about </a:t>
            </a:r>
            <a:r>
              <a:rPr lang="en-US" sz="2000" b="0" i="1"/>
              <a:t>A</a:t>
            </a:r>
            <a:r>
              <a:rPr lang="en-US" sz="2000" b="0"/>
              <a:t>.  Note there will be no contribution from the unknown reactions at </a:t>
            </a:r>
            <a:r>
              <a:rPr lang="en-US" sz="2000" b="0" i="1"/>
              <a:t>A</a:t>
            </a:r>
            <a:r>
              <a:rPr lang="en-US" sz="2000" b="0"/>
              <a:t>.</a:t>
            </a:r>
          </a:p>
        </p:txBody>
      </p:sp>
      <p:sp>
        <p:nvSpPr>
          <p:cNvPr id="10252" name="Text Box 12"/>
          <p:cNvSpPr txBox="1">
            <a:spLocks noChangeArrowheads="1"/>
          </p:cNvSpPr>
          <p:nvPr/>
        </p:nvSpPr>
        <p:spPr bwMode="auto">
          <a:xfrm>
            <a:off x="4513263" y="3730625"/>
            <a:ext cx="4238625" cy="13112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the reactions at </a:t>
            </a:r>
            <a:r>
              <a:rPr lang="en-US" sz="2000" b="0" i="1"/>
              <a:t>A</a:t>
            </a:r>
            <a:r>
              <a:rPr lang="en-US" sz="2000" b="0"/>
              <a:t> by solving the equations for the sum of all horizontal force components and all vertical force components.</a:t>
            </a:r>
          </a:p>
        </p:txBody>
      </p:sp>
      <p:sp>
        <p:nvSpPr>
          <p:cNvPr id="10253" name="Text Box 13"/>
          <p:cNvSpPr txBox="1">
            <a:spLocks noChangeArrowheads="1"/>
          </p:cNvSpPr>
          <p:nvPr/>
        </p:nvSpPr>
        <p:spPr bwMode="auto">
          <a:xfrm>
            <a:off x="4513263" y="5143500"/>
            <a:ext cx="4286250" cy="13112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Check the values obtained for the reactions by verifying that the sum of the moments about </a:t>
            </a:r>
            <a:r>
              <a:rPr lang="en-US" sz="2000" b="0" i="1" dirty="0"/>
              <a:t>B</a:t>
            </a:r>
            <a:r>
              <a:rPr lang="en-US" sz="2000" b="0" dirty="0"/>
              <a:t> of all forces is zero.</a:t>
            </a:r>
          </a:p>
        </p:txBody>
      </p:sp>
      <p:sp>
        <p:nvSpPr>
          <p:cNvPr id="10" name="Date Placeholder 9"/>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1" name="Footer Placeholder 10"/>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0" grpId="0" autoUpdateAnimBg="0"/>
      <p:bldP spid="10251" grpId="0" autoUpdateAnimBg="0"/>
      <p:bldP spid="10252" grpId="0" autoUpdateAnimBg="0"/>
      <p:bldP spid="1025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Rectangle 2"/>
          <p:cNvSpPr>
            <a:spLocks noGrp="1" noChangeArrowheads="1"/>
          </p:cNvSpPr>
          <p:nvPr>
            <p:ph type="title"/>
          </p:nvPr>
        </p:nvSpPr>
        <p:spPr>
          <a:xfrm>
            <a:off x="990600" y="-228600"/>
            <a:ext cx="7772400" cy="1143000"/>
          </a:xfrm>
        </p:spPr>
        <p:txBody>
          <a:bodyPr/>
          <a:lstStyle/>
          <a:p>
            <a:r>
              <a:rPr lang="en-US" dirty="0" smtClean="0">
                <a:ea typeface="ＭＳ Ｐゴシック" charset="-128"/>
              </a:rPr>
              <a:t>Solution</a:t>
            </a:r>
          </a:p>
        </p:txBody>
      </p:sp>
      <p:sp>
        <p:nvSpPr>
          <p:cNvPr id="17" name="Slide Number Placeholder 2"/>
          <p:cNvSpPr>
            <a:spLocks noGrp="1"/>
          </p:cNvSpPr>
          <p:nvPr>
            <p:ph type="sldNum" sz="quarter" idx="10"/>
          </p:nvPr>
        </p:nvSpPr>
        <p:spPr>
          <a:xfrm>
            <a:off x="8610600" y="6400800"/>
            <a:ext cx="533400" cy="457200"/>
          </a:xfrm>
        </p:spPr>
        <p:txBody>
          <a:bodyPr/>
          <a:lstStyle/>
          <a:p>
            <a:r>
              <a:rPr lang="en-US" dirty="0" smtClean="0"/>
              <a:t> </a:t>
            </a:r>
            <a:fld id="{7DB7657B-2E6C-4DE5-BD2F-5EFF1A46D388}" type="slidenum">
              <a:rPr lang="en-US" sz="2400"/>
              <a:pPr/>
              <a:t>46</a:t>
            </a:fld>
            <a:endParaRPr lang="en-US" sz="2400" dirty="0"/>
          </a:p>
        </p:txBody>
      </p:sp>
      <p:pic>
        <p:nvPicPr>
          <p:cNvPr id="15370" name="Picture 7" descr="C:\DOCUME~1\WALTOL~1\LOCALS~1\Temp\\msotw9_temp0.jpg"/>
          <p:cNvPicPr>
            <a:picLocks noChangeAspect="1" noChangeArrowheads="1"/>
          </p:cNvPicPr>
          <p:nvPr/>
        </p:nvPicPr>
        <p:blipFill>
          <a:blip r:embed="rId3" cstate="print"/>
          <a:srcRect/>
          <a:stretch>
            <a:fillRect/>
          </a:stretch>
        </p:blipFill>
        <p:spPr bwMode="auto">
          <a:xfrm>
            <a:off x="422275" y="1004888"/>
            <a:ext cx="3314700" cy="2362200"/>
          </a:xfrm>
          <a:prstGeom prst="rect">
            <a:avLst/>
          </a:prstGeom>
          <a:noFill/>
          <a:ln w="9525">
            <a:noFill/>
            <a:miter lim="800000"/>
            <a:headEnd/>
            <a:tailEnd/>
          </a:ln>
        </p:spPr>
      </p:pic>
      <p:sp>
        <p:nvSpPr>
          <p:cNvPr id="15371" name="Text Box 9"/>
          <p:cNvSpPr txBox="1">
            <a:spLocks noChangeArrowheads="1"/>
          </p:cNvSpPr>
          <p:nvPr/>
        </p:nvSpPr>
        <p:spPr bwMode="auto">
          <a:xfrm>
            <a:off x="331788" y="3632200"/>
            <a:ext cx="3467100" cy="3968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Create the free-body diagram.</a:t>
            </a:r>
          </a:p>
        </p:txBody>
      </p:sp>
      <p:sp>
        <p:nvSpPr>
          <p:cNvPr id="24588" name="Text Box 12"/>
          <p:cNvSpPr txBox="1">
            <a:spLocks noChangeArrowheads="1"/>
          </p:cNvSpPr>
          <p:nvPr/>
        </p:nvSpPr>
        <p:spPr bwMode="auto">
          <a:xfrm>
            <a:off x="3929063" y="6069013"/>
            <a:ext cx="4286250" cy="3968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Check the values obtained.</a:t>
            </a:r>
          </a:p>
        </p:txBody>
      </p:sp>
      <p:grpSp>
        <p:nvGrpSpPr>
          <p:cNvPr id="2" name="Group 20"/>
          <p:cNvGrpSpPr>
            <a:grpSpLocks/>
          </p:cNvGrpSpPr>
          <p:nvPr/>
        </p:nvGrpSpPr>
        <p:grpSpPr bwMode="auto">
          <a:xfrm>
            <a:off x="3941763" y="993775"/>
            <a:ext cx="5011737" cy="1873250"/>
            <a:chOff x="2409" y="917"/>
            <a:chExt cx="3157" cy="1180"/>
          </a:xfrm>
        </p:grpSpPr>
        <p:sp>
          <p:nvSpPr>
            <p:cNvPr id="15377" name="Text Box 10"/>
            <p:cNvSpPr txBox="1">
              <a:spLocks noChangeArrowheads="1"/>
            </p:cNvSpPr>
            <p:nvPr/>
          </p:nvSpPr>
          <p:spPr bwMode="auto">
            <a:xfrm>
              <a:off x="2409" y="917"/>
              <a:ext cx="3157"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a:t>
              </a:r>
              <a:r>
                <a:rPr lang="en-US" sz="2000" b="0" i="1"/>
                <a:t>B</a:t>
              </a:r>
              <a:r>
                <a:rPr lang="en-US" sz="2000" b="0"/>
                <a:t> by solving the equation for the sum of the moments of all forces about </a:t>
              </a:r>
              <a:r>
                <a:rPr lang="en-US" sz="2000" b="0" i="1"/>
                <a:t>A</a:t>
              </a:r>
              <a:r>
                <a:rPr lang="en-US" sz="2000" b="0"/>
                <a:t>.  </a:t>
              </a:r>
            </a:p>
          </p:txBody>
        </p:sp>
        <p:graphicFrame>
          <p:nvGraphicFramePr>
            <p:cNvPr id="37892" name="Object 1028"/>
            <p:cNvGraphicFramePr>
              <a:graphicFrameLocks noChangeAspect="1"/>
            </p:cNvGraphicFramePr>
            <p:nvPr/>
          </p:nvGraphicFramePr>
          <p:xfrm>
            <a:off x="2668" y="1367"/>
            <a:ext cx="2464" cy="480"/>
          </p:xfrm>
          <a:graphic>
            <a:graphicData uri="http://schemas.openxmlformats.org/presentationml/2006/ole">
              <p:oleObj spid="_x0000_s307206" name="Equation" r:id="rId4" imgW="3911400" imgH="761760" progId="Equation.3">
                <p:embed/>
              </p:oleObj>
            </a:graphicData>
          </a:graphic>
        </p:graphicFrame>
        <p:graphicFrame>
          <p:nvGraphicFramePr>
            <p:cNvPr id="37893" name="Object 1029"/>
            <p:cNvGraphicFramePr>
              <a:graphicFrameLocks noChangeAspect="1"/>
            </p:cNvGraphicFramePr>
            <p:nvPr/>
          </p:nvGraphicFramePr>
          <p:xfrm>
            <a:off x="2668" y="1905"/>
            <a:ext cx="960" cy="192"/>
          </p:xfrm>
          <a:graphic>
            <a:graphicData uri="http://schemas.openxmlformats.org/presentationml/2006/ole">
              <p:oleObj spid="_x0000_s307207" name="Equation" r:id="rId5" imgW="1523880" imgH="304560" progId="Equation.3">
                <p:embed/>
              </p:oleObj>
            </a:graphicData>
          </a:graphic>
        </p:graphicFrame>
      </p:grpSp>
      <p:grpSp>
        <p:nvGrpSpPr>
          <p:cNvPr id="3" name="Group 25"/>
          <p:cNvGrpSpPr>
            <a:grpSpLocks/>
          </p:cNvGrpSpPr>
          <p:nvPr/>
        </p:nvGrpSpPr>
        <p:grpSpPr bwMode="auto">
          <a:xfrm>
            <a:off x="3929063" y="3152775"/>
            <a:ext cx="5046662" cy="1806575"/>
            <a:chOff x="2475" y="1986"/>
            <a:chExt cx="3179" cy="1138"/>
          </a:xfrm>
        </p:grpSpPr>
        <p:sp>
          <p:nvSpPr>
            <p:cNvPr id="15376" name="Text Box 11"/>
            <p:cNvSpPr txBox="1">
              <a:spLocks noChangeArrowheads="1"/>
            </p:cNvSpPr>
            <p:nvPr/>
          </p:nvSpPr>
          <p:spPr bwMode="auto">
            <a:xfrm>
              <a:off x="2475" y="1986"/>
              <a:ext cx="3179"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the reactions at </a:t>
              </a:r>
              <a:r>
                <a:rPr lang="en-US" sz="2000" b="0" i="1"/>
                <a:t>A</a:t>
              </a:r>
              <a:r>
                <a:rPr lang="en-US" sz="2000" b="0"/>
                <a:t> by solving the equations for the sum of all horizontal forces and all vertical forces.</a:t>
              </a:r>
            </a:p>
          </p:txBody>
        </p:sp>
        <p:graphicFrame>
          <p:nvGraphicFramePr>
            <p:cNvPr id="37890" name="Object 1026"/>
            <p:cNvGraphicFramePr>
              <a:graphicFrameLocks noChangeAspect="1"/>
            </p:cNvGraphicFramePr>
            <p:nvPr/>
          </p:nvGraphicFramePr>
          <p:xfrm>
            <a:off x="2734" y="2659"/>
            <a:ext cx="1480" cy="208"/>
          </p:xfrm>
          <a:graphic>
            <a:graphicData uri="http://schemas.openxmlformats.org/presentationml/2006/ole">
              <p:oleObj spid="_x0000_s307204" name="Equation" r:id="rId6" imgW="2349360" imgH="330120" progId="Equation.3">
                <p:embed/>
              </p:oleObj>
            </a:graphicData>
          </a:graphic>
        </p:graphicFrame>
        <p:graphicFrame>
          <p:nvGraphicFramePr>
            <p:cNvPr id="37891" name="Object 1027"/>
            <p:cNvGraphicFramePr>
              <a:graphicFrameLocks noChangeAspect="1"/>
            </p:cNvGraphicFramePr>
            <p:nvPr/>
          </p:nvGraphicFramePr>
          <p:xfrm>
            <a:off x="2734" y="2916"/>
            <a:ext cx="1032" cy="208"/>
          </p:xfrm>
          <a:graphic>
            <a:graphicData uri="http://schemas.openxmlformats.org/presentationml/2006/ole">
              <p:oleObj spid="_x0000_s307205" name="Equation" r:id="rId7" imgW="1638000" imgH="330120" progId="Equation.3">
                <p:embed/>
              </p:oleObj>
            </a:graphicData>
          </a:graphic>
        </p:graphicFrame>
      </p:grpSp>
      <p:grpSp>
        <p:nvGrpSpPr>
          <p:cNvPr id="4" name="Group 24"/>
          <p:cNvGrpSpPr>
            <a:grpSpLocks/>
          </p:cNvGrpSpPr>
          <p:nvPr/>
        </p:nvGrpSpPr>
        <p:grpSpPr bwMode="auto">
          <a:xfrm>
            <a:off x="4340225" y="5121275"/>
            <a:ext cx="3987800" cy="815975"/>
            <a:chOff x="2734" y="3196"/>
            <a:chExt cx="2512" cy="514"/>
          </a:xfrm>
        </p:grpSpPr>
        <p:graphicFrame>
          <p:nvGraphicFramePr>
            <p:cNvPr id="37888" name="Object 1024"/>
            <p:cNvGraphicFramePr>
              <a:graphicFrameLocks noChangeAspect="1"/>
            </p:cNvGraphicFramePr>
            <p:nvPr/>
          </p:nvGraphicFramePr>
          <p:xfrm>
            <a:off x="2734" y="3196"/>
            <a:ext cx="2512" cy="232"/>
          </p:xfrm>
          <a:graphic>
            <a:graphicData uri="http://schemas.openxmlformats.org/presentationml/2006/ole">
              <p:oleObj spid="_x0000_s307202" name="Equation" r:id="rId8" imgW="3987720" imgH="368280" progId="Equation.3">
                <p:embed/>
              </p:oleObj>
            </a:graphicData>
          </a:graphic>
        </p:graphicFrame>
        <p:graphicFrame>
          <p:nvGraphicFramePr>
            <p:cNvPr id="37889" name="Object 1025"/>
            <p:cNvGraphicFramePr>
              <a:graphicFrameLocks noChangeAspect="1"/>
            </p:cNvGraphicFramePr>
            <p:nvPr/>
          </p:nvGraphicFramePr>
          <p:xfrm>
            <a:off x="2734" y="3478"/>
            <a:ext cx="976" cy="232"/>
          </p:xfrm>
          <a:graphic>
            <a:graphicData uri="http://schemas.openxmlformats.org/presentationml/2006/ole">
              <p:oleObj spid="_x0000_s307203" name="Equation" r:id="rId9" imgW="1549080" imgH="368280" progId="Equation.3">
                <p:embed/>
              </p:oleObj>
            </a:graphicData>
          </a:graphic>
        </p:graphicFrame>
      </p:grpSp>
      <p:sp>
        <p:nvSpPr>
          <p:cNvPr id="18" name="Date Placeholder 1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9" name="Footer Placeholder 1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4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04800"/>
            <a:ext cx="7772400" cy="1143000"/>
          </a:xfrm>
        </p:spPr>
        <p:txBody>
          <a:bodyPr/>
          <a:lstStyle/>
          <a:p>
            <a:r>
              <a:rPr lang="en-US" sz="4000" dirty="0" smtClean="0">
                <a:ea typeface="ＭＳ Ｐゴシック" charset="-128"/>
              </a:rPr>
              <a:t>Equilibrium of a Two-Force Body</a:t>
            </a:r>
          </a:p>
        </p:txBody>
      </p:sp>
      <p:sp>
        <p:nvSpPr>
          <p:cNvPr id="22" name="Slide Number Placeholder 2"/>
          <p:cNvSpPr>
            <a:spLocks noGrp="1"/>
          </p:cNvSpPr>
          <p:nvPr>
            <p:ph type="sldNum" sz="quarter" idx="10"/>
          </p:nvPr>
        </p:nvSpPr>
        <p:spPr>
          <a:xfrm>
            <a:off x="7239000" y="6400800"/>
            <a:ext cx="1905000" cy="457200"/>
          </a:xfrm>
        </p:spPr>
        <p:txBody>
          <a:bodyPr/>
          <a:lstStyle/>
          <a:p>
            <a:r>
              <a:rPr lang="en-US" dirty="0" smtClean="0"/>
              <a:t>                               </a:t>
            </a:r>
            <a:fld id="{BC63BCBF-ACF0-46AB-886B-835E248E6A4A}" type="slidenum">
              <a:rPr lang="en-US" sz="2000"/>
              <a:pPr/>
              <a:t>47</a:t>
            </a:fld>
            <a:endParaRPr lang="en-US" sz="2000" dirty="0"/>
          </a:p>
        </p:txBody>
      </p:sp>
      <p:grpSp>
        <p:nvGrpSpPr>
          <p:cNvPr id="2" name="Group 20"/>
          <p:cNvGrpSpPr>
            <a:grpSpLocks/>
          </p:cNvGrpSpPr>
          <p:nvPr/>
        </p:nvGrpSpPr>
        <p:grpSpPr bwMode="auto">
          <a:xfrm>
            <a:off x="490538" y="1066800"/>
            <a:ext cx="8334375" cy="1447800"/>
            <a:chOff x="309" y="672"/>
            <a:chExt cx="5250" cy="912"/>
          </a:xfrm>
        </p:grpSpPr>
        <p:grpSp>
          <p:nvGrpSpPr>
            <p:cNvPr id="3" name="Group 6"/>
            <p:cNvGrpSpPr>
              <a:grpSpLocks/>
            </p:cNvGrpSpPr>
            <p:nvPr/>
          </p:nvGrpSpPr>
          <p:grpSpPr bwMode="auto">
            <a:xfrm>
              <a:off x="309" y="672"/>
              <a:ext cx="1440" cy="912"/>
              <a:chOff x="288" y="672"/>
              <a:chExt cx="1392" cy="816"/>
            </a:xfrm>
          </p:grpSpPr>
          <p:pic>
            <p:nvPicPr>
              <p:cNvPr id="20501" name="Picture 4" descr="C:\DOCUME~1\WALTOL~1\LOCALS~1\Temp\\msotw9_temp0.jpg"/>
              <p:cNvPicPr>
                <a:picLocks noChangeAspect="1" noChangeArrowheads="1"/>
              </p:cNvPicPr>
              <p:nvPr/>
            </p:nvPicPr>
            <p:blipFill>
              <a:blip r:embed="rId2" cstate="print"/>
              <a:srcRect/>
              <a:stretch>
                <a:fillRect/>
              </a:stretch>
            </p:blipFill>
            <p:spPr bwMode="auto">
              <a:xfrm>
                <a:off x="288" y="672"/>
                <a:ext cx="1296" cy="812"/>
              </a:xfrm>
              <a:prstGeom prst="rect">
                <a:avLst/>
              </a:prstGeom>
              <a:noFill/>
              <a:ln w="9525">
                <a:noFill/>
                <a:miter lim="800000"/>
                <a:headEnd/>
                <a:tailEnd/>
              </a:ln>
            </p:spPr>
          </p:pic>
          <p:sp>
            <p:nvSpPr>
              <p:cNvPr id="20502" name="Rectangle 5"/>
              <p:cNvSpPr>
                <a:spLocks noChangeArrowheads="1"/>
              </p:cNvSpPr>
              <p:nvPr/>
            </p:nvSpPr>
            <p:spPr bwMode="auto">
              <a:xfrm>
                <a:off x="1488" y="1248"/>
                <a:ext cx="192" cy="240"/>
              </a:xfrm>
              <a:prstGeom prst="rect">
                <a:avLst/>
              </a:prstGeom>
              <a:solidFill>
                <a:srgbClr val="FFFFFF"/>
              </a:solidFill>
              <a:ln w="9525">
                <a:noFill/>
                <a:miter lim="800000"/>
                <a:headEnd/>
                <a:tailEnd/>
              </a:ln>
            </p:spPr>
            <p:txBody>
              <a:bodyPr wrap="none" anchor="ctr"/>
              <a:lstStyle/>
              <a:p>
                <a:endParaRPr lang="en-US"/>
              </a:p>
            </p:txBody>
          </p:sp>
        </p:grpSp>
        <p:sp>
          <p:nvSpPr>
            <p:cNvPr id="20500" name="Text Box 16"/>
            <p:cNvSpPr txBox="1">
              <a:spLocks noChangeArrowheads="1"/>
            </p:cNvSpPr>
            <p:nvPr/>
          </p:nvSpPr>
          <p:spPr bwMode="auto">
            <a:xfrm>
              <a:off x="2028" y="674"/>
              <a:ext cx="3531" cy="250"/>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Consider a plate subjected to two forces </a:t>
              </a:r>
              <a:r>
                <a:rPr lang="en-US" sz="2000" i="1" dirty="0"/>
                <a:t>F</a:t>
              </a:r>
              <a:r>
                <a:rPr lang="en-US" sz="2000" i="1" baseline="-25000" dirty="0"/>
                <a:t>1</a:t>
              </a:r>
              <a:r>
                <a:rPr lang="en-US" sz="2000" b="0" dirty="0"/>
                <a:t> and </a:t>
              </a:r>
              <a:r>
                <a:rPr lang="en-US" sz="2000" i="1" dirty="0"/>
                <a:t>F</a:t>
              </a:r>
              <a:r>
                <a:rPr lang="en-US" sz="2000" i="1" baseline="-25000" dirty="0"/>
                <a:t>2</a:t>
              </a:r>
              <a:endParaRPr lang="en-US" sz="2000" i="1" dirty="0"/>
            </a:p>
          </p:txBody>
        </p:sp>
      </p:grpSp>
      <p:grpSp>
        <p:nvGrpSpPr>
          <p:cNvPr id="4" name="Group 21"/>
          <p:cNvGrpSpPr>
            <a:grpSpLocks/>
          </p:cNvGrpSpPr>
          <p:nvPr/>
        </p:nvGrpSpPr>
        <p:grpSpPr bwMode="auto">
          <a:xfrm>
            <a:off x="414338" y="1895475"/>
            <a:ext cx="8540750" cy="2447925"/>
            <a:chOff x="261" y="1194"/>
            <a:chExt cx="5380" cy="1542"/>
          </a:xfrm>
        </p:grpSpPr>
        <p:grpSp>
          <p:nvGrpSpPr>
            <p:cNvPr id="5" name="Group 11"/>
            <p:cNvGrpSpPr>
              <a:grpSpLocks/>
            </p:cNvGrpSpPr>
            <p:nvPr/>
          </p:nvGrpSpPr>
          <p:grpSpPr bwMode="auto">
            <a:xfrm>
              <a:off x="261" y="1632"/>
              <a:ext cx="1584" cy="1104"/>
              <a:chOff x="480" y="1824"/>
              <a:chExt cx="1440" cy="912"/>
            </a:xfrm>
          </p:grpSpPr>
          <p:grpSp>
            <p:nvGrpSpPr>
              <p:cNvPr id="6" name="Group 9"/>
              <p:cNvGrpSpPr>
                <a:grpSpLocks/>
              </p:cNvGrpSpPr>
              <p:nvPr/>
            </p:nvGrpSpPr>
            <p:grpSpPr bwMode="auto">
              <a:xfrm>
                <a:off x="480" y="1824"/>
                <a:ext cx="1392" cy="813"/>
                <a:chOff x="480" y="1824"/>
                <a:chExt cx="1392" cy="813"/>
              </a:xfrm>
            </p:grpSpPr>
            <p:pic>
              <p:nvPicPr>
                <p:cNvPr id="20497" name="Picture 7" descr="C:\DOCUME~1\WALTOL~1\LOCALS~1\Temp\\msotw9_temp0.jpg"/>
                <p:cNvPicPr>
                  <a:picLocks noChangeAspect="1" noChangeArrowheads="1"/>
                </p:cNvPicPr>
                <p:nvPr/>
              </p:nvPicPr>
              <p:blipFill>
                <a:blip r:embed="rId3" cstate="print"/>
                <a:srcRect/>
                <a:stretch>
                  <a:fillRect/>
                </a:stretch>
              </p:blipFill>
              <p:spPr bwMode="auto">
                <a:xfrm>
                  <a:off x="528" y="1824"/>
                  <a:ext cx="1344" cy="813"/>
                </a:xfrm>
                <a:prstGeom prst="rect">
                  <a:avLst/>
                </a:prstGeom>
                <a:noFill/>
                <a:ln w="9525">
                  <a:noFill/>
                  <a:miter lim="800000"/>
                  <a:headEnd/>
                  <a:tailEnd/>
                </a:ln>
              </p:spPr>
            </p:pic>
            <p:sp>
              <p:nvSpPr>
                <p:cNvPr id="20498" name="Rectangle 8"/>
                <p:cNvSpPr>
                  <a:spLocks noChangeArrowheads="1"/>
                </p:cNvSpPr>
                <p:nvPr/>
              </p:nvSpPr>
              <p:spPr bwMode="auto">
                <a:xfrm>
                  <a:off x="480" y="1872"/>
                  <a:ext cx="192" cy="192"/>
                </a:xfrm>
                <a:prstGeom prst="rect">
                  <a:avLst/>
                </a:prstGeom>
                <a:solidFill>
                  <a:srgbClr val="FFFFFF"/>
                </a:solidFill>
                <a:ln w="9525">
                  <a:noFill/>
                  <a:miter lim="800000"/>
                  <a:headEnd/>
                  <a:tailEnd/>
                </a:ln>
              </p:spPr>
              <p:txBody>
                <a:bodyPr wrap="none" anchor="ctr"/>
                <a:lstStyle/>
                <a:p>
                  <a:endParaRPr lang="en-US"/>
                </a:p>
              </p:txBody>
            </p:sp>
          </p:grpSp>
          <p:sp>
            <p:nvSpPr>
              <p:cNvPr id="20496" name="Rectangle 10"/>
              <p:cNvSpPr>
                <a:spLocks noChangeArrowheads="1"/>
              </p:cNvSpPr>
              <p:nvPr/>
            </p:nvSpPr>
            <p:spPr bwMode="auto">
              <a:xfrm>
                <a:off x="1776" y="2544"/>
                <a:ext cx="144" cy="192"/>
              </a:xfrm>
              <a:prstGeom prst="rect">
                <a:avLst/>
              </a:prstGeom>
              <a:solidFill>
                <a:srgbClr val="FFFFFF"/>
              </a:solidFill>
              <a:ln w="9525">
                <a:noFill/>
                <a:miter lim="800000"/>
                <a:headEnd/>
                <a:tailEnd/>
              </a:ln>
            </p:spPr>
            <p:txBody>
              <a:bodyPr wrap="none" anchor="ctr"/>
              <a:lstStyle/>
              <a:p>
                <a:endParaRPr lang="en-US"/>
              </a:p>
            </p:txBody>
          </p:sp>
        </p:grpSp>
        <p:sp>
          <p:nvSpPr>
            <p:cNvPr id="20494" name="Text Box 17"/>
            <p:cNvSpPr txBox="1">
              <a:spLocks noChangeArrowheads="1"/>
            </p:cNvSpPr>
            <p:nvPr/>
          </p:nvSpPr>
          <p:spPr bwMode="auto">
            <a:xfrm>
              <a:off x="2028" y="1194"/>
              <a:ext cx="3613" cy="826"/>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For static equilibrium, the sum of moments about </a:t>
              </a:r>
              <a:r>
                <a:rPr lang="en-US" sz="2000" b="0" i="1"/>
                <a:t>A</a:t>
              </a:r>
              <a:r>
                <a:rPr lang="en-US" sz="2000" b="0"/>
                <a:t> must be zero.  The moment of </a:t>
              </a:r>
              <a:r>
                <a:rPr lang="en-US" sz="2000" i="1"/>
                <a:t>F</a:t>
              </a:r>
              <a:r>
                <a:rPr lang="en-US" sz="2000" i="1" baseline="-25000"/>
                <a:t>2</a:t>
              </a:r>
              <a:r>
                <a:rPr lang="en-US" sz="2000" b="0"/>
                <a:t> must be zero.  It follows that the line of action of </a:t>
              </a:r>
              <a:r>
                <a:rPr lang="en-US" sz="2000" i="1"/>
                <a:t>F</a:t>
              </a:r>
              <a:r>
                <a:rPr lang="en-US" sz="2000" i="1" baseline="-25000"/>
                <a:t>2</a:t>
              </a:r>
              <a:r>
                <a:rPr lang="en-US" sz="2000" b="0"/>
                <a:t> must pass through </a:t>
              </a:r>
              <a:r>
                <a:rPr lang="en-US" sz="2000" b="0" i="1"/>
                <a:t>A</a:t>
              </a:r>
              <a:r>
                <a:rPr lang="en-US" sz="2000" b="0"/>
                <a:t>.</a:t>
              </a:r>
            </a:p>
          </p:txBody>
        </p:sp>
      </p:grpSp>
      <p:grpSp>
        <p:nvGrpSpPr>
          <p:cNvPr id="7" name="Group 22"/>
          <p:cNvGrpSpPr>
            <a:grpSpLocks/>
          </p:cNvGrpSpPr>
          <p:nvPr/>
        </p:nvGrpSpPr>
        <p:grpSpPr bwMode="auto">
          <a:xfrm>
            <a:off x="490538" y="3635375"/>
            <a:ext cx="8369300" cy="2689225"/>
            <a:chOff x="309" y="2290"/>
            <a:chExt cx="5272" cy="1694"/>
          </a:xfrm>
        </p:grpSpPr>
        <p:grpSp>
          <p:nvGrpSpPr>
            <p:cNvPr id="8" name="Group 15"/>
            <p:cNvGrpSpPr>
              <a:grpSpLocks/>
            </p:cNvGrpSpPr>
            <p:nvPr/>
          </p:nvGrpSpPr>
          <p:grpSpPr bwMode="auto">
            <a:xfrm>
              <a:off x="309" y="2880"/>
              <a:ext cx="1536" cy="1104"/>
              <a:chOff x="2352" y="1824"/>
              <a:chExt cx="1776" cy="1488"/>
            </a:xfrm>
          </p:grpSpPr>
          <p:pic>
            <p:nvPicPr>
              <p:cNvPr id="20490" name="Picture 12" descr="C:\DOCUME~1\WALTOL~1\LOCALS~1\Temp\\msotw9_temp0.jpg"/>
              <p:cNvPicPr>
                <a:picLocks noChangeAspect="1" noChangeArrowheads="1"/>
              </p:cNvPicPr>
              <p:nvPr/>
            </p:nvPicPr>
            <p:blipFill>
              <a:blip r:embed="rId4" cstate="print"/>
              <a:srcRect/>
              <a:stretch>
                <a:fillRect/>
              </a:stretch>
            </p:blipFill>
            <p:spPr bwMode="auto">
              <a:xfrm>
                <a:off x="2400" y="1824"/>
                <a:ext cx="1728" cy="1344"/>
              </a:xfrm>
              <a:prstGeom prst="rect">
                <a:avLst/>
              </a:prstGeom>
              <a:noFill/>
              <a:ln w="9525">
                <a:noFill/>
                <a:miter lim="800000"/>
                <a:headEnd/>
                <a:tailEnd/>
              </a:ln>
            </p:spPr>
          </p:pic>
          <p:sp>
            <p:nvSpPr>
              <p:cNvPr id="20491" name="Rectangle 13"/>
              <p:cNvSpPr>
                <a:spLocks noChangeArrowheads="1"/>
              </p:cNvSpPr>
              <p:nvPr/>
            </p:nvSpPr>
            <p:spPr bwMode="auto">
              <a:xfrm>
                <a:off x="2352" y="1872"/>
                <a:ext cx="288" cy="384"/>
              </a:xfrm>
              <a:prstGeom prst="rect">
                <a:avLst/>
              </a:prstGeom>
              <a:solidFill>
                <a:srgbClr val="FFFFFF"/>
              </a:solidFill>
              <a:ln w="9525">
                <a:noFill/>
                <a:miter lim="800000"/>
                <a:headEnd/>
                <a:tailEnd/>
              </a:ln>
            </p:spPr>
            <p:txBody>
              <a:bodyPr wrap="none" anchor="ctr"/>
              <a:lstStyle/>
              <a:p>
                <a:endParaRPr lang="en-US"/>
              </a:p>
            </p:txBody>
          </p:sp>
          <p:sp>
            <p:nvSpPr>
              <p:cNvPr id="20492" name="Rectangle 14"/>
              <p:cNvSpPr>
                <a:spLocks noChangeArrowheads="1"/>
              </p:cNvSpPr>
              <p:nvPr/>
            </p:nvSpPr>
            <p:spPr bwMode="auto">
              <a:xfrm>
                <a:off x="3168" y="3024"/>
                <a:ext cx="192" cy="288"/>
              </a:xfrm>
              <a:prstGeom prst="rect">
                <a:avLst/>
              </a:prstGeom>
              <a:solidFill>
                <a:srgbClr val="FFFFFF"/>
              </a:solidFill>
              <a:ln w="9525">
                <a:noFill/>
                <a:miter lim="800000"/>
                <a:headEnd/>
                <a:tailEnd/>
              </a:ln>
            </p:spPr>
            <p:txBody>
              <a:bodyPr wrap="none" anchor="ctr"/>
              <a:lstStyle/>
              <a:p>
                <a:endParaRPr lang="en-US"/>
              </a:p>
            </p:txBody>
          </p:sp>
        </p:grpSp>
        <p:sp>
          <p:nvSpPr>
            <p:cNvPr id="20489" name="Text Box 18"/>
            <p:cNvSpPr txBox="1">
              <a:spLocks noChangeArrowheads="1"/>
            </p:cNvSpPr>
            <p:nvPr/>
          </p:nvSpPr>
          <p:spPr bwMode="auto">
            <a:xfrm>
              <a:off x="2028" y="2290"/>
              <a:ext cx="3553"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Similarly, the line of action of </a:t>
              </a:r>
              <a:r>
                <a:rPr lang="en-US" sz="2000" i="1"/>
                <a:t>F</a:t>
              </a:r>
              <a:r>
                <a:rPr lang="en-US" sz="2000" i="1" baseline="-25000"/>
                <a:t>1 </a:t>
              </a:r>
              <a:r>
                <a:rPr lang="en-US" sz="2000" b="0"/>
                <a:t>must pass through </a:t>
              </a:r>
              <a:r>
                <a:rPr lang="en-US" sz="2000" b="0" i="1"/>
                <a:t>B</a:t>
              </a:r>
              <a:r>
                <a:rPr lang="en-US" sz="2000" b="0"/>
                <a:t> for the sum of moments about </a:t>
              </a:r>
              <a:r>
                <a:rPr lang="en-US" sz="2000" b="0" i="1"/>
                <a:t>B</a:t>
              </a:r>
              <a:r>
                <a:rPr lang="en-US" sz="2000" b="0"/>
                <a:t> to be zero.</a:t>
              </a:r>
              <a:endParaRPr lang="en-US" sz="2000" i="1" baseline="-25000"/>
            </a:p>
          </p:txBody>
        </p:sp>
      </p:grpSp>
      <p:sp>
        <p:nvSpPr>
          <p:cNvPr id="15379" name="Text Box 19"/>
          <p:cNvSpPr txBox="1">
            <a:spLocks noChangeArrowheads="1"/>
          </p:cNvSpPr>
          <p:nvPr/>
        </p:nvSpPr>
        <p:spPr bwMode="auto">
          <a:xfrm>
            <a:off x="3219450" y="5070475"/>
            <a:ext cx="5735638" cy="10064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Requiring that the sum of forces in any direction be zero leads to the conclusion that </a:t>
            </a:r>
            <a:r>
              <a:rPr lang="en-US" sz="2000" i="1"/>
              <a:t>F</a:t>
            </a:r>
            <a:r>
              <a:rPr lang="en-US" sz="2000" i="1" baseline="-25000"/>
              <a:t>1</a:t>
            </a:r>
            <a:r>
              <a:rPr lang="en-US" sz="2000" b="0"/>
              <a:t> and </a:t>
            </a:r>
            <a:r>
              <a:rPr lang="en-US" sz="2000" i="1"/>
              <a:t>F</a:t>
            </a:r>
            <a:r>
              <a:rPr lang="en-US" sz="2000" i="1" baseline="-25000"/>
              <a:t>2 </a:t>
            </a:r>
            <a:r>
              <a:rPr lang="en-US" sz="2000" b="0"/>
              <a:t>must have equal magnitude but opposite sense.</a:t>
            </a:r>
            <a:endParaRPr lang="en-US" sz="2000" i="1" baseline="-25000"/>
          </a:p>
        </p:txBody>
      </p:sp>
      <p:sp>
        <p:nvSpPr>
          <p:cNvPr id="23" name="Date Placeholder 22"/>
          <p:cNvSpPr>
            <a:spLocks noGrp="1"/>
          </p:cNvSpPr>
          <p:nvPr>
            <p:ph type="dt" sz="half" idx="10"/>
          </p:nvPr>
        </p:nvSpPr>
        <p:spPr>
          <a:xfrm>
            <a:off x="457200" y="6400800"/>
            <a:ext cx="1905000" cy="457200"/>
          </a:xfrm>
        </p:spPr>
        <p:txBody>
          <a:bodyPr/>
          <a:lstStyle/>
          <a:p>
            <a:r>
              <a:rPr lang="en-US" dirty="0" smtClean="0"/>
              <a:t>Engineering Mechanics</a:t>
            </a:r>
            <a:endParaRPr lang="en-GB" dirty="0"/>
          </a:p>
        </p:txBody>
      </p:sp>
      <p:sp>
        <p:nvSpPr>
          <p:cNvPr id="24" name="Footer Placeholder 23"/>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9"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90600" y="-228600"/>
            <a:ext cx="7772400" cy="1143000"/>
          </a:xfrm>
        </p:spPr>
        <p:txBody>
          <a:bodyPr/>
          <a:lstStyle/>
          <a:p>
            <a:r>
              <a:rPr lang="en-US" sz="4000" dirty="0" smtClean="0">
                <a:ea typeface="ＭＳ Ｐゴシック" charset="-128"/>
              </a:rPr>
              <a:t>Equilibrium of a Three-Force Body</a:t>
            </a:r>
          </a:p>
        </p:txBody>
      </p:sp>
      <p:sp>
        <p:nvSpPr>
          <p:cNvPr id="13" name="Slide Number Placeholder 2"/>
          <p:cNvSpPr>
            <a:spLocks noGrp="1"/>
          </p:cNvSpPr>
          <p:nvPr>
            <p:ph type="sldNum" sz="quarter" idx="10"/>
          </p:nvPr>
        </p:nvSpPr>
        <p:spPr>
          <a:xfrm>
            <a:off x="8610600" y="6400800"/>
            <a:ext cx="533400" cy="457200"/>
          </a:xfrm>
        </p:spPr>
        <p:txBody>
          <a:bodyPr/>
          <a:lstStyle/>
          <a:p>
            <a:r>
              <a:rPr lang="en-US" dirty="0" smtClean="0"/>
              <a:t> </a:t>
            </a:r>
            <a:fld id="{B73DC8EE-8AB3-4E34-9E2D-1331ACCB5D8F}" type="slidenum">
              <a:rPr lang="en-US" sz="2400"/>
              <a:pPr/>
              <a:t>48</a:t>
            </a:fld>
            <a:endParaRPr lang="en-US" sz="2400" dirty="0"/>
          </a:p>
        </p:txBody>
      </p:sp>
      <p:grpSp>
        <p:nvGrpSpPr>
          <p:cNvPr id="2" name="Group 10"/>
          <p:cNvGrpSpPr>
            <a:grpSpLocks/>
          </p:cNvGrpSpPr>
          <p:nvPr/>
        </p:nvGrpSpPr>
        <p:grpSpPr bwMode="auto">
          <a:xfrm>
            <a:off x="409575" y="996950"/>
            <a:ext cx="8413750" cy="1800225"/>
            <a:chOff x="288" y="576"/>
            <a:chExt cx="5300" cy="1134"/>
          </a:xfrm>
        </p:grpSpPr>
        <p:pic>
          <p:nvPicPr>
            <p:cNvPr id="21516" name="Picture 3" descr="C:\DOCUME~1\WALTOL~1\LOCALS~1\Temp\\msotw9_temp0.jpg"/>
            <p:cNvPicPr>
              <a:picLocks noChangeAspect="1" noChangeArrowheads="1"/>
            </p:cNvPicPr>
            <p:nvPr/>
          </p:nvPicPr>
          <p:blipFill>
            <a:blip r:embed="rId2" cstate="print"/>
            <a:srcRect/>
            <a:stretch>
              <a:fillRect/>
            </a:stretch>
          </p:blipFill>
          <p:spPr bwMode="auto">
            <a:xfrm>
              <a:off x="288" y="576"/>
              <a:ext cx="1344" cy="1134"/>
            </a:xfrm>
            <a:prstGeom prst="rect">
              <a:avLst/>
            </a:prstGeom>
            <a:noFill/>
            <a:ln w="9525">
              <a:noFill/>
              <a:miter lim="800000"/>
              <a:headEnd/>
              <a:tailEnd/>
            </a:ln>
          </p:spPr>
        </p:pic>
        <p:sp>
          <p:nvSpPr>
            <p:cNvPr id="21517" name="Text Box 6"/>
            <p:cNvSpPr txBox="1">
              <a:spLocks noChangeArrowheads="1"/>
            </p:cNvSpPr>
            <p:nvPr/>
          </p:nvSpPr>
          <p:spPr bwMode="auto">
            <a:xfrm>
              <a:off x="1870" y="688"/>
              <a:ext cx="3718"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Consider a rigid body subjected to forces acting at only 3 points.</a:t>
              </a:r>
            </a:p>
          </p:txBody>
        </p:sp>
      </p:grpSp>
      <p:grpSp>
        <p:nvGrpSpPr>
          <p:cNvPr id="3" name="Group 11"/>
          <p:cNvGrpSpPr>
            <a:grpSpLocks/>
          </p:cNvGrpSpPr>
          <p:nvPr/>
        </p:nvGrpSpPr>
        <p:grpSpPr bwMode="auto">
          <a:xfrm>
            <a:off x="457200" y="2022475"/>
            <a:ext cx="8424863" cy="2533650"/>
            <a:chOff x="288" y="1274"/>
            <a:chExt cx="5307" cy="1596"/>
          </a:xfrm>
        </p:grpSpPr>
        <p:pic>
          <p:nvPicPr>
            <p:cNvPr id="21514" name="Picture 4" descr="C:\DOCUME~1\WALTOL~1\LOCALS~1\Temp\\msotw9_temp0.jpg"/>
            <p:cNvPicPr>
              <a:picLocks noChangeAspect="1" noChangeArrowheads="1"/>
            </p:cNvPicPr>
            <p:nvPr/>
          </p:nvPicPr>
          <p:blipFill>
            <a:blip r:embed="rId3" cstate="print"/>
            <a:srcRect/>
            <a:stretch>
              <a:fillRect/>
            </a:stretch>
          </p:blipFill>
          <p:spPr bwMode="auto">
            <a:xfrm>
              <a:off x="288" y="1728"/>
              <a:ext cx="1392" cy="1142"/>
            </a:xfrm>
            <a:prstGeom prst="rect">
              <a:avLst/>
            </a:prstGeom>
            <a:noFill/>
            <a:ln w="9525">
              <a:noFill/>
              <a:miter lim="800000"/>
              <a:headEnd/>
              <a:tailEnd/>
            </a:ln>
          </p:spPr>
        </p:pic>
        <p:sp>
          <p:nvSpPr>
            <p:cNvPr id="21515" name="Text Box 7"/>
            <p:cNvSpPr txBox="1">
              <a:spLocks noChangeArrowheads="1"/>
            </p:cNvSpPr>
            <p:nvPr/>
          </p:nvSpPr>
          <p:spPr bwMode="auto">
            <a:xfrm>
              <a:off x="1870" y="1274"/>
              <a:ext cx="3725"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Assuming that their lines of action intersect, the moment of  </a:t>
              </a:r>
              <a:r>
                <a:rPr lang="en-US" sz="2000" i="1"/>
                <a:t>F</a:t>
              </a:r>
              <a:r>
                <a:rPr lang="en-US" sz="2000" i="1" baseline="-25000"/>
                <a:t>1</a:t>
              </a:r>
              <a:r>
                <a:rPr lang="en-US" sz="2000" b="0"/>
                <a:t> and </a:t>
              </a:r>
              <a:r>
                <a:rPr lang="en-US" sz="2000" i="1"/>
                <a:t>F</a:t>
              </a:r>
              <a:r>
                <a:rPr lang="en-US" sz="2000" i="1" baseline="-25000"/>
                <a:t>2</a:t>
              </a:r>
              <a:r>
                <a:rPr lang="en-US" sz="2000" b="0"/>
                <a:t> about the point of intersection represented by </a:t>
              </a:r>
              <a:r>
                <a:rPr lang="en-US" sz="2000" b="0" i="1"/>
                <a:t>D</a:t>
              </a:r>
              <a:r>
                <a:rPr lang="en-US" sz="2000" b="0"/>
                <a:t> is zero.</a:t>
              </a:r>
            </a:p>
          </p:txBody>
        </p:sp>
      </p:grpSp>
      <p:grpSp>
        <p:nvGrpSpPr>
          <p:cNvPr id="4" name="Group 12"/>
          <p:cNvGrpSpPr>
            <a:grpSpLocks/>
          </p:cNvGrpSpPr>
          <p:nvPr/>
        </p:nvGrpSpPr>
        <p:grpSpPr bwMode="auto">
          <a:xfrm>
            <a:off x="457200" y="3259138"/>
            <a:ext cx="8459788" cy="3216275"/>
            <a:chOff x="288" y="2053"/>
            <a:chExt cx="5329" cy="2026"/>
          </a:xfrm>
        </p:grpSpPr>
        <p:pic>
          <p:nvPicPr>
            <p:cNvPr id="21512" name="Picture 5" descr="C:\DOCUME~1\WALTOL~1\LOCALS~1\Temp\\msotw9_temp0.jpg"/>
            <p:cNvPicPr>
              <a:picLocks noChangeAspect="1" noChangeArrowheads="1"/>
            </p:cNvPicPr>
            <p:nvPr/>
          </p:nvPicPr>
          <p:blipFill>
            <a:blip r:embed="rId4" cstate="print"/>
            <a:srcRect/>
            <a:stretch>
              <a:fillRect/>
            </a:stretch>
          </p:blipFill>
          <p:spPr bwMode="auto">
            <a:xfrm>
              <a:off x="288" y="2976"/>
              <a:ext cx="1344" cy="1103"/>
            </a:xfrm>
            <a:prstGeom prst="rect">
              <a:avLst/>
            </a:prstGeom>
            <a:noFill/>
            <a:ln w="9525">
              <a:noFill/>
              <a:miter lim="800000"/>
              <a:headEnd/>
              <a:tailEnd/>
            </a:ln>
          </p:spPr>
        </p:pic>
        <p:sp>
          <p:nvSpPr>
            <p:cNvPr id="21513" name="Text Box 8"/>
            <p:cNvSpPr txBox="1">
              <a:spLocks noChangeArrowheads="1"/>
            </p:cNvSpPr>
            <p:nvPr/>
          </p:nvSpPr>
          <p:spPr bwMode="auto">
            <a:xfrm>
              <a:off x="1870" y="2053"/>
              <a:ext cx="3747" cy="1018"/>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Since the rigid body is in equilibrium, the sum of the moments of </a:t>
              </a:r>
              <a:r>
                <a:rPr lang="en-US" sz="2000" i="1"/>
                <a:t>F</a:t>
              </a:r>
              <a:r>
                <a:rPr lang="en-US" sz="2000" i="1" baseline="-25000"/>
                <a:t>1</a:t>
              </a:r>
              <a:r>
                <a:rPr lang="en-US" sz="2000" b="0"/>
                <a:t>, </a:t>
              </a:r>
              <a:r>
                <a:rPr lang="en-US" sz="2000" i="1"/>
                <a:t>F</a:t>
              </a:r>
              <a:r>
                <a:rPr lang="en-US" sz="2000" i="1" baseline="-25000"/>
                <a:t>2</a:t>
              </a:r>
              <a:r>
                <a:rPr lang="en-US" sz="2000" b="0"/>
                <a:t>, and </a:t>
              </a:r>
              <a:r>
                <a:rPr lang="en-US" sz="2000" i="1"/>
                <a:t>F</a:t>
              </a:r>
              <a:r>
                <a:rPr lang="en-US" sz="2000" i="1" baseline="-25000"/>
                <a:t>3</a:t>
              </a:r>
              <a:r>
                <a:rPr lang="en-US" sz="2000" b="0"/>
                <a:t> about any axis must be zero. It follows that the moment of </a:t>
              </a:r>
              <a:r>
                <a:rPr lang="en-US" sz="2000" i="1"/>
                <a:t>F</a:t>
              </a:r>
              <a:r>
                <a:rPr lang="en-US" sz="2000" i="1" baseline="-25000"/>
                <a:t>3</a:t>
              </a:r>
              <a:r>
                <a:rPr lang="en-US" sz="2000" b="0"/>
                <a:t> about </a:t>
              </a:r>
              <a:r>
                <a:rPr lang="en-US" sz="2000" b="0" i="1"/>
                <a:t>D</a:t>
              </a:r>
              <a:r>
                <a:rPr lang="en-US" sz="2000" b="0"/>
                <a:t> must be zero as well and that the line of action of </a:t>
              </a:r>
              <a:r>
                <a:rPr lang="en-US" sz="2000" i="1"/>
                <a:t>F</a:t>
              </a:r>
              <a:r>
                <a:rPr lang="en-US" sz="2000" i="1" baseline="-25000"/>
                <a:t>3</a:t>
              </a:r>
              <a:r>
                <a:rPr lang="en-US" sz="2000" b="0"/>
                <a:t> must pass through </a:t>
              </a:r>
              <a:r>
                <a:rPr lang="en-US" sz="2000" b="0" i="1"/>
                <a:t>D</a:t>
              </a:r>
              <a:r>
                <a:rPr lang="en-US" sz="2000" b="0"/>
                <a:t>.</a:t>
              </a:r>
            </a:p>
          </p:txBody>
        </p:sp>
      </p:grpSp>
      <p:sp>
        <p:nvSpPr>
          <p:cNvPr id="16393" name="Text Box 9"/>
          <p:cNvSpPr txBox="1">
            <a:spLocks noChangeArrowheads="1"/>
          </p:cNvSpPr>
          <p:nvPr/>
        </p:nvSpPr>
        <p:spPr bwMode="auto">
          <a:xfrm>
            <a:off x="2968625" y="5105400"/>
            <a:ext cx="5865813" cy="7016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The lines of action of the three forces must be concurrent or parallel.</a:t>
            </a:r>
          </a:p>
        </p:txBody>
      </p:sp>
      <p:sp>
        <p:nvSpPr>
          <p:cNvPr id="14" name="Date Placeholder 13"/>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5" name="Footer Placeholder 14"/>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90600" y="-381000"/>
            <a:ext cx="7772400" cy="1143000"/>
          </a:xfrm>
        </p:spPr>
        <p:txBody>
          <a:bodyPr/>
          <a:lstStyle/>
          <a:p>
            <a:r>
              <a:rPr lang="en-US" dirty="0" smtClean="0">
                <a:ea typeface="ＭＳ Ｐゴシック" charset="-128"/>
              </a:rPr>
              <a:t>Example</a:t>
            </a:r>
          </a:p>
        </p:txBody>
      </p:sp>
      <p:sp>
        <p:nvSpPr>
          <p:cNvPr id="8" name="Slide Number Placeholder 2"/>
          <p:cNvSpPr>
            <a:spLocks noGrp="1"/>
          </p:cNvSpPr>
          <p:nvPr>
            <p:ph type="sldNum" sz="quarter" idx="10"/>
          </p:nvPr>
        </p:nvSpPr>
        <p:spPr>
          <a:xfrm>
            <a:off x="7239000" y="6400800"/>
            <a:ext cx="1905000" cy="457200"/>
          </a:xfrm>
        </p:spPr>
        <p:txBody>
          <a:bodyPr/>
          <a:lstStyle/>
          <a:p>
            <a:r>
              <a:rPr lang="en-US" dirty="0" smtClean="0"/>
              <a:t>                             </a:t>
            </a:r>
            <a:fld id="{74770CC4-F21D-4B41-A160-88D8EA873CAC}" type="slidenum">
              <a:rPr lang="en-US" sz="2000" smtClean="0"/>
              <a:pPr/>
              <a:t>49</a:t>
            </a:fld>
            <a:endParaRPr lang="en-US" sz="2000" dirty="0"/>
          </a:p>
        </p:txBody>
      </p:sp>
      <p:pic>
        <p:nvPicPr>
          <p:cNvPr id="22532" name="Picture 3" descr="C:\DOCUME~1\WALTOL~1\LOCALS~1\Temp\\msotw9_temp0.jpg"/>
          <p:cNvPicPr>
            <a:picLocks noChangeAspect="1" noChangeArrowheads="1"/>
          </p:cNvPicPr>
          <p:nvPr/>
        </p:nvPicPr>
        <p:blipFill>
          <a:blip r:embed="rId2" cstate="print"/>
          <a:srcRect/>
          <a:stretch>
            <a:fillRect/>
          </a:stretch>
        </p:blipFill>
        <p:spPr bwMode="auto">
          <a:xfrm>
            <a:off x="533400" y="1066800"/>
            <a:ext cx="3352800" cy="2125663"/>
          </a:xfrm>
          <a:prstGeom prst="rect">
            <a:avLst/>
          </a:prstGeom>
          <a:noFill/>
          <a:ln w="9525">
            <a:noFill/>
            <a:miter lim="800000"/>
            <a:headEnd/>
            <a:tailEnd/>
          </a:ln>
        </p:spPr>
      </p:pic>
      <p:sp>
        <p:nvSpPr>
          <p:cNvPr id="22533" name="Text Box 4"/>
          <p:cNvSpPr txBox="1">
            <a:spLocks noChangeArrowheads="1"/>
          </p:cNvSpPr>
          <p:nvPr/>
        </p:nvSpPr>
        <p:spPr bwMode="auto">
          <a:xfrm>
            <a:off x="415925" y="3503613"/>
            <a:ext cx="3514725" cy="1463675"/>
          </a:xfrm>
          <a:prstGeom prst="rect">
            <a:avLst/>
          </a:prstGeom>
          <a:noFill/>
          <a:ln w="9525">
            <a:noFill/>
            <a:miter lim="800000"/>
            <a:headEnd/>
            <a:tailEnd/>
          </a:ln>
        </p:spPr>
        <p:txBody>
          <a:bodyPr>
            <a:spAutoFit/>
          </a:bodyPr>
          <a:lstStyle/>
          <a:p>
            <a:pPr>
              <a:spcBef>
                <a:spcPct val="50000"/>
              </a:spcBef>
            </a:pPr>
            <a:r>
              <a:rPr lang="en-US" sz="2000" b="0"/>
              <a:t>A man raises a 10 kg joist, of length 4 m, by pulling on a rope.</a:t>
            </a:r>
          </a:p>
          <a:p>
            <a:pPr>
              <a:spcBef>
                <a:spcPct val="50000"/>
              </a:spcBef>
            </a:pPr>
            <a:r>
              <a:rPr lang="en-US" sz="2000" b="0"/>
              <a:t>Find the tension in the rope and the reaction at </a:t>
            </a:r>
            <a:r>
              <a:rPr lang="en-US" sz="2000" b="0" i="1"/>
              <a:t>A</a:t>
            </a:r>
            <a:r>
              <a:rPr lang="en-US" sz="2000" b="0"/>
              <a:t>.</a:t>
            </a:r>
          </a:p>
        </p:txBody>
      </p:sp>
      <p:sp>
        <p:nvSpPr>
          <p:cNvPr id="17413" name="Text Box 5"/>
          <p:cNvSpPr txBox="1">
            <a:spLocks noChangeArrowheads="1"/>
          </p:cNvSpPr>
          <p:nvPr/>
        </p:nvSpPr>
        <p:spPr bwMode="auto">
          <a:xfrm>
            <a:off x="4108450" y="1104900"/>
            <a:ext cx="4833938" cy="1768475"/>
          </a:xfrm>
          <a:prstGeom prst="rect">
            <a:avLst/>
          </a:prstGeom>
          <a:noFill/>
          <a:ln w="9525">
            <a:noFill/>
            <a:miter lim="800000"/>
            <a:headEnd/>
            <a:tailEnd/>
          </a:ln>
        </p:spPr>
        <p:txBody>
          <a:bodyPr>
            <a:spAutoFit/>
          </a:bodyPr>
          <a:lstStyle/>
          <a:p>
            <a:pPr marL="227013" indent="-227013">
              <a:spcBef>
                <a:spcPct val="50000"/>
              </a:spcBef>
            </a:pPr>
            <a:r>
              <a:rPr lang="en-US" sz="2000" b="0"/>
              <a:t>SOLUTION:</a:t>
            </a:r>
          </a:p>
          <a:p>
            <a:pPr marL="227013" indent="-227013">
              <a:spcBef>
                <a:spcPct val="50000"/>
              </a:spcBef>
              <a:buFontTx/>
              <a:buChar char="•"/>
            </a:pPr>
            <a:r>
              <a:rPr lang="en-US" sz="2000" b="0"/>
              <a:t>Create a free-body diagram of the joist.  Note that the joist is a 3 force body acted upon by the rope, its weight, and the reaction at </a:t>
            </a:r>
            <a:r>
              <a:rPr lang="en-US" sz="2000" b="0" i="1"/>
              <a:t>A</a:t>
            </a:r>
            <a:r>
              <a:rPr lang="en-US" sz="2000" b="0"/>
              <a:t>.</a:t>
            </a:r>
          </a:p>
        </p:txBody>
      </p:sp>
      <p:sp>
        <p:nvSpPr>
          <p:cNvPr id="17416" name="Text Box 8"/>
          <p:cNvSpPr txBox="1">
            <a:spLocks noChangeArrowheads="1"/>
          </p:cNvSpPr>
          <p:nvPr/>
        </p:nvSpPr>
        <p:spPr bwMode="auto">
          <a:xfrm>
            <a:off x="4144963" y="2981325"/>
            <a:ext cx="4784725" cy="19208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The three forces must be concurrent for static equilibrium.  Therefore, the reaction </a:t>
            </a:r>
            <a:r>
              <a:rPr lang="en-US" sz="2000" i="1"/>
              <a:t>R</a:t>
            </a:r>
            <a:r>
              <a:rPr lang="en-US" sz="2000" b="0"/>
              <a:t> must pass through the intersection of the lines of action of the weight and rope forces.  Determine the direction of the reaction force </a:t>
            </a:r>
            <a:r>
              <a:rPr lang="en-US" sz="2000" i="1"/>
              <a:t>R</a:t>
            </a:r>
            <a:r>
              <a:rPr lang="en-US" sz="2000" b="0"/>
              <a:t>.</a:t>
            </a:r>
          </a:p>
        </p:txBody>
      </p:sp>
      <p:sp>
        <p:nvSpPr>
          <p:cNvPr id="17417" name="Text Box 9"/>
          <p:cNvSpPr txBox="1">
            <a:spLocks noChangeArrowheads="1"/>
          </p:cNvSpPr>
          <p:nvPr/>
        </p:nvSpPr>
        <p:spPr bwMode="auto">
          <a:xfrm>
            <a:off x="4240213" y="4964113"/>
            <a:ext cx="4665662" cy="7016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Utilize a force triangle to determine the magnitude of the reaction force </a:t>
            </a:r>
            <a:r>
              <a:rPr lang="en-US" sz="2000" i="1"/>
              <a:t>R</a:t>
            </a:r>
            <a:r>
              <a:rPr lang="en-US" sz="2000" b="0"/>
              <a:t>.</a:t>
            </a:r>
          </a:p>
        </p:txBody>
      </p:sp>
      <p:sp>
        <p:nvSpPr>
          <p:cNvPr id="9" name="Date Placeholder 8"/>
          <p:cNvSpPr>
            <a:spLocks noGrp="1"/>
          </p:cNvSpPr>
          <p:nvPr>
            <p:ph type="dt" sz="half" idx="10"/>
          </p:nvPr>
        </p:nvSpPr>
        <p:spPr>
          <a:xfrm>
            <a:off x="838200" y="6400800"/>
            <a:ext cx="1905000" cy="457200"/>
          </a:xfrm>
        </p:spPr>
        <p:txBody>
          <a:bodyPr/>
          <a:lstStyle/>
          <a:p>
            <a:r>
              <a:rPr lang="en-US" dirty="0" smtClean="0"/>
              <a:t>Engineering Mechanics</a:t>
            </a:r>
            <a:endParaRPr lang="en-GB" dirty="0"/>
          </a:p>
        </p:txBody>
      </p:sp>
      <p:sp>
        <p:nvSpPr>
          <p:cNvPr id="10" name="Footer Placeholder 9"/>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utoUpdateAnimBg="0"/>
      <p:bldP spid="17416" grpId="0" autoUpdateAnimBg="0"/>
      <p:bldP spid="17417"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990600" y="-304800"/>
            <a:ext cx="7772400" cy="1143000"/>
          </a:xfrm>
        </p:spPr>
        <p:txBody>
          <a:bodyPr/>
          <a:lstStyle/>
          <a:p>
            <a:r>
              <a:rPr lang="en-US" dirty="0" smtClean="0">
                <a:ea typeface="ＭＳ Ｐゴシック" charset="-128"/>
              </a:rPr>
              <a:t>Solution</a:t>
            </a:r>
          </a:p>
        </p:txBody>
      </p:sp>
      <p:sp>
        <p:nvSpPr>
          <p:cNvPr id="12" name="Slide Number Placeholder 2"/>
          <p:cNvSpPr>
            <a:spLocks noGrp="1"/>
          </p:cNvSpPr>
          <p:nvPr>
            <p:ph type="sldNum" sz="quarter" idx="10"/>
          </p:nvPr>
        </p:nvSpPr>
        <p:spPr>
          <a:xfrm>
            <a:off x="7239000" y="6400800"/>
            <a:ext cx="1905000" cy="457200"/>
          </a:xfrm>
        </p:spPr>
        <p:txBody>
          <a:bodyPr/>
          <a:lstStyle/>
          <a:p>
            <a:r>
              <a:rPr lang="en-US" dirty="0" smtClean="0"/>
              <a:t>                                </a:t>
            </a:r>
            <a:fld id="{F4D24FB8-834D-4532-91C9-4EC825E323DF}" type="slidenum">
              <a:rPr lang="en-US" sz="2000" smtClean="0"/>
              <a:pPr/>
              <a:t>50</a:t>
            </a:fld>
            <a:endParaRPr lang="en-US" sz="2000" dirty="0"/>
          </a:p>
        </p:txBody>
      </p:sp>
      <p:grpSp>
        <p:nvGrpSpPr>
          <p:cNvPr id="2" name="Group 13"/>
          <p:cNvGrpSpPr>
            <a:grpSpLocks/>
          </p:cNvGrpSpPr>
          <p:nvPr/>
        </p:nvGrpSpPr>
        <p:grpSpPr bwMode="auto">
          <a:xfrm>
            <a:off x="446088" y="985838"/>
            <a:ext cx="7666037" cy="2362200"/>
            <a:chOff x="288" y="576"/>
            <a:chExt cx="4829" cy="1488"/>
          </a:xfrm>
        </p:grpSpPr>
        <p:pic>
          <p:nvPicPr>
            <p:cNvPr id="23563" name="Picture 3" descr="C:\DOCUME~1\WALTOL~1\LOCALS~1\Temp\\msotw9_temp0.jpg"/>
            <p:cNvPicPr>
              <a:picLocks noChangeAspect="1" noChangeArrowheads="1"/>
            </p:cNvPicPr>
            <p:nvPr/>
          </p:nvPicPr>
          <p:blipFill>
            <a:blip r:embed="rId3" cstate="print"/>
            <a:srcRect/>
            <a:stretch>
              <a:fillRect/>
            </a:stretch>
          </p:blipFill>
          <p:spPr bwMode="auto">
            <a:xfrm>
              <a:off x="288" y="576"/>
              <a:ext cx="1457" cy="1488"/>
            </a:xfrm>
            <a:prstGeom prst="rect">
              <a:avLst/>
            </a:prstGeom>
            <a:noFill/>
            <a:ln w="9525">
              <a:noFill/>
              <a:miter lim="800000"/>
              <a:headEnd/>
              <a:tailEnd/>
            </a:ln>
          </p:spPr>
        </p:pic>
        <p:sp>
          <p:nvSpPr>
            <p:cNvPr id="23564" name="Text Box 6"/>
            <p:cNvSpPr txBox="1">
              <a:spLocks noChangeArrowheads="1"/>
            </p:cNvSpPr>
            <p:nvPr/>
          </p:nvSpPr>
          <p:spPr bwMode="auto">
            <a:xfrm>
              <a:off x="2072" y="639"/>
              <a:ext cx="3045" cy="250"/>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Create a free-body diagram of the joist.  </a:t>
              </a:r>
            </a:p>
          </p:txBody>
        </p:sp>
      </p:grpSp>
      <p:grpSp>
        <p:nvGrpSpPr>
          <p:cNvPr id="3" name="Group 14"/>
          <p:cNvGrpSpPr>
            <a:grpSpLocks/>
          </p:cNvGrpSpPr>
          <p:nvPr/>
        </p:nvGrpSpPr>
        <p:grpSpPr bwMode="auto">
          <a:xfrm>
            <a:off x="539750" y="1620838"/>
            <a:ext cx="8259763" cy="4203700"/>
            <a:chOff x="340" y="953"/>
            <a:chExt cx="5203" cy="2648"/>
          </a:xfrm>
        </p:grpSpPr>
        <p:pic>
          <p:nvPicPr>
            <p:cNvPr id="23560" name="Picture 4" descr="C:\DOCUME~1\WALTOL~1\LOCALS~1\Temp\\msotw9_temp0.jpg"/>
            <p:cNvPicPr>
              <a:picLocks noChangeAspect="1" noChangeArrowheads="1"/>
            </p:cNvPicPr>
            <p:nvPr/>
          </p:nvPicPr>
          <p:blipFill>
            <a:blip r:embed="rId4" cstate="print"/>
            <a:srcRect/>
            <a:stretch>
              <a:fillRect/>
            </a:stretch>
          </p:blipFill>
          <p:spPr bwMode="auto">
            <a:xfrm>
              <a:off x="340" y="2209"/>
              <a:ext cx="1392" cy="1392"/>
            </a:xfrm>
            <a:prstGeom prst="rect">
              <a:avLst/>
            </a:prstGeom>
            <a:noFill/>
            <a:ln w="9525">
              <a:noFill/>
              <a:miter lim="800000"/>
              <a:headEnd/>
              <a:tailEnd/>
            </a:ln>
          </p:spPr>
        </p:pic>
        <p:grpSp>
          <p:nvGrpSpPr>
            <p:cNvPr id="4" name="Group 12"/>
            <p:cNvGrpSpPr>
              <a:grpSpLocks/>
            </p:cNvGrpSpPr>
            <p:nvPr/>
          </p:nvGrpSpPr>
          <p:grpSpPr bwMode="auto">
            <a:xfrm>
              <a:off x="2072" y="953"/>
              <a:ext cx="3471" cy="2482"/>
              <a:chOff x="2072" y="953"/>
              <a:chExt cx="3471" cy="2482"/>
            </a:xfrm>
          </p:grpSpPr>
          <p:sp>
            <p:nvSpPr>
              <p:cNvPr id="23562" name="Text Box 7"/>
              <p:cNvSpPr txBox="1">
                <a:spLocks noChangeArrowheads="1"/>
              </p:cNvSpPr>
              <p:nvPr/>
            </p:nvSpPr>
            <p:spPr bwMode="auto">
              <a:xfrm>
                <a:off x="2072" y="953"/>
                <a:ext cx="3014"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the direction of the reaction force </a:t>
                </a:r>
                <a:r>
                  <a:rPr lang="en-US" sz="2000" i="1"/>
                  <a:t>R</a:t>
                </a:r>
                <a:r>
                  <a:rPr lang="en-US" sz="2000" b="0"/>
                  <a:t>.</a:t>
                </a:r>
              </a:p>
            </p:txBody>
          </p:sp>
          <p:graphicFrame>
            <p:nvGraphicFramePr>
              <p:cNvPr id="40960" name="Object 1024"/>
              <p:cNvGraphicFramePr>
                <a:graphicFrameLocks noChangeAspect="1"/>
              </p:cNvGraphicFramePr>
              <p:nvPr/>
            </p:nvGraphicFramePr>
            <p:xfrm>
              <a:off x="2271" y="1505"/>
              <a:ext cx="3272" cy="1576"/>
            </p:xfrm>
            <a:graphic>
              <a:graphicData uri="http://schemas.openxmlformats.org/presentationml/2006/ole">
                <p:oleObj spid="_x0000_s308226" name="Equation" r:id="rId5" imgW="5194080" imgH="2501640" progId="Equation.3">
                  <p:embed/>
                </p:oleObj>
              </a:graphicData>
            </a:graphic>
          </p:graphicFrame>
          <p:graphicFrame>
            <p:nvGraphicFramePr>
              <p:cNvPr id="40961" name="Object 1025"/>
              <p:cNvGraphicFramePr>
                <a:graphicFrameLocks noChangeAspect="1"/>
              </p:cNvGraphicFramePr>
              <p:nvPr/>
            </p:nvGraphicFramePr>
            <p:xfrm>
              <a:off x="2296" y="3219"/>
              <a:ext cx="632" cy="216"/>
            </p:xfrm>
            <a:graphic>
              <a:graphicData uri="http://schemas.openxmlformats.org/presentationml/2006/ole">
                <p:oleObj spid="_x0000_s308227" name="Equation" r:id="rId6" imgW="1002960" imgH="342720" progId="Equation.3">
                  <p:embed/>
                </p:oleObj>
              </a:graphicData>
            </a:graphic>
          </p:graphicFrame>
        </p:grpSp>
      </p:grpSp>
      <p:sp>
        <p:nvSpPr>
          <p:cNvPr id="13" name="Date Placeholder 12"/>
          <p:cNvSpPr>
            <a:spLocks noGrp="1"/>
          </p:cNvSpPr>
          <p:nvPr>
            <p:ph type="dt" sz="half" idx="10"/>
          </p:nvPr>
        </p:nvSpPr>
        <p:spPr>
          <a:xfrm>
            <a:off x="1219200" y="6400800"/>
            <a:ext cx="1905000" cy="457200"/>
          </a:xfrm>
        </p:spPr>
        <p:txBody>
          <a:bodyPr/>
          <a:lstStyle/>
          <a:p>
            <a:r>
              <a:rPr lang="en-US" dirty="0" smtClean="0"/>
              <a:t>Engineering Mechanics</a:t>
            </a:r>
            <a:endParaRPr lang="en-GB" dirty="0"/>
          </a:p>
        </p:txBody>
      </p:sp>
      <p:sp>
        <p:nvSpPr>
          <p:cNvPr id="14" name="Footer Placeholder 13"/>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1066800" y="-3810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7" name="Slide Number Placeholder 2"/>
          <p:cNvSpPr>
            <a:spLocks noGrp="1"/>
          </p:cNvSpPr>
          <p:nvPr>
            <p:ph type="sldNum" sz="quarter" idx="10"/>
          </p:nvPr>
        </p:nvSpPr>
        <p:spPr>
          <a:xfrm>
            <a:off x="8610600" y="6400800"/>
            <a:ext cx="533400" cy="457200"/>
          </a:xfrm>
        </p:spPr>
        <p:txBody>
          <a:bodyPr/>
          <a:lstStyle/>
          <a:p>
            <a:r>
              <a:rPr lang="en-US" dirty="0" smtClean="0"/>
              <a:t> </a:t>
            </a:r>
            <a:fld id="{07E9A9AA-063F-4407-BC82-A7D6186C8A8F}" type="slidenum">
              <a:rPr lang="en-US" sz="2400"/>
              <a:pPr/>
              <a:t>51</a:t>
            </a:fld>
            <a:endParaRPr lang="en-US" sz="2400" dirty="0"/>
          </a:p>
        </p:txBody>
      </p:sp>
      <p:pic>
        <p:nvPicPr>
          <p:cNvPr id="24582" name="Picture 5" descr="C:\DOCUME~1\WALTOL~1\LOCALS~1\Temp\\msotw9_temp0.jpg"/>
          <p:cNvPicPr>
            <a:picLocks noChangeAspect="1" noChangeArrowheads="1"/>
          </p:cNvPicPr>
          <p:nvPr/>
        </p:nvPicPr>
        <p:blipFill>
          <a:blip r:embed="rId3" cstate="print"/>
          <a:srcRect/>
          <a:stretch>
            <a:fillRect/>
          </a:stretch>
        </p:blipFill>
        <p:spPr bwMode="auto">
          <a:xfrm>
            <a:off x="619125" y="1150938"/>
            <a:ext cx="2324100" cy="2743200"/>
          </a:xfrm>
          <a:prstGeom prst="rect">
            <a:avLst/>
          </a:prstGeom>
          <a:noFill/>
          <a:ln w="9525">
            <a:noFill/>
            <a:miter lim="800000"/>
            <a:headEnd/>
            <a:tailEnd/>
          </a:ln>
        </p:spPr>
      </p:pic>
      <p:sp>
        <p:nvSpPr>
          <p:cNvPr id="24583" name="Text Box 8"/>
          <p:cNvSpPr txBox="1">
            <a:spLocks noChangeArrowheads="1"/>
          </p:cNvSpPr>
          <p:nvPr/>
        </p:nvSpPr>
        <p:spPr bwMode="auto">
          <a:xfrm>
            <a:off x="3681413" y="1069975"/>
            <a:ext cx="5094287" cy="7016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Determine the magnitude of the reaction force </a:t>
            </a:r>
            <a:r>
              <a:rPr lang="en-US" sz="2000" i="1"/>
              <a:t>R</a:t>
            </a:r>
            <a:r>
              <a:rPr lang="en-US" sz="2000" b="0"/>
              <a:t>.</a:t>
            </a:r>
          </a:p>
        </p:txBody>
      </p:sp>
      <p:graphicFrame>
        <p:nvGraphicFramePr>
          <p:cNvPr id="41984" name="Object 1024"/>
          <p:cNvGraphicFramePr>
            <a:graphicFrameLocks noChangeAspect="1"/>
          </p:cNvGraphicFramePr>
          <p:nvPr/>
        </p:nvGraphicFramePr>
        <p:xfrm>
          <a:off x="4079875" y="1873250"/>
          <a:ext cx="3238500" cy="711200"/>
        </p:xfrm>
        <a:graphic>
          <a:graphicData uri="http://schemas.openxmlformats.org/presentationml/2006/ole">
            <p:oleObj spid="_x0000_s309250" name="Equation" r:id="rId4" imgW="3238200" imgH="711000" progId="Equation.3">
              <p:embed/>
            </p:oleObj>
          </a:graphicData>
        </a:graphic>
      </p:graphicFrame>
      <p:graphicFrame>
        <p:nvGraphicFramePr>
          <p:cNvPr id="41985" name="Object 1025"/>
          <p:cNvGraphicFramePr>
            <a:graphicFrameLocks noChangeAspect="1"/>
          </p:cNvGraphicFramePr>
          <p:nvPr/>
        </p:nvGraphicFramePr>
        <p:xfrm>
          <a:off x="4079875" y="2824163"/>
          <a:ext cx="1257300" cy="685800"/>
        </p:xfrm>
        <a:graphic>
          <a:graphicData uri="http://schemas.openxmlformats.org/presentationml/2006/ole">
            <p:oleObj spid="_x0000_s309251" name="Equation" r:id="rId5" imgW="1257120" imgH="685800" progId="Equation.3">
              <p:embed/>
            </p:oleObj>
          </a:graphicData>
        </a:graphic>
      </p:graphicFrame>
      <p:sp>
        <p:nvSpPr>
          <p:cNvPr id="8" name="Date Placeholder 7"/>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990600" y="0"/>
            <a:ext cx="7772400" cy="1143000"/>
          </a:xfrm>
        </p:spPr>
        <p:txBody>
          <a:bodyPr/>
          <a:lstStyle/>
          <a:p>
            <a:r>
              <a:rPr lang="en-US" sz="3600" dirty="0" smtClean="0">
                <a:ea typeface="ＭＳ Ｐゴシック" charset="-128"/>
              </a:rPr>
              <a:t>Equilibrium of a Rigid Body in Three Dimensions</a:t>
            </a:r>
          </a:p>
        </p:txBody>
      </p:sp>
      <p:sp>
        <p:nvSpPr>
          <p:cNvPr id="10" name="Slide Number Placeholder 2"/>
          <p:cNvSpPr>
            <a:spLocks noGrp="1"/>
          </p:cNvSpPr>
          <p:nvPr>
            <p:ph type="sldNum" sz="quarter" idx="10"/>
          </p:nvPr>
        </p:nvSpPr>
        <p:spPr>
          <a:xfrm>
            <a:off x="8534400" y="6400800"/>
            <a:ext cx="609600" cy="457200"/>
          </a:xfrm>
        </p:spPr>
        <p:txBody>
          <a:bodyPr/>
          <a:lstStyle/>
          <a:p>
            <a:r>
              <a:rPr lang="en-US" dirty="0" smtClean="0"/>
              <a:t> </a:t>
            </a:r>
            <a:fld id="{B9F47E06-7B7C-4E2A-88D9-09FAE47D8D23}" type="slidenum">
              <a:rPr lang="en-US" sz="2400"/>
              <a:pPr/>
              <a:t>52</a:t>
            </a:fld>
            <a:endParaRPr lang="en-US" sz="2400" dirty="0"/>
          </a:p>
        </p:txBody>
      </p:sp>
      <p:grpSp>
        <p:nvGrpSpPr>
          <p:cNvPr id="2" name="Group 8"/>
          <p:cNvGrpSpPr>
            <a:grpSpLocks/>
          </p:cNvGrpSpPr>
          <p:nvPr/>
        </p:nvGrpSpPr>
        <p:grpSpPr bwMode="auto">
          <a:xfrm>
            <a:off x="1066800" y="1447800"/>
            <a:ext cx="5770563" cy="1797050"/>
            <a:chOff x="636" y="711"/>
            <a:chExt cx="3635" cy="1132"/>
          </a:xfrm>
        </p:grpSpPr>
        <p:sp>
          <p:nvSpPr>
            <p:cNvPr id="25610" name="Text Box 3"/>
            <p:cNvSpPr txBox="1">
              <a:spLocks noChangeArrowheads="1"/>
            </p:cNvSpPr>
            <p:nvPr/>
          </p:nvSpPr>
          <p:spPr bwMode="auto">
            <a:xfrm>
              <a:off x="636" y="711"/>
              <a:ext cx="3635" cy="634"/>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Six scalar equations are required to express the conditions for the equilibrium of a rigid body in the general three dimensional case.</a:t>
              </a:r>
            </a:p>
          </p:txBody>
        </p:sp>
        <p:graphicFrame>
          <p:nvGraphicFramePr>
            <p:cNvPr id="43009" name="Object 1025"/>
            <p:cNvGraphicFramePr>
              <a:graphicFrameLocks noChangeAspect="1"/>
            </p:cNvGraphicFramePr>
            <p:nvPr/>
          </p:nvGraphicFramePr>
          <p:xfrm>
            <a:off x="935" y="1379"/>
            <a:ext cx="2200" cy="464"/>
          </p:xfrm>
          <a:graphic>
            <a:graphicData uri="http://schemas.openxmlformats.org/presentationml/2006/ole">
              <p:oleObj spid="_x0000_s310275" name="Equation" r:id="rId3" imgW="3492360" imgH="736560" progId="Equation.3">
                <p:embed/>
              </p:oleObj>
            </a:graphicData>
          </a:graphic>
        </p:graphicFrame>
      </p:grpSp>
      <p:sp>
        <p:nvSpPr>
          <p:cNvPr id="18437" name="Text Box 5"/>
          <p:cNvSpPr txBox="1">
            <a:spLocks noChangeArrowheads="1"/>
          </p:cNvSpPr>
          <p:nvPr/>
        </p:nvSpPr>
        <p:spPr bwMode="auto">
          <a:xfrm>
            <a:off x="1066800" y="3505200"/>
            <a:ext cx="6461125" cy="10064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These equations can be solved for no more than 6 unknowns which generally represent reactions at supports or connections.</a:t>
            </a:r>
          </a:p>
        </p:txBody>
      </p:sp>
      <p:grpSp>
        <p:nvGrpSpPr>
          <p:cNvPr id="3" name="Group 9"/>
          <p:cNvGrpSpPr>
            <a:grpSpLocks/>
          </p:cNvGrpSpPr>
          <p:nvPr/>
        </p:nvGrpSpPr>
        <p:grpSpPr bwMode="auto">
          <a:xfrm>
            <a:off x="990600" y="4724400"/>
            <a:ext cx="7053263" cy="1112837"/>
            <a:chOff x="636" y="2679"/>
            <a:chExt cx="4443" cy="701"/>
          </a:xfrm>
        </p:grpSpPr>
        <p:sp>
          <p:nvSpPr>
            <p:cNvPr id="25609" name="Text Box 6"/>
            <p:cNvSpPr txBox="1">
              <a:spLocks noChangeArrowheads="1"/>
            </p:cNvSpPr>
            <p:nvPr/>
          </p:nvSpPr>
          <p:spPr bwMode="auto">
            <a:xfrm>
              <a:off x="636" y="2679"/>
              <a:ext cx="4443" cy="442"/>
            </a:xfrm>
            <a:prstGeom prst="rect">
              <a:avLst/>
            </a:prstGeom>
            <a:noFill/>
            <a:ln w="9525">
              <a:noFill/>
              <a:miter lim="800000"/>
              <a:headEnd/>
              <a:tailEnd/>
            </a:ln>
          </p:spPr>
          <p:txBody>
            <a:bodyPr>
              <a:spAutoFit/>
            </a:bodyPr>
            <a:lstStyle/>
            <a:p>
              <a:pPr marL="227013" indent="-227013">
                <a:spcBef>
                  <a:spcPct val="50000"/>
                </a:spcBef>
                <a:buFontTx/>
                <a:buChar char="•"/>
              </a:pPr>
              <a:r>
                <a:rPr lang="en-US" sz="2000" b="0" dirty="0"/>
                <a:t>The scalar equations are conveniently obtained by applying the vector forms of the conditions for equilibrium,</a:t>
              </a:r>
            </a:p>
          </p:txBody>
        </p:sp>
        <p:graphicFrame>
          <p:nvGraphicFramePr>
            <p:cNvPr id="43008" name="Object 1024"/>
            <p:cNvGraphicFramePr>
              <a:graphicFrameLocks noChangeAspect="1"/>
            </p:cNvGraphicFramePr>
            <p:nvPr/>
          </p:nvGraphicFramePr>
          <p:xfrm>
            <a:off x="935" y="3156"/>
            <a:ext cx="2048" cy="224"/>
          </p:xfrm>
          <a:graphic>
            <a:graphicData uri="http://schemas.openxmlformats.org/presentationml/2006/ole">
              <p:oleObj spid="_x0000_s310274" name="Equation" r:id="rId4" imgW="3251160" imgH="355320" progId="Equation.3">
                <p:embed/>
              </p:oleObj>
            </a:graphicData>
          </a:graphic>
        </p:graphicFrame>
      </p:grpSp>
      <p:sp>
        <p:nvSpPr>
          <p:cNvPr id="11" name="Date Placeholder 10"/>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2" name="Footer Placeholder 11"/>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990600" y="-304800"/>
            <a:ext cx="7772400" cy="1143000"/>
          </a:xfrm>
        </p:spPr>
        <p:txBody>
          <a:bodyPr/>
          <a:lstStyle/>
          <a:p>
            <a:r>
              <a:rPr lang="en-US" sz="2800" dirty="0" smtClean="0">
                <a:ea typeface="ＭＳ Ｐゴシック" charset="-128"/>
              </a:rPr>
              <a:t>Reactions at Supports and Connections for a Three-Dimensional Structure</a:t>
            </a:r>
          </a:p>
        </p:txBody>
      </p:sp>
      <p:sp>
        <p:nvSpPr>
          <p:cNvPr id="4" name="Slide Number Placeholder 2"/>
          <p:cNvSpPr>
            <a:spLocks noGrp="1"/>
          </p:cNvSpPr>
          <p:nvPr>
            <p:ph type="sldNum" sz="quarter" idx="10"/>
          </p:nvPr>
        </p:nvSpPr>
        <p:spPr>
          <a:xfrm>
            <a:off x="8610600" y="6400800"/>
            <a:ext cx="533400" cy="457200"/>
          </a:xfrm>
        </p:spPr>
        <p:txBody>
          <a:bodyPr/>
          <a:lstStyle/>
          <a:p>
            <a:r>
              <a:rPr lang="en-US" dirty="0" smtClean="0"/>
              <a:t> </a:t>
            </a:r>
            <a:fld id="{A1B7ABCA-DCF7-4501-850C-F770892F688E}" type="slidenum">
              <a:rPr lang="en-US" sz="2400"/>
              <a:pPr/>
              <a:t>53</a:t>
            </a:fld>
            <a:endParaRPr lang="en-US" sz="2400" dirty="0"/>
          </a:p>
        </p:txBody>
      </p:sp>
      <p:pic>
        <p:nvPicPr>
          <p:cNvPr id="26628" name="Picture 3" descr="C:\DOCUME~1\WALTOL~1\LOCALS~1\Temp\\msotw9_temp0.jpg"/>
          <p:cNvPicPr>
            <a:picLocks noChangeAspect="1" noChangeArrowheads="1"/>
          </p:cNvPicPr>
          <p:nvPr/>
        </p:nvPicPr>
        <p:blipFill>
          <a:blip r:embed="rId2" cstate="print"/>
          <a:srcRect/>
          <a:stretch>
            <a:fillRect/>
          </a:stretch>
        </p:blipFill>
        <p:spPr bwMode="auto">
          <a:xfrm>
            <a:off x="1219200" y="1295400"/>
            <a:ext cx="6553200" cy="5203825"/>
          </a:xfrm>
          <a:prstGeom prst="rect">
            <a:avLst/>
          </a:prstGeom>
          <a:noFill/>
          <a:ln w="9525">
            <a:noFill/>
            <a:miter lim="800000"/>
            <a:headEnd/>
            <a:tailEnd/>
          </a:ln>
        </p:spPr>
      </p:pic>
      <p:sp>
        <p:nvSpPr>
          <p:cNvPr id="5" name="Date Placeholder 4"/>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6" name="Footer Placeholder 5"/>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14400" y="-228600"/>
            <a:ext cx="7772400" cy="1143000"/>
          </a:xfrm>
        </p:spPr>
        <p:txBody>
          <a:bodyPr/>
          <a:lstStyle/>
          <a:p>
            <a:r>
              <a:rPr lang="en-US" sz="2800" dirty="0" smtClean="0">
                <a:ea typeface="ＭＳ Ｐゴシック" charset="-128"/>
              </a:rPr>
              <a:t>Reactions at Supports and Connections for a Three-Dimensional Structure</a:t>
            </a:r>
          </a:p>
        </p:txBody>
      </p:sp>
      <p:sp>
        <p:nvSpPr>
          <p:cNvPr id="4" name="Slide Number Placeholder 2"/>
          <p:cNvSpPr>
            <a:spLocks noGrp="1"/>
          </p:cNvSpPr>
          <p:nvPr>
            <p:ph type="sldNum" sz="quarter" idx="10"/>
          </p:nvPr>
        </p:nvSpPr>
        <p:spPr>
          <a:xfrm>
            <a:off x="8534400" y="6400800"/>
            <a:ext cx="609600" cy="457200"/>
          </a:xfrm>
        </p:spPr>
        <p:txBody>
          <a:bodyPr/>
          <a:lstStyle/>
          <a:p>
            <a:r>
              <a:rPr lang="en-US" dirty="0" smtClean="0"/>
              <a:t> </a:t>
            </a:r>
            <a:fld id="{30157EFA-44D7-4583-9CFA-69863E5D58AB}" type="slidenum">
              <a:rPr lang="en-US" sz="2400"/>
              <a:pPr/>
              <a:t>54</a:t>
            </a:fld>
            <a:endParaRPr lang="en-US" sz="2400" dirty="0"/>
          </a:p>
        </p:txBody>
      </p:sp>
      <p:pic>
        <p:nvPicPr>
          <p:cNvPr id="27652" name="Picture 3" descr="C:\DOCUME~1\WALTOL~1\LOCALS~1\Temp\\msotw9_temp0.jpg"/>
          <p:cNvPicPr>
            <a:picLocks noChangeAspect="1" noChangeArrowheads="1"/>
          </p:cNvPicPr>
          <p:nvPr/>
        </p:nvPicPr>
        <p:blipFill>
          <a:blip r:embed="rId2" cstate="print"/>
          <a:srcRect/>
          <a:stretch>
            <a:fillRect/>
          </a:stretch>
        </p:blipFill>
        <p:spPr bwMode="auto">
          <a:xfrm>
            <a:off x="1524000" y="1295400"/>
            <a:ext cx="6629400" cy="5181600"/>
          </a:xfrm>
          <a:prstGeom prst="rect">
            <a:avLst/>
          </a:prstGeom>
          <a:noFill/>
          <a:ln w="9525">
            <a:noFill/>
            <a:miter lim="800000"/>
            <a:headEnd/>
            <a:tailEnd/>
          </a:ln>
        </p:spPr>
      </p:pic>
      <p:sp>
        <p:nvSpPr>
          <p:cNvPr id="5" name="Date Placeholder 4"/>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6" name="Footer Placeholder 5"/>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90600" y="-228600"/>
            <a:ext cx="7772400" cy="1143000"/>
          </a:xfrm>
        </p:spPr>
        <p:txBody>
          <a:bodyPr/>
          <a:lstStyle/>
          <a:p>
            <a:r>
              <a:rPr lang="en-US" dirty="0" smtClean="0">
                <a:ea typeface="ＭＳ Ｐゴシック" charset="-128"/>
              </a:rPr>
              <a:t>Example</a:t>
            </a:r>
          </a:p>
        </p:txBody>
      </p:sp>
      <p:sp>
        <p:nvSpPr>
          <p:cNvPr id="7" name="Slide Number Placeholder 2"/>
          <p:cNvSpPr>
            <a:spLocks noGrp="1"/>
          </p:cNvSpPr>
          <p:nvPr>
            <p:ph type="sldNum" sz="quarter" idx="10"/>
          </p:nvPr>
        </p:nvSpPr>
        <p:spPr>
          <a:xfrm>
            <a:off x="8610600" y="6400800"/>
            <a:ext cx="533400" cy="457200"/>
          </a:xfrm>
        </p:spPr>
        <p:txBody>
          <a:bodyPr/>
          <a:lstStyle/>
          <a:p>
            <a:r>
              <a:rPr lang="en-US" dirty="0" smtClean="0"/>
              <a:t> </a:t>
            </a:r>
            <a:fld id="{C0B20DC4-7990-46EA-AEE8-EBCEF99EF9D5}" type="slidenum">
              <a:rPr lang="en-US" sz="2400"/>
              <a:pPr/>
              <a:t>55</a:t>
            </a:fld>
            <a:endParaRPr lang="en-US" sz="2400" dirty="0"/>
          </a:p>
        </p:txBody>
      </p:sp>
      <p:pic>
        <p:nvPicPr>
          <p:cNvPr id="28676" name="Picture 3" descr="C:\DOCUME~1\WALTOL~1\LOCALS~1\Temp\\msotw9_temp0.jpg"/>
          <p:cNvPicPr>
            <a:picLocks noChangeAspect="1" noChangeArrowheads="1"/>
          </p:cNvPicPr>
          <p:nvPr/>
        </p:nvPicPr>
        <p:blipFill>
          <a:blip r:embed="rId2" cstate="print"/>
          <a:srcRect/>
          <a:stretch>
            <a:fillRect/>
          </a:stretch>
        </p:blipFill>
        <p:spPr bwMode="auto">
          <a:xfrm>
            <a:off x="760413" y="1003300"/>
            <a:ext cx="2649537" cy="2667000"/>
          </a:xfrm>
          <a:prstGeom prst="rect">
            <a:avLst/>
          </a:prstGeom>
          <a:noFill/>
          <a:ln w="9525">
            <a:noFill/>
            <a:miter lim="800000"/>
            <a:headEnd/>
            <a:tailEnd/>
          </a:ln>
        </p:spPr>
      </p:pic>
      <p:sp>
        <p:nvSpPr>
          <p:cNvPr id="28677" name="Text Box 4"/>
          <p:cNvSpPr txBox="1">
            <a:spLocks noChangeArrowheads="1"/>
          </p:cNvSpPr>
          <p:nvPr/>
        </p:nvSpPr>
        <p:spPr bwMode="auto">
          <a:xfrm>
            <a:off x="392113" y="3930650"/>
            <a:ext cx="4073525" cy="1768475"/>
          </a:xfrm>
          <a:prstGeom prst="rect">
            <a:avLst/>
          </a:prstGeom>
          <a:noFill/>
          <a:ln w="9525">
            <a:noFill/>
            <a:miter lim="800000"/>
            <a:headEnd/>
            <a:tailEnd/>
          </a:ln>
        </p:spPr>
        <p:txBody>
          <a:bodyPr>
            <a:spAutoFit/>
          </a:bodyPr>
          <a:lstStyle/>
          <a:p>
            <a:pPr>
              <a:spcBef>
                <a:spcPct val="50000"/>
              </a:spcBef>
            </a:pPr>
            <a:r>
              <a:rPr lang="en-US" sz="2000" b="0"/>
              <a:t>A sign of uniform density weighs 270 lb and is supported by a ball-and-socket joint at </a:t>
            </a:r>
            <a:r>
              <a:rPr lang="en-US" sz="2000" b="0" i="1"/>
              <a:t>A</a:t>
            </a:r>
            <a:r>
              <a:rPr lang="en-US" sz="2000" b="0"/>
              <a:t> and by two cables.</a:t>
            </a:r>
          </a:p>
          <a:p>
            <a:pPr>
              <a:spcBef>
                <a:spcPct val="50000"/>
              </a:spcBef>
            </a:pPr>
            <a:r>
              <a:rPr lang="en-US" sz="2000" b="0"/>
              <a:t>Determine the tension in each cable and the reaction at </a:t>
            </a:r>
            <a:r>
              <a:rPr lang="en-US" sz="2000" b="0" i="1"/>
              <a:t>A</a:t>
            </a:r>
            <a:r>
              <a:rPr lang="en-US" sz="2000" b="0"/>
              <a:t>.</a:t>
            </a:r>
          </a:p>
        </p:txBody>
      </p:sp>
      <p:sp>
        <p:nvSpPr>
          <p:cNvPr id="20485" name="Text Box 5"/>
          <p:cNvSpPr txBox="1">
            <a:spLocks noChangeArrowheads="1"/>
          </p:cNvSpPr>
          <p:nvPr/>
        </p:nvSpPr>
        <p:spPr bwMode="auto">
          <a:xfrm>
            <a:off x="4452938" y="1128713"/>
            <a:ext cx="4500562" cy="854075"/>
          </a:xfrm>
          <a:prstGeom prst="rect">
            <a:avLst/>
          </a:prstGeom>
          <a:noFill/>
          <a:ln w="9525">
            <a:noFill/>
            <a:miter lim="800000"/>
            <a:headEnd/>
            <a:tailEnd/>
          </a:ln>
        </p:spPr>
        <p:txBody>
          <a:bodyPr>
            <a:spAutoFit/>
          </a:bodyPr>
          <a:lstStyle/>
          <a:p>
            <a:pPr marL="227013" indent="-227013">
              <a:spcBef>
                <a:spcPct val="50000"/>
              </a:spcBef>
            </a:pPr>
            <a:r>
              <a:rPr lang="en-US" sz="2000" b="0"/>
              <a:t>SOLUTION:</a:t>
            </a:r>
          </a:p>
          <a:p>
            <a:pPr marL="227013" indent="-227013">
              <a:spcBef>
                <a:spcPct val="50000"/>
              </a:spcBef>
              <a:buFontTx/>
              <a:buChar char="•"/>
            </a:pPr>
            <a:r>
              <a:rPr lang="en-US" sz="2000" b="0"/>
              <a:t>Create a free-body diagram for the sign.</a:t>
            </a:r>
          </a:p>
        </p:txBody>
      </p:sp>
      <p:sp>
        <p:nvSpPr>
          <p:cNvPr id="20486" name="Text Box 6"/>
          <p:cNvSpPr txBox="1">
            <a:spLocks noChangeArrowheads="1"/>
          </p:cNvSpPr>
          <p:nvPr/>
        </p:nvSpPr>
        <p:spPr bwMode="auto">
          <a:xfrm>
            <a:off x="4452938" y="2103438"/>
            <a:ext cx="4262437" cy="10064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Apply the conditions for static equilibrium to develop equations for the unknown reactions.</a:t>
            </a:r>
          </a:p>
        </p:txBody>
      </p:sp>
      <p:sp>
        <p:nvSpPr>
          <p:cNvPr id="8" name="Date Placeholder 7"/>
          <p:cNvSpPr>
            <a:spLocks noGrp="1"/>
          </p:cNvSpPr>
          <p:nvPr>
            <p:ph type="dt" sz="half" idx="10"/>
          </p:nvPr>
        </p:nvSpPr>
        <p:spPr>
          <a:xfrm>
            <a:off x="990600" y="6400800"/>
            <a:ext cx="1905000" cy="457200"/>
          </a:xfrm>
        </p:spPr>
        <p:txBody>
          <a:bodyPr/>
          <a:lstStyle/>
          <a:p>
            <a:r>
              <a:rPr lang="en-US" dirty="0" smtClean="0"/>
              <a:t>Engineering Mechanics</a:t>
            </a:r>
            <a:endParaRPr lang="en-GB" dirty="0"/>
          </a:p>
        </p:txBody>
      </p:sp>
      <p:sp>
        <p:nvSpPr>
          <p:cNvPr id="9" name="Footer Placeholder 8"/>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utoUpdateAnimBg="0"/>
      <p:bldP spid="20486"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990600" y="-3810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6" name="Slide Number Placeholder 2"/>
          <p:cNvSpPr>
            <a:spLocks noGrp="1"/>
          </p:cNvSpPr>
          <p:nvPr>
            <p:ph type="sldNum" sz="quarter" idx="10"/>
          </p:nvPr>
        </p:nvSpPr>
        <p:spPr>
          <a:xfrm>
            <a:off x="8534400" y="6400800"/>
            <a:ext cx="609600" cy="457200"/>
          </a:xfrm>
        </p:spPr>
        <p:txBody>
          <a:bodyPr/>
          <a:lstStyle/>
          <a:p>
            <a:r>
              <a:rPr lang="en-US" dirty="0" smtClean="0"/>
              <a:t> </a:t>
            </a:r>
            <a:fld id="{8986F075-7A38-485A-8005-1FA836A424FB}" type="slidenum">
              <a:rPr lang="en-US" sz="2400"/>
              <a:pPr/>
              <a:t>56</a:t>
            </a:fld>
            <a:endParaRPr lang="en-US" sz="2400" dirty="0"/>
          </a:p>
        </p:txBody>
      </p:sp>
      <p:pic>
        <p:nvPicPr>
          <p:cNvPr id="29701" name="Picture 3" descr="C:\DOCUME~1\WALTOL~1\LOCALS~1\Temp\\msotw9_temp0.jpg"/>
          <p:cNvPicPr>
            <a:picLocks noChangeAspect="1" noChangeArrowheads="1"/>
          </p:cNvPicPr>
          <p:nvPr/>
        </p:nvPicPr>
        <p:blipFill>
          <a:blip r:embed="rId3" cstate="print"/>
          <a:srcRect/>
          <a:stretch>
            <a:fillRect/>
          </a:stretch>
        </p:blipFill>
        <p:spPr bwMode="auto">
          <a:xfrm>
            <a:off x="647700" y="1001713"/>
            <a:ext cx="2965450" cy="3163887"/>
          </a:xfrm>
          <a:prstGeom prst="rect">
            <a:avLst/>
          </a:prstGeom>
          <a:noFill/>
          <a:ln w="9525">
            <a:noFill/>
            <a:miter lim="800000"/>
            <a:headEnd/>
            <a:tailEnd/>
          </a:ln>
        </p:spPr>
      </p:pic>
      <p:sp>
        <p:nvSpPr>
          <p:cNvPr id="29702" name="Text Box 5"/>
          <p:cNvSpPr txBox="1">
            <a:spLocks noChangeArrowheads="1"/>
          </p:cNvSpPr>
          <p:nvPr/>
        </p:nvSpPr>
        <p:spPr bwMode="auto">
          <a:xfrm>
            <a:off x="392113" y="4168775"/>
            <a:ext cx="4075112" cy="23780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Create a free-body diagram for the sign.</a:t>
            </a:r>
          </a:p>
          <a:p>
            <a:pPr marL="227013" indent="-227013">
              <a:spcBef>
                <a:spcPct val="50000"/>
              </a:spcBef>
            </a:pPr>
            <a:r>
              <a:rPr lang="en-US" sz="2000" b="0"/>
              <a:t>	Since there are only 5 unknowns, the sign is partially constrain.  It is free to rotate about the </a:t>
            </a:r>
            <a:r>
              <a:rPr lang="en-US" sz="2000" b="0" i="1"/>
              <a:t>x</a:t>
            </a:r>
            <a:r>
              <a:rPr lang="en-US" sz="2000" b="0"/>
              <a:t> axis.  It is, however, in equilibrium for the given loading.</a:t>
            </a:r>
          </a:p>
        </p:txBody>
      </p:sp>
      <p:graphicFrame>
        <p:nvGraphicFramePr>
          <p:cNvPr id="44032" name="Object 0"/>
          <p:cNvGraphicFramePr>
            <a:graphicFrameLocks noChangeAspect="1"/>
          </p:cNvGraphicFramePr>
          <p:nvPr/>
        </p:nvGraphicFramePr>
        <p:xfrm>
          <a:off x="4806950" y="1168400"/>
          <a:ext cx="2832100" cy="4191000"/>
        </p:xfrm>
        <a:graphic>
          <a:graphicData uri="http://schemas.openxmlformats.org/presentationml/2006/ole">
            <p:oleObj spid="_x0000_s311298" name="Equation" r:id="rId4" imgW="2831760" imgH="4190760" progId="Equation.3">
              <p:embed/>
            </p:oleObj>
          </a:graphicData>
        </a:graphic>
      </p:graphicFrame>
      <p:sp>
        <p:nvSpPr>
          <p:cNvPr id="7" name="Date Placeholder 6"/>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8" name="Footer Placeholder 7"/>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a:xfrm>
            <a:off x="1066800" y="-228600"/>
            <a:ext cx="7772400" cy="1143000"/>
          </a:xfrm>
        </p:spPr>
        <p:txBody>
          <a:bodyPr/>
          <a:lstStyle/>
          <a:p>
            <a:r>
              <a:rPr lang="en-US" dirty="0" smtClean="0">
                <a:ea typeface="ＭＳ Ｐゴシック" charset="-128"/>
              </a:rPr>
              <a:t>Solution </a:t>
            </a:r>
            <a:r>
              <a:rPr lang="en-US" dirty="0" err="1" smtClean="0">
                <a:ea typeface="ＭＳ Ｐゴシック" charset="-128"/>
              </a:rPr>
              <a:t>contd</a:t>
            </a:r>
            <a:endParaRPr lang="en-US" dirty="0" smtClean="0">
              <a:ea typeface="ＭＳ Ｐゴシック" charset="-128"/>
            </a:endParaRPr>
          </a:p>
        </p:txBody>
      </p:sp>
      <p:sp>
        <p:nvSpPr>
          <p:cNvPr id="8" name="Slide Number Placeholder 2"/>
          <p:cNvSpPr>
            <a:spLocks noGrp="1"/>
          </p:cNvSpPr>
          <p:nvPr>
            <p:ph type="sldNum" sz="quarter" idx="10"/>
          </p:nvPr>
        </p:nvSpPr>
        <p:spPr>
          <a:xfrm>
            <a:off x="8610600" y="6400800"/>
            <a:ext cx="533400" cy="457200"/>
          </a:xfrm>
        </p:spPr>
        <p:txBody>
          <a:bodyPr/>
          <a:lstStyle/>
          <a:p>
            <a:r>
              <a:rPr lang="en-US" dirty="0" smtClean="0"/>
              <a:t> </a:t>
            </a:r>
            <a:fld id="{19636554-97CE-48CC-BBF4-742FF1B1BEB8}" type="slidenum">
              <a:rPr lang="en-US" sz="2400"/>
              <a:pPr/>
              <a:t>57</a:t>
            </a:fld>
            <a:endParaRPr lang="en-US" sz="2400" dirty="0"/>
          </a:p>
        </p:txBody>
      </p:sp>
      <p:pic>
        <p:nvPicPr>
          <p:cNvPr id="30726" name="Picture 3" descr="C:\DOCUME~1\WALTOL~1\LOCALS~1\Temp\\msotw9_temp0.jpg"/>
          <p:cNvPicPr>
            <a:picLocks noChangeAspect="1" noChangeArrowheads="1"/>
          </p:cNvPicPr>
          <p:nvPr/>
        </p:nvPicPr>
        <p:blipFill>
          <a:blip r:embed="rId3" cstate="print"/>
          <a:srcRect/>
          <a:stretch>
            <a:fillRect/>
          </a:stretch>
        </p:blipFill>
        <p:spPr bwMode="auto">
          <a:xfrm>
            <a:off x="396875" y="1014413"/>
            <a:ext cx="2876550" cy="3068637"/>
          </a:xfrm>
          <a:prstGeom prst="rect">
            <a:avLst/>
          </a:prstGeom>
          <a:noFill/>
          <a:ln w="9525">
            <a:noFill/>
            <a:miter lim="800000"/>
            <a:headEnd/>
            <a:tailEnd/>
          </a:ln>
        </p:spPr>
      </p:pic>
      <p:sp>
        <p:nvSpPr>
          <p:cNvPr id="30727" name="Text Box 5"/>
          <p:cNvSpPr txBox="1">
            <a:spLocks noChangeArrowheads="1"/>
          </p:cNvSpPr>
          <p:nvPr/>
        </p:nvSpPr>
        <p:spPr bwMode="auto">
          <a:xfrm>
            <a:off x="344488" y="4452938"/>
            <a:ext cx="3073400" cy="1311275"/>
          </a:xfrm>
          <a:prstGeom prst="rect">
            <a:avLst/>
          </a:prstGeom>
          <a:noFill/>
          <a:ln w="9525">
            <a:noFill/>
            <a:miter lim="800000"/>
            <a:headEnd/>
            <a:tailEnd/>
          </a:ln>
        </p:spPr>
        <p:txBody>
          <a:bodyPr>
            <a:spAutoFit/>
          </a:bodyPr>
          <a:lstStyle/>
          <a:p>
            <a:pPr marL="227013" indent="-227013">
              <a:spcBef>
                <a:spcPct val="50000"/>
              </a:spcBef>
              <a:buFontTx/>
              <a:buChar char="•"/>
            </a:pPr>
            <a:r>
              <a:rPr lang="en-US" sz="2000" b="0"/>
              <a:t>Apply the conditions for static equilibrium to develop equations for the unknown reactions.</a:t>
            </a:r>
          </a:p>
        </p:txBody>
      </p:sp>
      <p:graphicFrame>
        <p:nvGraphicFramePr>
          <p:cNvPr id="45056" name="Object 0"/>
          <p:cNvGraphicFramePr>
            <a:graphicFrameLocks noChangeAspect="1"/>
          </p:cNvGraphicFramePr>
          <p:nvPr/>
        </p:nvGraphicFramePr>
        <p:xfrm>
          <a:off x="3514725" y="1123950"/>
          <a:ext cx="5486400" cy="3467100"/>
        </p:xfrm>
        <a:graphic>
          <a:graphicData uri="http://schemas.openxmlformats.org/presentationml/2006/ole">
            <p:oleObj spid="_x0000_s312322" name="Equation" r:id="rId4" imgW="5486400" imgH="3466800" progId="Equation.3">
              <p:embed/>
            </p:oleObj>
          </a:graphicData>
        </a:graphic>
      </p:graphicFrame>
      <p:graphicFrame>
        <p:nvGraphicFramePr>
          <p:cNvPr id="45057" name="Object 1"/>
          <p:cNvGraphicFramePr>
            <a:graphicFrameLocks noChangeAspect="1"/>
          </p:cNvGraphicFramePr>
          <p:nvPr/>
        </p:nvGraphicFramePr>
        <p:xfrm>
          <a:off x="3762375" y="5421313"/>
          <a:ext cx="3898900" cy="812800"/>
        </p:xfrm>
        <a:graphic>
          <a:graphicData uri="http://schemas.openxmlformats.org/presentationml/2006/ole">
            <p:oleObj spid="_x0000_s312323" name="Equation" r:id="rId5" imgW="3898800" imgH="812520" progId="Equation.3">
              <p:embed/>
            </p:oleObj>
          </a:graphicData>
        </a:graphic>
      </p:graphicFrame>
      <p:sp>
        <p:nvSpPr>
          <p:cNvPr id="30728" name="Text Box 8"/>
          <p:cNvSpPr txBox="1">
            <a:spLocks noChangeArrowheads="1"/>
          </p:cNvSpPr>
          <p:nvPr/>
        </p:nvSpPr>
        <p:spPr bwMode="auto">
          <a:xfrm>
            <a:off x="3421063" y="4870450"/>
            <a:ext cx="4784725" cy="396875"/>
          </a:xfrm>
          <a:prstGeom prst="rect">
            <a:avLst/>
          </a:prstGeom>
          <a:noFill/>
          <a:ln w="9525">
            <a:noFill/>
            <a:miter lim="800000"/>
            <a:headEnd/>
            <a:tailEnd/>
          </a:ln>
        </p:spPr>
        <p:txBody>
          <a:bodyPr>
            <a:spAutoFit/>
          </a:bodyPr>
          <a:lstStyle/>
          <a:p>
            <a:pPr>
              <a:spcBef>
                <a:spcPct val="50000"/>
              </a:spcBef>
            </a:pPr>
            <a:r>
              <a:rPr lang="en-US" sz="2000" b="0"/>
              <a:t>Solve the 5 equations for the 5 unknowns,</a:t>
            </a:r>
          </a:p>
        </p:txBody>
      </p:sp>
      <p:sp>
        <p:nvSpPr>
          <p:cNvPr id="9" name="Date Placeholder 8"/>
          <p:cNvSpPr>
            <a:spLocks noGrp="1"/>
          </p:cNvSpPr>
          <p:nvPr>
            <p:ph type="dt" sz="half" idx="10"/>
          </p:nvPr>
        </p:nvSpPr>
        <p:spPr>
          <a:xfrm>
            <a:off x="1066800" y="6400800"/>
            <a:ext cx="1905000" cy="457200"/>
          </a:xfrm>
        </p:spPr>
        <p:txBody>
          <a:bodyPr/>
          <a:lstStyle/>
          <a:p>
            <a:r>
              <a:rPr lang="en-US" dirty="0" smtClean="0"/>
              <a:t>Engineering Mechanics</a:t>
            </a:r>
            <a:endParaRPr lang="en-GB" dirty="0"/>
          </a:p>
        </p:txBody>
      </p:sp>
      <p:sp>
        <p:nvSpPr>
          <p:cNvPr id="10" name="Footer Placeholder 9"/>
          <p:cNvSpPr>
            <a:spLocks noGrp="1"/>
          </p:cNvSpPr>
          <p:nvPr>
            <p:ph type="ftr" sz="quarter" idx="11"/>
          </p:nvPr>
        </p:nvSpPr>
        <p:spPr/>
        <p:txBody>
          <a:bodyPr/>
          <a:lstStyle/>
          <a:p>
            <a:r>
              <a:rPr lang="fi-FI" smtClean="0"/>
              <a:t>Dr. Nana Sarfo Agyemang Derkyi</a:t>
            </a:r>
            <a:endParaRPr lang="en-GB"/>
          </a:p>
        </p:txBody>
      </p:sp>
    </p:spTree>
  </p:cSld>
  <p:clrMapOvr>
    <a:masterClrMapping/>
  </p:clrMapOvr>
  <p:transition>
    <p:dissolve/>
  </p:transition>
</p:sld>
</file>

<file path=ppt/theme/theme1.xml><?xml version="1.0" encoding="utf-8"?>
<a:theme xmlns:a="http://schemas.openxmlformats.org/drawingml/2006/main" name="Nature">
  <a:themeElements>
    <a:clrScheme name="Nature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fontScheme name="Natur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Nature 1">
        <a:dk1>
          <a:srgbClr val="666699"/>
        </a:dk1>
        <a:lt1>
          <a:srgbClr val="FFFFCC"/>
        </a:lt1>
        <a:dk2>
          <a:srgbClr val="687FCA"/>
        </a:dk2>
        <a:lt2>
          <a:srgbClr val="192449"/>
        </a:lt2>
        <a:accent1>
          <a:srgbClr val="C9DDF1"/>
        </a:accent1>
        <a:accent2>
          <a:srgbClr val="FAC164"/>
        </a:accent2>
        <a:accent3>
          <a:srgbClr val="B9C0E1"/>
        </a:accent3>
        <a:accent4>
          <a:srgbClr val="DADAAE"/>
        </a:accent4>
        <a:accent5>
          <a:srgbClr val="E1EB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clrMap bg1="lt1" tx1="dk1" bg2="lt2" tx2="dk2" accent1="accent1" accent2="accent2" accent3="accent3" accent4="accent4" accent5="accent5" accent6="accent6" hlink="hlink" folHlink="folHlink"/>
    </a:extraClrScheme>
    <a:extraClrScheme>
      <a:clrScheme name="Nature 3">
        <a:dk1>
          <a:srgbClr val="333333"/>
        </a:dk1>
        <a:lt1>
          <a:srgbClr val="FFFFFF"/>
        </a:lt1>
        <a:dk2>
          <a:srgbClr val="000000"/>
        </a:dk2>
        <a:lt2>
          <a:srgbClr val="DDDDDD"/>
        </a:lt2>
        <a:accent1>
          <a:srgbClr val="DDDDDD"/>
        </a:accent1>
        <a:accent2>
          <a:srgbClr val="B2B2B2"/>
        </a:accent2>
        <a:accent3>
          <a:srgbClr val="FFFFFF"/>
        </a:accent3>
        <a:accent4>
          <a:srgbClr val="2A2A2A"/>
        </a:accent4>
        <a:accent5>
          <a:srgbClr val="EBEBEB"/>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Nature 4">
        <a:dk1>
          <a:srgbClr val="8061A5"/>
        </a:dk1>
        <a:lt1>
          <a:srgbClr val="FFFFCC"/>
        </a:lt1>
        <a:dk2>
          <a:srgbClr val="967DB5"/>
        </a:dk2>
        <a:lt2>
          <a:srgbClr val="192449"/>
        </a:lt2>
        <a:accent1>
          <a:srgbClr val="D6C9F1"/>
        </a:accent1>
        <a:accent2>
          <a:srgbClr val="FAC164"/>
        </a:accent2>
        <a:accent3>
          <a:srgbClr val="C9BFD7"/>
        </a:accent3>
        <a:accent4>
          <a:srgbClr val="DADAAE"/>
        </a:accent4>
        <a:accent5>
          <a:srgbClr val="E8E1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5">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993333"/>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Designs\Nature.pot</Template>
  <TotalTime>6131</TotalTime>
  <Words>3635</Words>
  <Application>Microsoft Office PowerPoint</Application>
  <PresentationFormat>On-screen Show (4:3)</PresentationFormat>
  <Paragraphs>448</Paragraphs>
  <Slides>57</Slides>
  <Notes>4</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57</vt:i4>
      </vt:variant>
    </vt:vector>
  </HeadingPairs>
  <TitlesOfParts>
    <vt:vector size="60" baseType="lpstr">
      <vt:lpstr>Nature</vt:lpstr>
      <vt:lpstr>Equation</vt:lpstr>
      <vt:lpstr>MathType Equation</vt:lpstr>
      <vt:lpstr>MECH 106: BASIC MECHANICS</vt:lpstr>
      <vt:lpstr>APPLICATION OF STATICS OF PARTICLES</vt:lpstr>
      <vt:lpstr>Equilibrium of a Particle</vt:lpstr>
      <vt:lpstr>Lami’s Theorem</vt:lpstr>
      <vt:lpstr>Example</vt:lpstr>
      <vt:lpstr>Solution</vt:lpstr>
      <vt:lpstr>Example</vt:lpstr>
      <vt:lpstr>Solution</vt:lpstr>
      <vt:lpstr>Free-Body Diagrams</vt:lpstr>
      <vt:lpstr>  FREE BODY DIAGRAMS: </vt:lpstr>
      <vt:lpstr>Example</vt:lpstr>
      <vt:lpstr>Solution</vt:lpstr>
      <vt:lpstr>Solution Contd.</vt:lpstr>
      <vt:lpstr>Example</vt:lpstr>
      <vt:lpstr>Example contd</vt:lpstr>
      <vt:lpstr>STATICS OF RIGID BODIES</vt:lpstr>
      <vt:lpstr>Introduction</vt:lpstr>
      <vt:lpstr>External and Internal Forces</vt:lpstr>
      <vt:lpstr>Principle of Transmissibility:  Equivalent Forces</vt:lpstr>
      <vt:lpstr>Moment of a Force</vt:lpstr>
      <vt:lpstr>Vector Product of Two Vectors</vt:lpstr>
      <vt:lpstr>Moment of a Force About a Point</vt:lpstr>
      <vt:lpstr>Moment of a Force About a Point</vt:lpstr>
      <vt:lpstr>Varignon’s Theorem</vt:lpstr>
      <vt:lpstr>Examples</vt:lpstr>
      <vt:lpstr>Solution</vt:lpstr>
      <vt:lpstr>Slide 27</vt:lpstr>
      <vt:lpstr>Example</vt:lpstr>
      <vt:lpstr>Solution</vt:lpstr>
      <vt:lpstr>Solution contd</vt:lpstr>
      <vt:lpstr>Solution contd</vt:lpstr>
      <vt:lpstr>Solution contd</vt:lpstr>
      <vt:lpstr>Solution contd</vt:lpstr>
      <vt:lpstr>Moment of a Couple</vt:lpstr>
      <vt:lpstr>Moment of a Couple</vt:lpstr>
      <vt:lpstr>Addition of Couples</vt:lpstr>
      <vt:lpstr>Couples Can Be Represented by Vectors</vt:lpstr>
      <vt:lpstr>Equivalent Couples</vt:lpstr>
      <vt:lpstr>EQUILIBRIUM OF RIGID BODIES</vt:lpstr>
      <vt:lpstr>Introduction</vt:lpstr>
      <vt:lpstr>Free-Body Diagram</vt:lpstr>
      <vt:lpstr>Reactions at Supports and Connections for a Two-Dimensional Structure</vt:lpstr>
      <vt:lpstr>Reactions at Supports and Connections for a Two-Dimensional Structure</vt:lpstr>
      <vt:lpstr>Equilibrium of a Rigid Body in Two Dimensions</vt:lpstr>
      <vt:lpstr>Exmple</vt:lpstr>
      <vt:lpstr>Solution</vt:lpstr>
      <vt:lpstr>Equilibrium of a Two-Force Body</vt:lpstr>
      <vt:lpstr>Equilibrium of a Three-Force Body</vt:lpstr>
      <vt:lpstr>Example</vt:lpstr>
      <vt:lpstr>Solution</vt:lpstr>
      <vt:lpstr>Solution contd</vt:lpstr>
      <vt:lpstr>Equilibrium of a Rigid Body in Three Dimensions</vt:lpstr>
      <vt:lpstr>Reactions at Supports and Connections for a Three-Dimensional Structure</vt:lpstr>
      <vt:lpstr>Reactions at Supports and Connections for a Three-Dimensional Structure</vt:lpstr>
      <vt:lpstr>Example</vt:lpstr>
      <vt:lpstr>Solution contd</vt:lpstr>
      <vt:lpstr>Solution contd</vt:lpstr>
    </vt:vector>
  </TitlesOfParts>
  <Company>The University of the West Indies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ME13A: ENGINEERING STATICS</dc:title>
  <dc:creator>CITS</dc:creator>
  <cp:lastModifiedBy>user</cp:lastModifiedBy>
  <cp:revision>236</cp:revision>
  <dcterms:created xsi:type="dcterms:W3CDTF">2004-02-25T16:45:41Z</dcterms:created>
  <dcterms:modified xsi:type="dcterms:W3CDTF">2013-02-14T12:56:50Z</dcterms:modified>
</cp:coreProperties>
</file>