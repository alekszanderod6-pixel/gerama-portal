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7"/>
  </p:notesMasterIdLst>
  <p:sldIdLst>
    <p:sldId id="256" r:id="rId3"/>
    <p:sldId id="316" r:id="rId4"/>
    <p:sldId id="317" r:id="rId5"/>
    <p:sldId id="290" r:id="rId6"/>
    <p:sldId id="291" r:id="rId7"/>
    <p:sldId id="294" r:id="rId8"/>
    <p:sldId id="283" r:id="rId9"/>
    <p:sldId id="285" r:id="rId10"/>
    <p:sldId id="286" r:id="rId11"/>
    <p:sldId id="287" r:id="rId12"/>
    <p:sldId id="289" r:id="rId13"/>
    <p:sldId id="258" r:id="rId14"/>
    <p:sldId id="259" r:id="rId15"/>
    <p:sldId id="260" r:id="rId16"/>
    <p:sldId id="261" r:id="rId17"/>
    <p:sldId id="273" r:id="rId18"/>
    <p:sldId id="274" r:id="rId19"/>
    <p:sldId id="275" r:id="rId20"/>
    <p:sldId id="276" r:id="rId21"/>
    <p:sldId id="277" r:id="rId22"/>
    <p:sldId id="278" r:id="rId23"/>
    <p:sldId id="279" r:id="rId24"/>
    <p:sldId id="280" r:id="rId25"/>
    <p:sldId id="318" r:id="rId26"/>
    <p:sldId id="319" r:id="rId27"/>
    <p:sldId id="323" r:id="rId28"/>
    <p:sldId id="321" r:id="rId29"/>
    <p:sldId id="322" r:id="rId30"/>
    <p:sldId id="324" r:id="rId31"/>
    <p:sldId id="325" r:id="rId32"/>
    <p:sldId id="326" r:id="rId33"/>
    <p:sldId id="281" r:id="rId34"/>
    <p:sldId id="282" r:id="rId35"/>
    <p:sldId id="32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505F2C04-C923-438B-8C0F-E0CD2BADF298}">
      <wppc:fontMiss xmln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99" autoAdjust="0"/>
    <p:restoredTop sz="94660"/>
  </p:normalViewPr>
  <p:slideViewPr>
    <p:cSldViewPr snapToGrid="0">
      <p:cViewPr varScale="1">
        <p:scale>
          <a:sx n="86" d="100"/>
          <a:sy n="86" d="100"/>
        </p:scale>
        <p:origin x="77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8E7D9A-79BA-4736-82C6-9A822006C90F}" type="datetimeFigureOut">
              <a:rPr lang="en-US" smtClean="0"/>
              <a:t>5/7/2020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BFBD9-33BF-413A-8E2A-8F97A735BAF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a:defRPr sz="1600">
                <a:solidFill>
                  <a:schemeClr val="tx1"/>
                </a:solidFill>
                <a:latin typeface="Times" charset="0"/>
                <a:ea typeface="MS PGothic" panose="020B0600070205080204" charset="-128"/>
                <a:cs typeface="MS PGothic" panose="020B0600070205080204" charset="-128"/>
              </a:defRPr>
            </a:lvl1pPr>
            <a:lvl2pPr marL="37931725" indent="-37474525">
              <a:defRPr sz="1600">
                <a:solidFill>
                  <a:schemeClr val="tx1"/>
                </a:solidFill>
                <a:latin typeface="Times" charset="0"/>
                <a:ea typeface="MS PGothic" panose="020B0600070205080204" charset="-128"/>
              </a:defRPr>
            </a:lvl2pPr>
            <a:lvl3pPr>
              <a:defRPr sz="1600">
                <a:solidFill>
                  <a:schemeClr val="tx1"/>
                </a:solidFill>
                <a:latin typeface="Times" charset="0"/>
                <a:ea typeface="MS PGothic" panose="020B0600070205080204" charset="-128"/>
              </a:defRPr>
            </a:lvl3pPr>
            <a:lvl4pPr>
              <a:defRPr sz="1600">
                <a:solidFill>
                  <a:schemeClr val="tx1"/>
                </a:solidFill>
                <a:latin typeface="Times" charset="0"/>
                <a:ea typeface="MS PGothic" panose="020B0600070205080204" charset="-128"/>
              </a:defRPr>
            </a:lvl4pPr>
            <a:lvl5pPr>
              <a:defRPr sz="1600">
                <a:solidFill>
                  <a:schemeClr val="tx1"/>
                </a:solidFill>
                <a:latin typeface="Times" charset="0"/>
                <a:ea typeface="MS PGothic" panose="020B0600070205080204" charset="-128"/>
              </a:defRPr>
            </a:lvl5pPr>
            <a:lvl6pPr marL="457200" eaLnBrk="0" fontAlgn="base" hangingPunct="0">
              <a:spcBef>
                <a:spcPct val="0"/>
              </a:spcBef>
              <a:spcAft>
                <a:spcPct val="0"/>
              </a:spcAft>
              <a:defRPr sz="1600">
                <a:solidFill>
                  <a:schemeClr val="tx1"/>
                </a:solidFill>
                <a:latin typeface="Times" charset="0"/>
                <a:ea typeface="MS PGothic" panose="020B0600070205080204" charset="-128"/>
              </a:defRPr>
            </a:lvl6pPr>
            <a:lvl7pPr marL="914400" eaLnBrk="0" fontAlgn="base" hangingPunct="0">
              <a:spcBef>
                <a:spcPct val="0"/>
              </a:spcBef>
              <a:spcAft>
                <a:spcPct val="0"/>
              </a:spcAft>
              <a:defRPr sz="1600">
                <a:solidFill>
                  <a:schemeClr val="tx1"/>
                </a:solidFill>
                <a:latin typeface="Times" charset="0"/>
                <a:ea typeface="MS PGothic" panose="020B0600070205080204" charset="-128"/>
              </a:defRPr>
            </a:lvl7pPr>
            <a:lvl8pPr marL="1371600" eaLnBrk="0" fontAlgn="base" hangingPunct="0">
              <a:spcBef>
                <a:spcPct val="0"/>
              </a:spcBef>
              <a:spcAft>
                <a:spcPct val="0"/>
              </a:spcAft>
              <a:defRPr sz="1600">
                <a:solidFill>
                  <a:schemeClr val="tx1"/>
                </a:solidFill>
                <a:latin typeface="Times" charset="0"/>
                <a:ea typeface="MS PGothic" panose="020B0600070205080204" charset="-128"/>
              </a:defRPr>
            </a:lvl8pPr>
            <a:lvl9pPr marL="1828800" eaLnBrk="0" fontAlgn="base" hangingPunct="0">
              <a:spcBef>
                <a:spcPct val="0"/>
              </a:spcBef>
              <a:spcAft>
                <a:spcPct val="0"/>
              </a:spcAft>
              <a:defRPr sz="1600">
                <a:solidFill>
                  <a:schemeClr val="tx1"/>
                </a:solidFill>
                <a:latin typeface="Times" charset="0"/>
                <a:ea typeface="MS PGothic" panose="020B0600070205080204" charset="-128"/>
              </a:defRPr>
            </a:lvl9pPr>
          </a:lstStyle>
          <a:p>
            <a:fld id="{570E99BE-9400-074D-BCC7-318C36C71F79}" type="slidenum">
              <a:rPr lang="en-US" sz="1200"/>
              <a:t>7</a:t>
            </a:fld>
            <a:endParaRPr lang="en-US" sz="1200"/>
          </a:p>
        </p:txBody>
      </p:sp>
      <p:sp>
        <p:nvSpPr>
          <p:cNvPr id="76803" name="Rectangle 2"/>
          <p:cNvSpPr>
            <a:spLocks noGrp="1" noRot="1" noChangeAspect="1" noChangeArrowheads="1"/>
          </p:cNvSpPr>
          <p:nvPr>
            <p:ph type="sldImg"/>
          </p:nvPr>
        </p:nvSpPr>
        <p:spPr>
          <a:solidFill>
            <a:srgbClr val="FFFFFF"/>
          </a:solidFill>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ea typeface="MS PGothic" panose="020B0600070205080204" charset="-128"/>
              <a:cs typeface="MS PGothic" panose="020B060007020508020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a:defRPr sz="1600">
                <a:solidFill>
                  <a:schemeClr val="tx1"/>
                </a:solidFill>
                <a:latin typeface="Times" charset="0"/>
                <a:ea typeface="MS PGothic" panose="020B0600070205080204" charset="-128"/>
                <a:cs typeface="MS PGothic" panose="020B0600070205080204" charset="-128"/>
              </a:defRPr>
            </a:lvl1pPr>
            <a:lvl2pPr marL="37931725" indent="-37474525">
              <a:defRPr sz="1600">
                <a:solidFill>
                  <a:schemeClr val="tx1"/>
                </a:solidFill>
                <a:latin typeface="Times" charset="0"/>
                <a:ea typeface="MS PGothic" panose="020B0600070205080204" charset="-128"/>
              </a:defRPr>
            </a:lvl2pPr>
            <a:lvl3pPr>
              <a:defRPr sz="1600">
                <a:solidFill>
                  <a:schemeClr val="tx1"/>
                </a:solidFill>
                <a:latin typeface="Times" charset="0"/>
                <a:ea typeface="MS PGothic" panose="020B0600070205080204" charset="-128"/>
              </a:defRPr>
            </a:lvl3pPr>
            <a:lvl4pPr>
              <a:defRPr sz="1600">
                <a:solidFill>
                  <a:schemeClr val="tx1"/>
                </a:solidFill>
                <a:latin typeface="Times" charset="0"/>
                <a:ea typeface="MS PGothic" panose="020B0600070205080204" charset="-128"/>
              </a:defRPr>
            </a:lvl4pPr>
            <a:lvl5pPr>
              <a:defRPr sz="1600">
                <a:solidFill>
                  <a:schemeClr val="tx1"/>
                </a:solidFill>
                <a:latin typeface="Times" charset="0"/>
                <a:ea typeface="MS PGothic" panose="020B0600070205080204" charset="-128"/>
              </a:defRPr>
            </a:lvl5pPr>
            <a:lvl6pPr marL="457200" eaLnBrk="0" fontAlgn="base" hangingPunct="0">
              <a:spcBef>
                <a:spcPct val="0"/>
              </a:spcBef>
              <a:spcAft>
                <a:spcPct val="0"/>
              </a:spcAft>
              <a:defRPr sz="1600">
                <a:solidFill>
                  <a:schemeClr val="tx1"/>
                </a:solidFill>
                <a:latin typeface="Times" charset="0"/>
                <a:ea typeface="MS PGothic" panose="020B0600070205080204" charset="-128"/>
              </a:defRPr>
            </a:lvl6pPr>
            <a:lvl7pPr marL="914400" eaLnBrk="0" fontAlgn="base" hangingPunct="0">
              <a:spcBef>
                <a:spcPct val="0"/>
              </a:spcBef>
              <a:spcAft>
                <a:spcPct val="0"/>
              </a:spcAft>
              <a:defRPr sz="1600">
                <a:solidFill>
                  <a:schemeClr val="tx1"/>
                </a:solidFill>
                <a:latin typeface="Times" charset="0"/>
                <a:ea typeface="MS PGothic" panose="020B0600070205080204" charset="-128"/>
              </a:defRPr>
            </a:lvl7pPr>
            <a:lvl8pPr marL="1371600" eaLnBrk="0" fontAlgn="base" hangingPunct="0">
              <a:spcBef>
                <a:spcPct val="0"/>
              </a:spcBef>
              <a:spcAft>
                <a:spcPct val="0"/>
              </a:spcAft>
              <a:defRPr sz="1600">
                <a:solidFill>
                  <a:schemeClr val="tx1"/>
                </a:solidFill>
                <a:latin typeface="Times" charset="0"/>
                <a:ea typeface="MS PGothic" panose="020B0600070205080204" charset="-128"/>
              </a:defRPr>
            </a:lvl8pPr>
            <a:lvl9pPr marL="1828800" eaLnBrk="0" fontAlgn="base" hangingPunct="0">
              <a:spcBef>
                <a:spcPct val="0"/>
              </a:spcBef>
              <a:spcAft>
                <a:spcPct val="0"/>
              </a:spcAft>
              <a:defRPr sz="1600">
                <a:solidFill>
                  <a:schemeClr val="tx1"/>
                </a:solidFill>
                <a:latin typeface="Times" charset="0"/>
                <a:ea typeface="MS PGothic" panose="020B0600070205080204" charset="-128"/>
              </a:defRPr>
            </a:lvl9pPr>
          </a:lstStyle>
          <a:p>
            <a:fld id="{32F8D67D-7F90-6E40-8584-AF8D4598DECA}" type="slidenum">
              <a:rPr lang="en-US" sz="1200"/>
              <a:t>8</a:t>
            </a:fld>
            <a:endParaRPr lang="en-US" sz="1200"/>
          </a:p>
        </p:txBody>
      </p:sp>
      <p:sp>
        <p:nvSpPr>
          <p:cNvPr id="80899" name="Rectangle 2"/>
          <p:cNvSpPr>
            <a:spLocks noGrp="1" noRot="1" noChangeAspect="1" noChangeArrowheads="1"/>
          </p:cNvSpPr>
          <p:nvPr>
            <p:ph type="sldImg"/>
          </p:nvPr>
        </p:nvSpPr>
        <p:spPr>
          <a:solidFill>
            <a:srgbClr val="FFFFFF"/>
          </a:solidFill>
        </p:spPr>
      </p:sp>
      <p:sp>
        <p:nvSpPr>
          <p:cNvPr id="8090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ea typeface="MS PGothic" panose="020B0600070205080204" charset="-128"/>
              <a:cs typeface="MS PGothic" panose="020B060007020508020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a:defRPr sz="1600">
                <a:solidFill>
                  <a:schemeClr val="tx1"/>
                </a:solidFill>
                <a:latin typeface="Times" charset="0"/>
                <a:ea typeface="MS PGothic" panose="020B0600070205080204" charset="-128"/>
                <a:cs typeface="MS PGothic" panose="020B0600070205080204" charset="-128"/>
              </a:defRPr>
            </a:lvl1pPr>
            <a:lvl2pPr marL="37931725" indent="-37474525">
              <a:defRPr sz="1600">
                <a:solidFill>
                  <a:schemeClr val="tx1"/>
                </a:solidFill>
                <a:latin typeface="Times" charset="0"/>
                <a:ea typeface="MS PGothic" panose="020B0600070205080204" charset="-128"/>
              </a:defRPr>
            </a:lvl2pPr>
            <a:lvl3pPr>
              <a:defRPr sz="1600">
                <a:solidFill>
                  <a:schemeClr val="tx1"/>
                </a:solidFill>
                <a:latin typeface="Times" charset="0"/>
                <a:ea typeface="MS PGothic" panose="020B0600070205080204" charset="-128"/>
              </a:defRPr>
            </a:lvl3pPr>
            <a:lvl4pPr>
              <a:defRPr sz="1600">
                <a:solidFill>
                  <a:schemeClr val="tx1"/>
                </a:solidFill>
                <a:latin typeface="Times" charset="0"/>
                <a:ea typeface="MS PGothic" panose="020B0600070205080204" charset="-128"/>
              </a:defRPr>
            </a:lvl4pPr>
            <a:lvl5pPr>
              <a:defRPr sz="1600">
                <a:solidFill>
                  <a:schemeClr val="tx1"/>
                </a:solidFill>
                <a:latin typeface="Times" charset="0"/>
                <a:ea typeface="MS PGothic" panose="020B0600070205080204" charset="-128"/>
              </a:defRPr>
            </a:lvl5pPr>
            <a:lvl6pPr marL="457200" eaLnBrk="0" fontAlgn="base" hangingPunct="0">
              <a:spcBef>
                <a:spcPct val="0"/>
              </a:spcBef>
              <a:spcAft>
                <a:spcPct val="0"/>
              </a:spcAft>
              <a:defRPr sz="1600">
                <a:solidFill>
                  <a:schemeClr val="tx1"/>
                </a:solidFill>
                <a:latin typeface="Times" charset="0"/>
                <a:ea typeface="MS PGothic" panose="020B0600070205080204" charset="-128"/>
              </a:defRPr>
            </a:lvl6pPr>
            <a:lvl7pPr marL="914400" eaLnBrk="0" fontAlgn="base" hangingPunct="0">
              <a:spcBef>
                <a:spcPct val="0"/>
              </a:spcBef>
              <a:spcAft>
                <a:spcPct val="0"/>
              </a:spcAft>
              <a:defRPr sz="1600">
                <a:solidFill>
                  <a:schemeClr val="tx1"/>
                </a:solidFill>
                <a:latin typeface="Times" charset="0"/>
                <a:ea typeface="MS PGothic" panose="020B0600070205080204" charset="-128"/>
              </a:defRPr>
            </a:lvl7pPr>
            <a:lvl8pPr marL="1371600" eaLnBrk="0" fontAlgn="base" hangingPunct="0">
              <a:spcBef>
                <a:spcPct val="0"/>
              </a:spcBef>
              <a:spcAft>
                <a:spcPct val="0"/>
              </a:spcAft>
              <a:defRPr sz="1600">
                <a:solidFill>
                  <a:schemeClr val="tx1"/>
                </a:solidFill>
                <a:latin typeface="Times" charset="0"/>
                <a:ea typeface="MS PGothic" panose="020B0600070205080204" charset="-128"/>
              </a:defRPr>
            </a:lvl8pPr>
            <a:lvl9pPr marL="1828800" eaLnBrk="0" fontAlgn="base" hangingPunct="0">
              <a:spcBef>
                <a:spcPct val="0"/>
              </a:spcBef>
              <a:spcAft>
                <a:spcPct val="0"/>
              </a:spcAft>
              <a:defRPr sz="1600">
                <a:solidFill>
                  <a:schemeClr val="tx1"/>
                </a:solidFill>
                <a:latin typeface="Times" charset="0"/>
                <a:ea typeface="MS PGothic" panose="020B0600070205080204" charset="-128"/>
              </a:defRPr>
            </a:lvl9pPr>
          </a:lstStyle>
          <a:p>
            <a:fld id="{4D35EE57-31EF-274F-ABB2-A058C7BC6266}" type="slidenum">
              <a:rPr lang="en-US" sz="1200"/>
              <a:t>9</a:t>
            </a:fld>
            <a:endParaRPr lang="en-US" sz="1200"/>
          </a:p>
        </p:txBody>
      </p:sp>
      <p:sp>
        <p:nvSpPr>
          <p:cNvPr id="82947" name="Rectangle 2"/>
          <p:cNvSpPr>
            <a:spLocks noGrp="1" noRot="1" noChangeAspect="1" noChangeArrowheads="1"/>
          </p:cNvSpPr>
          <p:nvPr>
            <p:ph type="sldImg"/>
          </p:nvPr>
        </p:nvSpPr>
        <p:spPr>
          <a:solidFill>
            <a:srgbClr val="FFFFFF"/>
          </a:solidFill>
        </p:spPr>
      </p:sp>
      <p:sp>
        <p:nvSpPr>
          <p:cNvPr id="8294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ea typeface="MS PGothic" panose="020B0600070205080204" charset="-128"/>
              <a:cs typeface="MS PGothic" panose="020B060007020508020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a:defRPr sz="1600">
                <a:solidFill>
                  <a:schemeClr val="tx1"/>
                </a:solidFill>
                <a:latin typeface="Times" charset="0"/>
                <a:ea typeface="MS PGothic" panose="020B0600070205080204" charset="-128"/>
                <a:cs typeface="MS PGothic" panose="020B0600070205080204" charset="-128"/>
              </a:defRPr>
            </a:lvl1pPr>
            <a:lvl2pPr marL="37931725" indent="-37474525">
              <a:defRPr sz="1600">
                <a:solidFill>
                  <a:schemeClr val="tx1"/>
                </a:solidFill>
                <a:latin typeface="Times" charset="0"/>
                <a:ea typeface="MS PGothic" panose="020B0600070205080204" charset="-128"/>
              </a:defRPr>
            </a:lvl2pPr>
            <a:lvl3pPr>
              <a:defRPr sz="1600">
                <a:solidFill>
                  <a:schemeClr val="tx1"/>
                </a:solidFill>
                <a:latin typeface="Times" charset="0"/>
                <a:ea typeface="MS PGothic" panose="020B0600070205080204" charset="-128"/>
              </a:defRPr>
            </a:lvl3pPr>
            <a:lvl4pPr>
              <a:defRPr sz="1600">
                <a:solidFill>
                  <a:schemeClr val="tx1"/>
                </a:solidFill>
                <a:latin typeface="Times" charset="0"/>
                <a:ea typeface="MS PGothic" panose="020B0600070205080204" charset="-128"/>
              </a:defRPr>
            </a:lvl4pPr>
            <a:lvl5pPr>
              <a:defRPr sz="1600">
                <a:solidFill>
                  <a:schemeClr val="tx1"/>
                </a:solidFill>
                <a:latin typeface="Times" charset="0"/>
                <a:ea typeface="MS PGothic" panose="020B0600070205080204" charset="-128"/>
              </a:defRPr>
            </a:lvl5pPr>
            <a:lvl6pPr marL="457200" eaLnBrk="0" fontAlgn="base" hangingPunct="0">
              <a:spcBef>
                <a:spcPct val="0"/>
              </a:spcBef>
              <a:spcAft>
                <a:spcPct val="0"/>
              </a:spcAft>
              <a:defRPr sz="1600">
                <a:solidFill>
                  <a:schemeClr val="tx1"/>
                </a:solidFill>
                <a:latin typeface="Times" charset="0"/>
                <a:ea typeface="MS PGothic" panose="020B0600070205080204" charset="-128"/>
              </a:defRPr>
            </a:lvl6pPr>
            <a:lvl7pPr marL="914400" eaLnBrk="0" fontAlgn="base" hangingPunct="0">
              <a:spcBef>
                <a:spcPct val="0"/>
              </a:spcBef>
              <a:spcAft>
                <a:spcPct val="0"/>
              </a:spcAft>
              <a:defRPr sz="1600">
                <a:solidFill>
                  <a:schemeClr val="tx1"/>
                </a:solidFill>
                <a:latin typeface="Times" charset="0"/>
                <a:ea typeface="MS PGothic" panose="020B0600070205080204" charset="-128"/>
              </a:defRPr>
            </a:lvl7pPr>
            <a:lvl8pPr marL="1371600" eaLnBrk="0" fontAlgn="base" hangingPunct="0">
              <a:spcBef>
                <a:spcPct val="0"/>
              </a:spcBef>
              <a:spcAft>
                <a:spcPct val="0"/>
              </a:spcAft>
              <a:defRPr sz="1600">
                <a:solidFill>
                  <a:schemeClr val="tx1"/>
                </a:solidFill>
                <a:latin typeface="Times" charset="0"/>
                <a:ea typeface="MS PGothic" panose="020B0600070205080204" charset="-128"/>
              </a:defRPr>
            </a:lvl8pPr>
            <a:lvl9pPr marL="1828800" eaLnBrk="0" fontAlgn="base" hangingPunct="0">
              <a:spcBef>
                <a:spcPct val="0"/>
              </a:spcBef>
              <a:spcAft>
                <a:spcPct val="0"/>
              </a:spcAft>
              <a:defRPr sz="1600">
                <a:solidFill>
                  <a:schemeClr val="tx1"/>
                </a:solidFill>
                <a:latin typeface="Times" charset="0"/>
                <a:ea typeface="MS PGothic" panose="020B0600070205080204" charset="-128"/>
              </a:defRPr>
            </a:lvl9pPr>
          </a:lstStyle>
          <a:p>
            <a:fld id="{FE037116-4AA3-6D44-A188-48CDECF18260}" type="slidenum">
              <a:rPr lang="en-US" sz="1200"/>
              <a:t>10</a:t>
            </a:fld>
            <a:endParaRPr lang="en-US" sz="1200"/>
          </a:p>
        </p:txBody>
      </p:sp>
      <p:sp>
        <p:nvSpPr>
          <p:cNvPr id="84995" name="Rectangle 2"/>
          <p:cNvSpPr>
            <a:spLocks noGrp="1" noRot="1" noChangeAspect="1" noChangeArrowheads="1"/>
          </p:cNvSpPr>
          <p:nvPr>
            <p:ph type="sldImg"/>
          </p:nvPr>
        </p:nvSpPr>
        <p:spPr>
          <a:solidFill>
            <a:srgbClr val="FFFFFF"/>
          </a:solidFill>
        </p:spPr>
      </p:sp>
      <p:sp>
        <p:nvSpPr>
          <p:cNvPr id="8499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ea typeface="MS PGothic" panose="020B0600070205080204" charset="-128"/>
              <a:cs typeface="MS PGothic" panose="020B060007020508020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a:defRPr sz="1600">
                <a:solidFill>
                  <a:schemeClr val="tx1"/>
                </a:solidFill>
                <a:latin typeface="Times" charset="0"/>
                <a:ea typeface="MS PGothic" panose="020B0600070205080204" charset="-128"/>
                <a:cs typeface="MS PGothic" panose="020B0600070205080204" charset="-128"/>
              </a:defRPr>
            </a:lvl1pPr>
            <a:lvl2pPr marL="37931725" indent="-37474525">
              <a:defRPr sz="1600">
                <a:solidFill>
                  <a:schemeClr val="tx1"/>
                </a:solidFill>
                <a:latin typeface="Times" charset="0"/>
                <a:ea typeface="MS PGothic" panose="020B0600070205080204" charset="-128"/>
              </a:defRPr>
            </a:lvl2pPr>
            <a:lvl3pPr>
              <a:defRPr sz="1600">
                <a:solidFill>
                  <a:schemeClr val="tx1"/>
                </a:solidFill>
                <a:latin typeface="Times" charset="0"/>
                <a:ea typeface="MS PGothic" panose="020B0600070205080204" charset="-128"/>
              </a:defRPr>
            </a:lvl3pPr>
            <a:lvl4pPr>
              <a:defRPr sz="1600">
                <a:solidFill>
                  <a:schemeClr val="tx1"/>
                </a:solidFill>
                <a:latin typeface="Times" charset="0"/>
                <a:ea typeface="MS PGothic" panose="020B0600070205080204" charset="-128"/>
              </a:defRPr>
            </a:lvl4pPr>
            <a:lvl5pPr>
              <a:defRPr sz="1600">
                <a:solidFill>
                  <a:schemeClr val="tx1"/>
                </a:solidFill>
                <a:latin typeface="Times" charset="0"/>
                <a:ea typeface="MS PGothic" panose="020B0600070205080204" charset="-128"/>
              </a:defRPr>
            </a:lvl5pPr>
            <a:lvl6pPr marL="457200" eaLnBrk="0" fontAlgn="base" hangingPunct="0">
              <a:spcBef>
                <a:spcPct val="0"/>
              </a:spcBef>
              <a:spcAft>
                <a:spcPct val="0"/>
              </a:spcAft>
              <a:defRPr sz="1600">
                <a:solidFill>
                  <a:schemeClr val="tx1"/>
                </a:solidFill>
                <a:latin typeface="Times" charset="0"/>
                <a:ea typeface="MS PGothic" panose="020B0600070205080204" charset="-128"/>
              </a:defRPr>
            </a:lvl6pPr>
            <a:lvl7pPr marL="914400" eaLnBrk="0" fontAlgn="base" hangingPunct="0">
              <a:spcBef>
                <a:spcPct val="0"/>
              </a:spcBef>
              <a:spcAft>
                <a:spcPct val="0"/>
              </a:spcAft>
              <a:defRPr sz="1600">
                <a:solidFill>
                  <a:schemeClr val="tx1"/>
                </a:solidFill>
                <a:latin typeface="Times" charset="0"/>
                <a:ea typeface="MS PGothic" panose="020B0600070205080204" charset="-128"/>
              </a:defRPr>
            </a:lvl7pPr>
            <a:lvl8pPr marL="1371600" eaLnBrk="0" fontAlgn="base" hangingPunct="0">
              <a:spcBef>
                <a:spcPct val="0"/>
              </a:spcBef>
              <a:spcAft>
                <a:spcPct val="0"/>
              </a:spcAft>
              <a:defRPr sz="1600">
                <a:solidFill>
                  <a:schemeClr val="tx1"/>
                </a:solidFill>
                <a:latin typeface="Times" charset="0"/>
                <a:ea typeface="MS PGothic" panose="020B0600070205080204" charset="-128"/>
              </a:defRPr>
            </a:lvl8pPr>
            <a:lvl9pPr marL="1828800" eaLnBrk="0" fontAlgn="base" hangingPunct="0">
              <a:spcBef>
                <a:spcPct val="0"/>
              </a:spcBef>
              <a:spcAft>
                <a:spcPct val="0"/>
              </a:spcAft>
              <a:defRPr sz="1600">
                <a:solidFill>
                  <a:schemeClr val="tx1"/>
                </a:solidFill>
                <a:latin typeface="Times" charset="0"/>
                <a:ea typeface="MS PGothic" panose="020B0600070205080204" charset="-128"/>
              </a:defRPr>
            </a:lvl9pPr>
          </a:lstStyle>
          <a:p>
            <a:fld id="{F5871419-B552-0149-96B8-308E68B4E0F5}" type="slidenum">
              <a:rPr lang="en-US" sz="1200"/>
              <a:t>11</a:t>
            </a:fld>
            <a:endParaRPr lang="en-US" sz="1200"/>
          </a:p>
        </p:txBody>
      </p:sp>
      <p:sp>
        <p:nvSpPr>
          <p:cNvPr id="89091" name="Rectangle 2"/>
          <p:cNvSpPr>
            <a:spLocks noGrp="1" noRot="1" noChangeAspect="1" noChangeArrowheads="1"/>
          </p:cNvSpPr>
          <p:nvPr>
            <p:ph type="sldImg"/>
          </p:nvPr>
        </p:nvSpPr>
        <p:spPr>
          <a:solidFill>
            <a:srgbClr val="FFFFFF"/>
          </a:solidFill>
        </p:spPr>
      </p:sp>
      <p:sp>
        <p:nvSpPr>
          <p:cNvPr id="8909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ea typeface="MS PGothic" panose="020B0600070205080204" charset="-128"/>
              <a:cs typeface="MS PGothic" panose="020B060007020508020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34819"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3482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AB1E5A7A-5E04-47CA-B00F-DDFFA1095F4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34821" name="Rectangle 2"/>
          <p:cNvSpPr>
            <a:spLocks noGrp="1" noRot="1" noChangeAspect="1" noChangeArrowheads="1"/>
          </p:cNvSpPr>
          <p:nvPr>
            <p:ph type="sldImg"/>
          </p:nvPr>
        </p:nvSpPr>
        <p:spPr>
          <a:solidFill>
            <a:srgbClr val="FFFFFF"/>
          </a:solidFill>
        </p:spPr>
      </p:sp>
      <p:sp>
        <p:nvSpPr>
          <p:cNvPr id="3482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3686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3686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B3C172A1-7228-40BB-9076-129933504BCE}"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36869" name="Rectangle 2"/>
          <p:cNvSpPr>
            <a:spLocks noGrp="1" noRot="1" noChangeAspect="1" noChangeArrowheads="1"/>
          </p:cNvSpPr>
          <p:nvPr>
            <p:ph type="sldImg"/>
          </p:nvPr>
        </p:nvSpPr>
        <p:spPr>
          <a:solidFill>
            <a:srgbClr val="FFFFFF"/>
          </a:solidFill>
        </p:spPr>
      </p:sp>
      <p:sp>
        <p:nvSpPr>
          <p:cNvPr id="3687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38915"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3891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E2D18F6-CFC3-4DDC-96B6-B08660D87389}"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18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38917" name="Rectangle 2"/>
          <p:cNvSpPr>
            <a:spLocks noGrp="1" noRot="1" noChangeAspect="1" noChangeArrowheads="1"/>
          </p:cNvSpPr>
          <p:nvPr>
            <p:ph type="sldImg"/>
          </p:nvPr>
        </p:nvSpPr>
        <p:spPr>
          <a:solidFill>
            <a:srgbClr val="FFFFFF"/>
          </a:solidFill>
        </p:spPr>
      </p:sp>
      <p:sp>
        <p:nvSpPr>
          <p:cNvPr id="3891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40963"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4096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8BB23BFB-DC6C-4AD2-9CC1-6760BBF40268}"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40965" name="Rectangle 2"/>
          <p:cNvSpPr>
            <a:spLocks noGrp="1" noRot="1" noChangeAspect="1" noChangeArrowheads="1" noTextEdit="1"/>
          </p:cNvSpPr>
          <p:nvPr>
            <p:ph type="sldImg"/>
          </p:nvPr>
        </p:nvSpPr>
        <p:spPr/>
      </p:sp>
      <p:sp>
        <p:nvSpPr>
          <p:cNvPr id="4096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43011"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4301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E3E7F82F-9C4F-42F8-9AB7-C38A51D88D77}"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20</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43013" name="Rectangle 2"/>
          <p:cNvSpPr>
            <a:spLocks noGrp="1" noRot="1" noChangeAspect="1" noChangeArrowheads="1"/>
          </p:cNvSpPr>
          <p:nvPr>
            <p:ph type="sldImg"/>
          </p:nvPr>
        </p:nvSpPr>
        <p:spPr>
          <a:solidFill>
            <a:srgbClr val="FFFFFF"/>
          </a:solidFill>
        </p:spPr>
      </p:sp>
      <p:sp>
        <p:nvSpPr>
          <p:cNvPr id="4301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45059"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4506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81EF74EC-216A-4A3F-B2CE-AB5DA0CCE80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45061" name="Rectangle 2"/>
          <p:cNvSpPr>
            <a:spLocks noGrp="1" noRot="1" noChangeAspect="1" noChangeArrowheads="1" noTextEdit="1"/>
          </p:cNvSpPr>
          <p:nvPr>
            <p:ph type="sldImg"/>
          </p:nvPr>
        </p:nvSpPr>
        <p:spPr/>
      </p:sp>
      <p:sp>
        <p:nvSpPr>
          <p:cNvPr id="4506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471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471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B30A3A8-0E0C-4DCF-B935-AD703A8A832B}"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22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47109" name="Rectangle 2"/>
          <p:cNvSpPr>
            <a:spLocks noGrp="1" noRot="1" noChangeAspect="1" noChangeArrowheads="1" noTextEdit="1"/>
          </p:cNvSpPr>
          <p:nvPr>
            <p:ph type="sldImg"/>
          </p:nvPr>
        </p:nvSpPr>
        <p:spPr/>
      </p:sp>
      <p:sp>
        <p:nvSpPr>
          <p:cNvPr id="4711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49155"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4915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70165558-33F2-4E9E-97B0-EFF13C01DF5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49157" name="Rectangle 2"/>
          <p:cNvSpPr>
            <a:spLocks noGrp="1" noRot="1" noChangeAspect="1" noChangeArrowheads="1" noTextEdit="1"/>
          </p:cNvSpPr>
          <p:nvPr>
            <p:ph type="sldImg"/>
          </p:nvPr>
        </p:nvSpPr>
        <p:spPr/>
      </p:sp>
      <p:sp>
        <p:nvSpPr>
          <p:cNvPr id="4915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51203"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5120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1C333821-23A5-47F0-AA7D-DD63B16ED045}"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32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51205" name="Rectangle 2"/>
          <p:cNvSpPr>
            <a:spLocks noGrp="1" noRot="1" noChangeAspect="1" noChangeArrowheads="1"/>
          </p:cNvSpPr>
          <p:nvPr>
            <p:ph type="sldImg"/>
          </p:nvPr>
        </p:nvSpPr>
        <p:spPr>
          <a:solidFill>
            <a:srgbClr val="FFFFFF"/>
          </a:solidFill>
        </p:spPr>
      </p:sp>
      <p:sp>
        <p:nvSpPr>
          <p:cNvPr id="5120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Electronics Overview</a:t>
            </a:r>
          </a:p>
        </p:txBody>
      </p:sp>
      <p:sp>
        <p:nvSpPr>
          <p:cNvPr id="53251"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rPr>
              <a:t>Lecture 8</a:t>
            </a:r>
          </a:p>
        </p:txBody>
      </p:sp>
      <p:sp>
        <p:nvSpPr>
          <p:cNvPr id="5325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marL="0" marR="0" lvl="0" indent="0" algn="r" defTabSz="914400" rtl="0" eaLnBrk="0" fontAlgn="base" latinLnBrk="0" hangingPunct="0">
              <a:lnSpc>
                <a:spcPct val="100000"/>
              </a:lnSpc>
              <a:spcBef>
                <a:spcPct val="0"/>
              </a:spcBef>
              <a:spcAft>
                <a:spcPct val="0"/>
              </a:spcAft>
              <a:buClrTx/>
              <a:buSzTx/>
              <a:buFontTx/>
              <a:buNone/>
              <a:defRPr/>
            </a:pPr>
            <a:fld id="{29145AF4-E2B3-4E52-B060-1E678520680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charset="-128"/>
                <a:cs typeface="+mn-cs"/>
              </a:rPr>
              <a:t>33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charset="-128"/>
              <a:cs typeface="+mn-cs"/>
            </a:endParaRPr>
          </a:p>
        </p:txBody>
      </p:sp>
      <p:sp>
        <p:nvSpPr>
          <p:cNvPr id="53253" name="Rectangle 2"/>
          <p:cNvSpPr>
            <a:spLocks noGrp="1" noRot="1" noChangeAspect="1" noChangeArrowheads="1" noTextEdit="1"/>
          </p:cNvSpPr>
          <p:nvPr>
            <p:ph type="sldImg"/>
          </p:nvPr>
        </p:nvSpPr>
        <p:spPr/>
      </p:sp>
      <p:sp>
        <p:nvSpPr>
          <p:cNvPr id="5325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MS PGothic" panose="020B060007020508020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8DC839E8-0E09-408D-8E59-763721CB6D6B}" type="datetimeFigureOut">
              <a:rPr lang="en-US" smtClean="0"/>
              <a:t>5/7/2020</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A703E751-3F78-4A48-9C85-936DB56515D6}"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C839E8-0E09-408D-8E59-763721CB6D6B}" type="datetimeFigureOut">
              <a:rPr lang="en-US" smtClean="0"/>
              <a:t>5/7/2020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DC839E8-0E09-408D-8E59-763721CB6D6B}" type="datetimeFigureOut">
              <a:rPr lang="en-US" smtClean="0"/>
              <a:t>5/7/2020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DC839E8-0E09-408D-8E59-763721CB6D6B}" type="datetimeFigureOut">
              <a:rPr lang="en-US" smtClean="0"/>
              <a:t>5/7/2020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DC839E8-0E09-408D-8E59-763721CB6D6B}" type="datetimeFigureOut">
              <a:rPr lang="en-US" smtClean="0"/>
              <a:t>5/7/2020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DC839E8-0E09-408D-8E59-763721CB6D6B}" type="datetimeFigureOut">
              <a:rPr lang="en-US" smtClean="0"/>
              <a:t>5/7/2020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C839E8-0E09-408D-8E59-763721CB6D6B}" type="datetimeFigureOut">
              <a:rPr lang="en-US" smtClean="0"/>
              <a:t>5/7/2020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C839E8-0E09-408D-8E59-763721CB6D6B}" type="datetimeFigureOut">
              <a:rPr lang="en-US" smtClean="0"/>
              <a:t>5/7/2020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C839E8-0E09-408D-8E59-763721CB6D6B}" type="datetimeFigureOut">
              <a:rPr lang="en-US" smtClean="0"/>
              <a:t>5/7/2020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C839E8-0E09-408D-8E59-763721CB6D6B}" type="datetimeFigureOut">
              <a:rPr lang="en-US" smtClean="0"/>
              <a:t>5/7/2020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C839E8-0E09-408D-8E59-763721CB6D6B}" type="datetimeFigureOut">
              <a:rPr lang="en-US" smtClean="0"/>
              <a:t>5/7/2020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3E751-3F78-4A48-9C85-936DB56515D6}" type="slidenum">
              <a:rPr lang="en-US"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r>
              <a:rPr lang="en-US" altLang="en-US"/>
              <a:t>Winter 2012</a:t>
            </a:r>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r>
              <a:rPr lang="en-US" altLang="en-US"/>
              <a:t>UCSD: Physics 121; 2012</a:t>
            </a:r>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A4179A3B-FC97-4C15-9B73-EFFC76111CDA}" type="slidenum">
              <a:rPr lang="en-US" altLang="en-US"/>
              <a:t>‹#›</a:t>
            </a:fld>
            <a:endParaRPr lang="en-US"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ltLang="en-US"/>
              <a:t>Winter 2012</a:t>
            </a:r>
          </a:p>
        </p:txBody>
      </p:sp>
      <p:sp>
        <p:nvSpPr>
          <p:cNvPr id="5" name="Footer Placeholder 4"/>
          <p:cNvSpPr>
            <a:spLocks noGrp="1"/>
          </p:cNvSpPr>
          <p:nvPr>
            <p:ph type="ftr" sz="quarter" idx="11"/>
          </p:nvPr>
        </p:nvSpPr>
        <p:spPr/>
        <p:txBody>
          <a:bodyPr/>
          <a:lstStyle/>
          <a:p>
            <a:r>
              <a:rPr lang="en-US" altLang="en-US"/>
              <a:t>UCSD: Physics 121; 2012</a:t>
            </a:r>
          </a:p>
        </p:txBody>
      </p:sp>
      <p:sp>
        <p:nvSpPr>
          <p:cNvPr id="6" name="Slide Number Placeholder 5"/>
          <p:cNvSpPr>
            <a:spLocks noGrp="1"/>
          </p:cNvSpPr>
          <p:nvPr>
            <p:ph type="sldNum" sz="quarter" idx="12"/>
          </p:nvPr>
        </p:nvSpPr>
        <p:spPr/>
        <p:txBody>
          <a:bodyPr/>
          <a:lstStyle/>
          <a:p>
            <a:fld id="{56B950AF-1E29-4457-8775-32F51CE1BEDC}" type="slidenum">
              <a:rPr lang="en-US" altLang="en-US"/>
              <a:t>‹#›</a:t>
            </a:fld>
            <a:endParaRPr lang="en-US" altLang="en-US"/>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ltLang="en-US"/>
              <a:t>Winter 2012</a:t>
            </a:r>
          </a:p>
        </p:txBody>
      </p:sp>
      <p:sp>
        <p:nvSpPr>
          <p:cNvPr id="5" name="Footer Placeholder 4"/>
          <p:cNvSpPr>
            <a:spLocks noGrp="1"/>
          </p:cNvSpPr>
          <p:nvPr>
            <p:ph type="ftr" sz="quarter" idx="11"/>
          </p:nvPr>
        </p:nvSpPr>
        <p:spPr/>
        <p:txBody>
          <a:bodyPr/>
          <a:lstStyle/>
          <a:p>
            <a:r>
              <a:rPr lang="en-US" altLang="en-US"/>
              <a:t>UCSD: Physics 121; 2012</a:t>
            </a:r>
          </a:p>
        </p:txBody>
      </p:sp>
      <p:sp>
        <p:nvSpPr>
          <p:cNvPr id="6" name="Slide Number Placeholder 5"/>
          <p:cNvSpPr>
            <a:spLocks noGrp="1"/>
          </p:cNvSpPr>
          <p:nvPr>
            <p:ph type="sldNum" sz="quarter" idx="12"/>
          </p:nvPr>
        </p:nvSpPr>
        <p:spPr/>
        <p:txBody>
          <a:bodyPr/>
          <a:lstStyle/>
          <a:p>
            <a:fld id="{DCBE0741-572F-4E53-A574-BD236A8DDAF7}" type="slidenum">
              <a:rPr lang="en-US" altLang="en-US"/>
              <a:t>‹#›</a:t>
            </a:fld>
            <a:endParaRPr lang="en-US" altLang="en-US"/>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ltLang="en-US"/>
              <a:t>Winter 2012</a:t>
            </a:r>
          </a:p>
        </p:txBody>
      </p:sp>
      <p:sp>
        <p:nvSpPr>
          <p:cNvPr id="6" name="Footer Placeholder 5"/>
          <p:cNvSpPr>
            <a:spLocks noGrp="1"/>
          </p:cNvSpPr>
          <p:nvPr>
            <p:ph type="ftr" sz="quarter" idx="11"/>
          </p:nvPr>
        </p:nvSpPr>
        <p:spPr/>
        <p:txBody>
          <a:bodyPr/>
          <a:lstStyle/>
          <a:p>
            <a:r>
              <a:rPr lang="en-US" altLang="en-US"/>
              <a:t>UCSD: Physics 121; 2012</a:t>
            </a:r>
          </a:p>
        </p:txBody>
      </p:sp>
      <p:sp>
        <p:nvSpPr>
          <p:cNvPr id="7" name="Slide Number Placeholder 6"/>
          <p:cNvSpPr>
            <a:spLocks noGrp="1"/>
          </p:cNvSpPr>
          <p:nvPr>
            <p:ph type="sldNum" sz="quarter" idx="12"/>
          </p:nvPr>
        </p:nvSpPr>
        <p:spPr/>
        <p:txBody>
          <a:bodyPr/>
          <a:lstStyle/>
          <a:p>
            <a:fld id="{4250F750-FD2E-4DE1-9C15-390F4D3A030E}" type="slidenum">
              <a:rPr lang="en-US" altLang="en-US"/>
              <a:t>‹#›</a:t>
            </a:fld>
            <a:endParaRPr lang="en-US"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ltLang="en-US"/>
              <a:t>Winter 2012</a:t>
            </a:r>
          </a:p>
        </p:txBody>
      </p:sp>
      <p:sp>
        <p:nvSpPr>
          <p:cNvPr id="8" name="Footer Placeholder 7"/>
          <p:cNvSpPr>
            <a:spLocks noGrp="1"/>
          </p:cNvSpPr>
          <p:nvPr>
            <p:ph type="ftr" sz="quarter" idx="11"/>
          </p:nvPr>
        </p:nvSpPr>
        <p:spPr/>
        <p:txBody>
          <a:bodyPr/>
          <a:lstStyle/>
          <a:p>
            <a:r>
              <a:rPr lang="en-US" altLang="en-US"/>
              <a:t>UCSD: Physics 121; 2012</a:t>
            </a:r>
          </a:p>
        </p:txBody>
      </p:sp>
      <p:sp>
        <p:nvSpPr>
          <p:cNvPr id="9" name="Slide Number Placeholder 8"/>
          <p:cNvSpPr>
            <a:spLocks noGrp="1"/>
          </p:cNvSpPr>
          <p:nvPr>
            <p:ph type="sldNum" sz="quarter" idx="12"/>
          </p:nvPr>
        </p:nvSpPr>
        <p:spPr/>
        <p:txBody>
          <a:bodyPr/>
          <a:lstStyle/>
          <a:p>
            <a:fld id="{A9E6723A-14B5-4F7F-B9AD-6A57EB4FA7EC}" type="slidenum">
              <a:rPr lang="en-US" altLang="en-US"/>
              <a:t>‹#›</a:t>
            </a:fld>
            <a:endParaRPr lang="en-US"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ltLang="en-US"/>
              <a:t>Winter 2012</a:t>
            </a:r>
          </a:p>
        </p:txBody>
      </p:sp>
      <p:sp>
        <p:nvSpPr>
          <p:cNvPr id="4" name="Footer Placeholder 3"/>
          <p:cNvSpPr>
            <a:spLocks noGrp="1"/>
          </p:cNvSpPr>
          <p:nvPr>
            <p:ph type="ftr" sz="quarter" idx="11"/>
          </p:nvPr>
        </p:nvSpPr>
        <p:spPr/>
        <p:txBody>
          <a:bodyPr/>
          <a:lstStyle/>
          <a:p>
            <a:r>
              <a:rPr lang="en-US" altLang="en-US"/>
              <a:t>UCSD: Physics 121; 2012</a:t>
            </a:r>
          </a:p>
        </p:txBody>
      </p:sp>
      <p:sp>
        <p:nvSpPr>
          <p:cNvPr id="5" name="Slide Number Placeholder 4"/>
          <p:cNvSpPr>
            <a:spLocks noGrp="1"/>
          </p:cNvSpPr>
          <p:nvPr>
            <p:ph type="sldNum" sz="quarter" idx="12"/>
          </p:nvPr>
        </p:nvSpPr>
        <p:spPr/>
        <p:txBody>
          <a:bodyPr/>
          <a:lstStyle/>
          <a:p>
            <a:fld id="{77A4F412-2E84-42CC-ABD5-FFFE28DE413D}" type="slidenum">
              <a:rPr lang="en-US" altLang="en-US"/>
              <a:t>‹#›</a:t>
            </a:fld>
            <a:endParaRPr lang="en-US"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en-US"/>
              <a:t>Winter 2012</a:t>
            </a:r>
          </a:p>
        </p:txBody>
      </p:sp>
      <p:sp>
        <p:nvSpPr>
          <p:cNvPr id="3" name="Footer Placeholder 2"/>
          <p:cNvSpPr>
            <a:spLocks noGrp="1"/>
          </p:cNvSpPr>
          <p:nvPr>
            <p:ph type="ftr" sz="quarter" idx="11"/>
          </p:nvPr>
        </p:nvSpPr>
        <p:spPr/>
        <p:txBody>
          <a:bodyPr/>
          <a:lstStyle/>
          <a:p>
            <a:r>
              <a:rPr lang="en-US" altLang="en-US"/>
              <a:t>UCSD: Physics 121; 2012</a:t>
            </a:r>
          </a:p>
        </p:txBody>
      </p:sp>
      <p:sp>
        <p:nvSpPr>
          <p:cNvPr id="4" name="Slide Number Placeholder 3"/>
          <p:cNvSpPr>
            <a:spLocks noGrp="1"/>
          </p:cNvSpPr>
          <p:nvPr>
            <p:ph type="sldNum" sz="quarter" idx="12"/>
          </p:nvPr>
        </p:nvSpPr>
        <p:spPr/>
        <p:txBody>
          <a:bodyPr/>
          <a:lstStyle/>
          <a:p>
            <a:fld id="{F131A65B-7CC9-416B-958A-E9EE68C2AE92}" type="slidenum">
              <a:rPr lang="en-US" altLang="en-US"/>
              <a:t>‹#›</a:t>
            </a:fld>
            <a:endParaRPr lang="en-US"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ltLang="en-US"/>
              <a:t>Winter 2012</a:t>
            </a:r>
          </a:p>
        </p:txBody>
      </p:sp>
      <p:sp>
        <p:nvSpPr>
          <p:cNvPr id="6" name="Footer Placeholder 5"/>
          <p:cNvSpPr>
            <a:spLocks noGrp="1"/>
          </p:cNvSpPr>
          <p:nvPr>
            <p:ph type="ftr" sz="quarter" idx="11"/>
          </p:nvPr>
        </p:nvSpPr>
        <p:spPr/>
        <p:txBody>
          <a:bodyPr/>
          <a:lstStyle/>
          <a:p>
            <a:r>
              <a:rPr lang="en-US" altLang="en-US"/>
              <a:t>UCSD: Physics 121; 2012</a:t>
            </a:r>
          </a:p>
        </p:txBody>
      </p:sp>
      <p:sp>
        <p:nvSpPr>
          <p:cNvPr id="7" name="Slide Number Placeholder 6"/>
          <p:cNvSpPr>
            <a:spLocks noGrp="1"/>
          </p:cNvSpPr>
          <p:nvPr>
            <p:ph type="sldNum" sz="quarter" idx="12"/>
          </p:nvPr>
        </p:nvSpPr>
        <p:spPr/>
        <p:txBody>
          <a:bodyPr/>
          <a:lstStyle/>
          <a:p>
            <a:fld id="{058F9D2A-D77C-4826-A254-EA1B005F12B3}" type="slidenum">
              <a:rPr lang="en-US" altLang="en-US"/>
              <a:t>‹#›</a:t>
            </a:fld>
            <a:endParaRPr lang="en-US"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ltLang="en-US"/>
              <a:t>Winter 2012</a:t>
            </a:r>
          </a:p>
        </p:txBody>
      </p:sp>
      <p:sp>
        <p:nvSpPr>
          <p:cNvPr id="6" name="Footer Placeholder 5"/>
          <p:cNvSpPr>
            <a:spLocks noGrp="1"/>
          </p:cNvSpPr>
          <p:nvPr>
            <p:ph type="ftr" sz="quarter" idx="11"/>
          </p:nvPr>
        </p:nvSpPr>
        <p:spPr/>
        <p:txBody>
          <a:bodyPr/>
          <a:lstStyle/>
          <a:p>
            <a:r>
              <a:rPr lang="en-US" altLang="en-US"/>
              <a:t>UCSD: Physics 121; 2012</a:t>
            </a:r>
          </a:p>
        </p:txBody>
      </p:sp>
      <p:sp>
        <p:nvSpPr>
          <p:cNvPr id="7" name="Slide Number Placeholder 6"/>
          <p:cNvSpPr>
            <a:spLocks noGrp="1"/>
          </p:cNvSpPr>
          <p:nvPr>
            <p:ph type="sldNum" sz="quarter" idx="12"/>
          </p:nvPr>
        </p:nvSpPr>
        <p:spPr/>
        <p:txBody>
          <a:bodyPr/>
          <a:lstStyle/>
          <a:p>
            <a:fld id="{0A3370A2-FA2B-4183-9D37-FD1C26BC1FC4}" type="slidenum">
              <a:rPr lang="en-US" altLang="en-US"/>
              <a:t>‹#›</a:t>
            </a:fld>
            <a:endParaRPr lang="en-US" altLang="en-US"/>
          </a:p>
        </p:txBody>
      </p:sp>
    </p:spTree>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ltLang="en-US"/>
              <a:t>Winter 2012</a:t>
            </a:r>
          </a:p>
        </p:txBody>
      </p:sp>
      <p:sp>
        <p:nvSpPr>
          <p:cNvPr id="5" name="Footer Placeholder 4"/>
          <p:cNvSpPr>
            <a:spLocks noGrp="1"/>
          </p:cNvSpPr>
          <p:nvPr>
            <p:ph type="ftr" sz="quarter" idx="11"/>
          </p:nvPr>
        </p:nvSpPr>
        <p:spPr/>
        <p:txBody>
          <a:bodyPr/>
          <a:lstStyle/>
          <a:p>
            <a:r>
              <a:rPr lang="en-US" altLang="en-US"/>
              <a:t>UCSD: Physics 121; 2012</a:t>
            </a:r>
          </a:p>
        </p:txBody>
      </p:sp>
      <p:sp>
        <p:nvSpPr>
          <p:cNvPr id="6" name="Slide Number Placeholder 5"/>
          <p:cNvSpPr>
            <a:spLocks noGrp="1"/>
          </p:cNvSpPr>
          <p:nvPr>
            <p:ph type="sldNum" sz="quarter" idx="12"/>
          </p:nvPr>
        </p:nvSpPr>
        <p:spPr/>
        <p:txBody>
          <a:bodyPr/>
          <a:lstStyle/>
          <a:p>
            <a:fld id="{25CE9179-B410-4788-A634-5B255E42EA25}" type="slidenum">
              <a:rPr lang="en-US" altLang="en-US"/>
              <a:t>‹#›</a:t>
            </a:fld>
            <a:endParaRPr lang="en-US" altLang="en-US"/>
          </a:p>
        </p:txBody>
      </p:sp>
    </p:spTree>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ltLang="en-US"/>
              <a:t>Winter 2012</a:t>
            </a:r>
          </a:p>
        </p:txBody>
      </p:sp>
      <p:sp>
        <p:nvSpPr>
          <p:cNvPr id="5" name="Footer Placeholder 4"/>
          <p:cNvSpPr>
            <a:spLocks noGrp="1"/>
          </p:cNvSpPr>
          <p:nvPr>
            <p:ph type="ftr" sz="quarter" idx="11"/>
          </p:nvPr>
        </p:nvSpPr>
        <p:spPr/>
        <p:txBody>
          <a:bodyPr/>
          <a:lstStyle/>
          <a:p>
            <a:r>
              <a:rPr lang="en-US" altLang="en-US"/>
              <a:t>UCSD: Physics 121; 2012</a:t>
            </a:r>
          </a:p>
        </p:txBody>
      </p:sp>
      <p:sp>
        <p:nvSpPr>
          <p:cNvPr id="6" name="Slide Number Placeholder 5"/>
          <p:cNvSpPr>
            <a:spLocks noGrp="1"/>
          </p:cNvSpPr>
          <p:nvPr>
            <p:ph type="sldNum" sz="quarter" idx="12"/>
          </p:nvPr>
        </p:nvSpPr>
        <p:spPr/>
        <p:txBody>
          <a:bodyPr/>
          <a:lstStyle/>
          <a:p>
            <a:fld id="{E3404594-A063-42EA-8795-37CB62C76D4B}" type="slidenum">
              <a:rPr lang="en-US" altLang="en-US"/>
              <a:t>‹#›</a:t>
            </a:fld>
            <a:endParaRPr lang="en-US" altLang="en-US"/>
          </a:p>
        </p:txBody>
      </p:sp>
    </p:spTree>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ltLang="en-US"/>
              <a:t>Winter 2012</a:t>
            </a:r>
          </a:p>
        </p:txBody>
      </p:sp>
      <p:sp>
        <p:nvSpPr>
          <p:cNvPr id="4" name="Footer Placeholder 3"/>
          <p:cNvSpPr>
            <a:spLocks noGrp="1"/>
          </p:cNvSpPr>
          <p:nvPr>
            <p:ph type="ftr" sz="quarter" idx="11"/>
          </p:nvPr>
        </p:nvSpPr>
        <p:spPr/>
        <p:txBody>
          <a:bodyPr/>
          <a:lstStyle/>
          <a:p>
            <a:r>
              <a:rPr lang="en-US" altLang="en-US"/>
              <a:t>UCSD: Physics 121; 2012</a:t>
            </a:r>
          </a:p>
        </p:txBody>
      </p:sp>
      <p:sp>
        <p:nvSpPr>
          <p:cNvPr id="5" name="Slide Number Placeholder 4"/>
          <p:cNvSpPr>
            <a:spLocks noGrp="1"/>
          </p:cNvSpPr>
          <p:nvPr>
            <p:ph type="sldNum" sz="quarter" idx="12"/>
          </p:nvPr>
        </p:nvSpPr>
        <p:spPr/>
        <p:txBody>
          <a:bodyPr/>
          <a:lstStyle/>
          <a:p>
            <a:fld id="{F4375CF4-9F4C-438F-8740-7BAF8CEF3E37}" type="slidenum">
              <a:rPr lang="en-US" altLang="en-US"/>
              <a:t>‹#›</a:t>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ltLang="en-US"/>
              <a:t>Winter 2012</a:t>
            </a:r>
          </a:p>
        </p:txBody>
      </p:sp>
      <p:sp>
        <p:nvSpPr>
          <p:cNvPr id="4" name="Footer Placeholder 3"/>
          <p:cNvSpPr>
            <a:spLocks noGrp="1"/>
          </p:cNvSpPr>
          <p:nvPr>
            <p:ph type="ftr" sz="quarter" idx="11"/>
          </p:nvPr>
        </p:nvSpPr>
        <p:spPr/>
        <p:txBody>
          <a:bodyPr/>
          <a:lstStyle/>
          <a:p>
            <a:r>
              <a:rPr lang="en-US" altLang="en-US"/>
              <a:t>UCSD: Physics 121; 2012</a:t>
            </a:r>
          </a:p>
        </p:txBody>
      </p:sp>
      <p:sp>
        <p:nvSpPr>
          <p:cNvPr id="5" name="Slide Number Placeholder 4"/>
          <p:cNvSpPr>
            <a:spLocks noGrp="1"/>
          </p:cNvSpPr>
          <p:nvPr>
            <p:ph type="sldNum" sz="quarter" idx="12"/>
          </p:nvPr>
        </p:nvSpPr>
        <p:spPr/>
        <p:txBody>
          <a:bodyPr/>
          <a:lstStyle/>
          <a:p>
            <a:fld id="{F4375CF4-9F4C-438F-8740-7BAF8CEF3E37}"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8DC839E8-0E09-408D-8E59-763721CB6D6B}" type="datetimeFigureOut">
              <a:rPr lang="en-US" smtClean="0"/>
              <a:t>5/7/2020</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A703E751-3F78-4A48-9C85-936DB56515D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5"/>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r>
              <a:rPr lang="en-US" altLang="en-US"/>
              <a:t>Winter 2012</a:t>
            </a:r>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r>
              <a:rPr lang="en-US" altLang="en-US"/>
              <a:t>UCSD: Physics 121; 2012</a:t>
            </a:r>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F4375CF4-9F4C-438F-8740-7BAF8CEF3E37}"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63751" y="1358265"/>
            <a:ext cx="9211733" cy="1082675"/>
          </a:xfrm>
        </p:spPr>
        <p:txBody>
          <a:bodyPr/>
          <a:lstStyle/>
          <a:p>
            <a:r>
              <a:rPr lang="en-US"/>
              <a:t>BASIC ELECTRONICS (CENG 102)</a:t>
            </a:r>
          </a:p>
        </p:txBody>
      </p:sp>
      <p:sp>
        <p:nvSpPr>
          <p:cNvPr id="3" name="Subtitle 2"/>
          <p:cNvSpPr>
            <a:spLocks noGrp="1"/>
          </p:cNvSpPr>
          <p:nvPr>
            <p:ph type="subTitle" idx="1"/>
          </p:nvPr>
        </p:nvSpPr>
        <p:spPr>
          <a:xfrm>
            <a:off x="2063750" y="2927350"/>
            <a:ext cx="9218295" cy="2411095"/>
          </a:xfrm>
        </p:spPr>
        <p:txBody>
          <a:bodyPr/>
          <a:lstStyle/>
          <a:p>
            <a:r>
              <a:rPr lang="en-US"/>
              <a:t>J. OWUSU</a:t>
            </a:r>
          </a:p>
          <a:p>
            <a:r>
              <a:rPr lang="en-US" sz="2500"/>
              <a:t>Assisted by:</a:t>
            </a:r>
          </a:p>
          <a:p>
            <a:r>
              <a:rPr lang="en-US" sz="2500"/>
              <a:t>Dean P. Agbodjan</a:t>
            </a:r>
          </a:p>
          <a:p>
            <a:r>
              <a:rPr lang="en-US" sz="2500"/>
              <a:t>Enoch K.D. Viewu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582613"/>
          </a:xfrm>
        </p:spPr>
        <p:txBody>
          <a:bodyPr/>
          <a:lstStyle/>
          <a:p>
            <a:r>
              <a:rPr lang="en-US">
                <a:solidFill>
                  <a:srgbClr val="FF0000"/>
                </a:solidFill>
              </a:rPr>
              <a:t>INFO:</a:t>
            </a:r>
          </a:p>
        </p:txBody>
      </p:sp>
      <p:sp>
        <p:nvSpPr>
          <p:cNvPr id="3" name="Content Placeholder 2"/>
          <p:cNvSpPr>
            <a:spLocks noGrp="1"/>
          </p:cNvSpPr>
          <p:nvPr>
            <p:ph idx="1"/>
          </p:nvPr>
        </p:nvSpPr>
        <p:spPr>
          <a:xfrm>
            <a:off x="609600" y="1042670"/>
            <a:ext cx="10972800" cy="5085080"/>
          </a:xfrm>
        </p:spPr>
        <p:txBody>
          <a:bodyPr/>
          <a:lstStyle/>
          <a:p>
            <a:r>
              <a:rPr lang="en-US" sz="2600"/>
              <a:t>Reading material: Grob Basic Electronics (11 th Edition) pp 838</a:t>
            </a:r>
          </a:p>
          <a:p>
            <a:r>
              <a:rPr lang="en-US" sz="2600"/>
              <a:t>Other reading material: Electronic Devices and Circuit Theory (7 Edition) ROBERT BOYLESTAD, LOUIS NASHELSKY</a:t>
            </a:r>
          </a:p>
          <a:p>
            <a:r>
              <a:rPr lang="en-US" sz="2600"/>
              <a:t>I am available for live and call session on weekends.</a:t>
            </a:r>
          </a:p>
          <a:p>
            <a:r>
              <a:rPr lang="en-US" sz="2600"/>
              <a:t>You can </a:t>
            </a:r>
            <a:r>
              <a:rPr lang="en-US" sz="2600">
                <a:solidFill>
                  <a:srgbClr val="FF0000"/>
                </a:solidFill>
              </a:rPr>
              <a:t>schedule</a:t>
            </a:r>
            <a:r>
              <a:rPr lang="en-US" sz="2600"/>
              <a:t> a personal </a:t>
            </a:r>
            <a:r>
              <a:rPr lang="en-US" sz="2600">
                <a:solidFill>
                  <a:srgbClr val="FF0000"/>
                </a:solidFill>
              </a:rPr>
              <a:t>online</a:t>
            </a:r>
            <a:r>
              <a:rPr lang="en-US" sz="2600"/>
              <a:t> meeting on week days between 6 and 8pm.</a:t>
            </a:r>
          </a:p>
          <a:p>
            <a:r>
              <a:rPr lang="en-US" sz="2600"/>
              <a:t>You can contact my T.A.s for assistance</a:t>
            </a:r>
          </a:p>
          <a:p>
            <a:r>
              <a:rPr lang="en-US" sz="2600"/>
              <a:t>Contact (WhatsApp) : 0560741222</a:t>
            </a:r>
          </a:p>
          <a:p>
            <a:r>
              <a:rPr lang="en-US" sz="2600"/>
              <a:t>Contact (Call) : 0541371094</a:t>
            </a:r>
          </a:p>
          <a:p>
            <a:r>
              <a:rPr lang="en-US" sz="2600"/>
              <a:t>Contact (Zoom) : meeting ID 851 489 4811 Password 0M248c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0230" y="190500"/>
            <a:ext cx="11012170" cy="582930"/>
          </a:xfrm>
        </p:spPr>
        <p:txBody>
          <a:bodyPr/>
          <a:lstStyle/>
          <a:p>
            <a:pPr algn="ctr"/>
            <a:r>
              <a:rPr lang="en-US" b="1" dirty="0">
                <a:solidFill>
                  <a:srgbClr val="FF0000"/>
                </a:solidFill>
              </a:rPr>
              <a:t>ASSIGNMENT </a:t>
            </a:r>
          </a:p>
        </p:txBody>
      </p:sp>
      <p:sp>
        <p:nvSpPr>
          <p:cNvPr id="3" name="Content Placeholder 2"/>
          <p:cNvSpPr>
            <a:spLocks noGrp="1"/>
          </p:cNvSpPr>
          <p:nvPr>
            <p:ph idx="1"/>
          </p:nvPr>
        </p:nvSpPr>
        <p:spPr>
          <a:xfrm>
            <a:off x="451485" y="952500"/>
            <a:ext cx="10972800" cy="5716270"/>
          </a:xfrm>
        </p:spPr>
        <p:txBody>
          <a:bodyPr/>
          <a:lstStyle/>
          <a:p>
            <a:pPr algn="just"/>
            <a:r>
              <a:rPr lang="en-US" sz="2200" dirty="0"/>
              <a:t>Electronic Devices and Circuit Theory end of chapter 2 exercises; </a:t>
            </a:r>
          </a:p>
          <a:p>
            <a:pPr marL="0" indent="0" algn="just">
              <a:buNone/>
            </a:pPr>
            <a:r>
              <a:rPr lang="en-US" sz="2200" dirty="0">
                <a:solidFill>
                  <a:srgbClr val="FF0000"/>
                </a:solidFill>
              </a:rPr>
              <a:t>3,5,6,10,21,26, 27,42,43,45,47,48.</a:t>
            </a:r>
          </a:p>
          <a:p>
            <a:pPr algn="just"/>
            <a:r>
              <a:rPr lang="en-US" sz="2200" dirty="0">
                <a:solidFill>
                  <a:srgbClr val="FF0000"/>
                </a:solidFill>
              </a:rPr>
              <a:t>Multisim Assignment</a:t>
            </a:r>
            <a:r>
              <a:rPr lang="en-US" sz="2200" dirty="0"/>
              <a:t>: Design and simulate a 5v power supply using a transformer, full wave rectifier, capacitors and a voltage regulator. </a:t>
            </a:r>
          </a:p>
          <a:p>
            <a:pPr marL="0" indent="0" algn="just">
              <a:buNone/>
            </a:pPr>
            <a:r>
              <a:rPr lang="en-US" sz="2200" dirty="0"/>
              <a:t>   1. Use an oscilloscope to determine the:</a:t>
            </a:r>
          </a:p>
          <a:p>
            <a:pPr marL="0" indent="0" algn="just">
              <a:buNone/>
            </a:pPr>
            <a:r>
              <a:rPr lang="en-US" sz="2200" dirty="0"/>
              <a:t>	</a:t>
            </a:r>
            <a:r>
              <a:rPr lang="en-US" sz="2200" dirty="0" err="1"/>
              <a:t>i</a:t>
            </a:r>
            <a:r>
              <a:rPr lang="en-US" sz="2200" dirty="0"/>
              <a:t>. AC voltage source waveform</a:t>
            </a:r>
          </a:p>
          <a:p>
            <a:pPr marL="0" indent="0" algn="just">
              <a:buNone/>
            </a:pPr>
            <a:r>
              <a:rPr lang="en-US" sz="2200" dirty="0"/>
              <a:t>          ii. Waveform of the voltage after the rectifier</a:t>
            </a:r>
          </a:p>
          <a:p>
            <a:pPr marL="0" indent="0" algn="just">
              <a:buNone/>
            </a:pPr>
            <a:r>
              <a:rPr lang="en-US" sz="2200" dirty="0"/>
              <a:t>         iii. </a:t>
            </a:r>
            <a:r>
              <a:rPr lang="en-US" sz="2200" dirty="0">
                <a:sym typeface="+mn-ea"/>
              </a:rPr>
              <a:t>Waveform of the v</a:t>
            </a:r>
            <a:r>
              <a:rPr lang="en-US" sz="2200" dirty="0"/>
              <a:t>oltage after the capacitor</a:t>
            </a:r>
          </a:p>
          <a:p>
            <a:pPr marL="0" indent="0" algn="just">
              <a:buNone/>
            </a:pPr>
            <a:r>
              <a:rPr lang="en-US" sz="2200" dirty="0"/>
              <a:t>         iv. Change the capacitance and determine its waveform</a:t>
            </a:r>
          </a:p>
          <a:p>
            <a:pPr marL="0" indent="0" algn="just">
              <a:buNone/>
            </a:pPr>
            <a:r>
              <a:rPr lang="en-US" sz="2200" dirty="0"/>
              <a:t>         v. What is the purpose of the capacitor in a power supply</a:t>
            </a:r>
          </a:p>
          <a:p>
            <a:pPr marL="0" indent="0" algn="just">
              <a:buNone/>
            </a:pPr>
            <a:r>
              <a:rPr lang="en-US" sz="2200" dirty="0"/>
              <a:t>        iv. What difference did you notice in the waveform before and after the</a:t>
            </a:r>
          </a:p>
          <a:p>
            <a:pPr marL="0" indent="0" algn="just">
              <a:buNone/>
            </a:pPr>
            <a:r>
              <a:rPr lang="en-US" sz="2200" dirty="0"/>
              <a:t>         capacitance was changed.</a:t>
            </a:r>
          </a:p>
          <a:p>
            <a:pPr marL="0" indent="0" algn="just">
              <a:buNone/>
            </a:pPr>
            <a:r>
              <a:rPr lang="en-US" sz="2200" dirty="0"/>
              <a:t>         v. What is the purpose of the </a:t>
            </a:r>
            <a:r>
              <a:rPr lang="en-US" sz="2200" dirty="0" err="1"/>
              <a:t>volage</a:t>
            </a:r>
            <a:r>
              <a:rPr lang="en-US" sz="2200" dirty="0"/>
              <a:t> regulator  </a:t>
            </a:r>
          </a:p>
          <a:p>
            <a:pPr marL="0" indent="0" algn="just">
              <a:buNone/>
            </a:pPr>
            <a:r>
              <a:rPr lang="en-US" sz="2200" dirty="0"/>
              <a:t>    2. Add a light emitting diode as a load  to the power supply you designed. </a:t>
            </a:r>
            <a:r>
              <a:rPr lang="en-US" sz="28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150495"/>
            <a:ext cx="10833100" cy="1006475"/>
          </a:xfrm>
        </p:spPr>
        <p:txBody>
          <a:bodyPr/>
          <a:lstStyle/>
          <a:p>
            <a:pPr algn="ctr"/>
            <a:r>
              <a:rPr lang="en-US" b="1" dirty="0"/>
              <a:t>Diode  Applications</a:t>
            </a:r>
          </a:p>
        </p:txBody>
      </p:sp>
      <p:sp>
        <p:nvSpPr>
          <p:cNvPr id="3" name="Content Placeholder 2"/>
          <p:cNvSpPr>
            <a:spLocks noGrp="1"/>
          </p:cNvSpPr>
          <p:nvPr>
            <p:ph idx="1"/>
          </p:nvPr>
        </p:nvSpPr>
        <p:spPr>
          <a:xfrm>
            <a:off x="521335" y="1156970"/>
            <a:ext cx="10832465" cy="5016500"/>
          </a:xfrm>
        </p:spPr>
        <p:txBody>
          <a:bodyPr>
            <a:noAutofit/>
          </a:bodyPr>
          <a:lstStyle/>
          <a:p>
            <a:pPr algn="just"/>
            <a:r>
              <a:rPr lang="en-US" sz="2800" dirty="0"/>
              <a:t>A semiconductor is a material that is neither a good conductor nor a good insulator. In their purest form, semiconductors have few applications in electronics. However, when the characteristics of a pure semiconductor are altered through a process known as doping, many useful electronic devices can be developed. The most basic semiconductor device is the diode, </a:t>
            </a:r>
          </a:p>
          <a:p>
            <a:pPr algn="just"/>
            <a:r>
              <a:rPr lang="en-US" sz="2800" dirty="0"/>
              <a:t>Diode is a device that allows current to pass through it in only one direction. This characteristic of a diode has many useful applications in electronics. One of the most useful applications is converting an ac voltage into a dc voltage. </a:t>
            </a:r>
          </a:p>
          <a:p>
            <a:pPr algn="just"/>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79145"/>
          </a:xfrm>
        </p:spPr>
        <p:txBody>
          <a:bodyPr/>
          <a:lstStyle/>
          <a:p>
            <a:pPr algn="ctr"/>
            <a:r>
              <a:rPr lang="en-US" b="1" dirty="0"/>
              <a:t>Diode  Applications</a:t>
            </a:r>
            <a:endParaRPr lang="en-US" dirty="0"/>
          </a:p>
        </p:txBody>
      </p:sp>
      <p:sp>
        <p:nvSpPr>
          <p:cNvPr id="3" name="Content Placeholder 2"/>
          <p:cNvSpPr>
            <a:spLocks noGrp="1"/>
          </p:cNvSpPr>
          <p:nvPr>
            <p:ph idx="1"/>
          </p:nvPr>
        </p:nvSpPr>
        <p:spPr>
          <a:xfrm>
            <a:off x="838200" y="1165860"/>
            <a:ext cx="10515600" cy="5720080"/>
          </a:xfrm>
        </p:spPr>
        <p:txBody>
          <a:bodyPr>
            <a:normAutofit lnSpcReduction="10000"/>
          </a:bodyPr>
          <a:lstStyle/>
          <a:p>
            <a:pPr algn="just"/>
            <a:r>
              <a:rPr lang="en-US" sz="3000" dirty="0">
                <a:sym typeface="+mn-ea"/>
              </a:rPr>
              <a:t>When used for this purpose, diodes are typically referred to as rectifier diodes.</a:t>
            </a:r>
            <a:endParaRPr lang="en-US" sz="3000" dirty="0"/>
          </a:p>
          <a:p>
            <a:pPr algn="just"/>
            <a:r>
              <a:rPr lang="en-US" sz="3000" dirty="0"/>
              <a:t>We will consider the basic construction and operation of a semiconductor diode. You will learn how a diode can be turned on or off by applying the proper polarity of voltage across the diode terminals. </a:t>
            </a:r>
          </a:p>
          <a:p>
            <a:pPr algn="just"/>
            <a:r>
              <a:rPr lang="en-US" sz="3000" dirty="0"/>
              <a:t>You will also be introduced to half-wave and full-wave rectifiers which use diodes to convert an ac voltage into a dc voltage. </a:t>
            </a:r>
          </a:p>
          <a:p>
            <a:pPr algn="just"/>
            <a:r>
              <a:rPr lang="en-US" sz="3000" dirty="0"/>
              <a:t>Also we will consider to two special-purpose diodes</a:t>
            </a:r>
          </a:p>
          <a:p>
            <a:pPr lvl="1" algn="just"/>
            <a:r>
              <a:rPr lang="en-US" sz="3000" dirty="0"/>
              <a:t>the light-emitting diode (LED) and </a:t>
            </a:r>
          </a:p>
          <a:p>
            <a:pPr lvl="1" algn="just"/>
            <a:r>
              <a:rPr lang="en-US" sz="3000" dirty="0"/>
              <a:t>the </a:t>
            </a:r>
            <a:r>
              <a:rPr lang="en-US" sz="3000" dirty="0" err="1"/>
              <a:t>zener</a:t>
            </a:r>
            <a:r>
              <a:rPr lang="en-US" sz="3000" dirty="0"/>
              <a:t> diode.</a:t>
            </a:r>
            <a:endParaRPr lang="en-US" sz="2800" dirty="0"/>
          </a:p>
          <a:p>
            <a:pPr marL="0" indent="0">
              <a:buNone/>
            </a:pP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136525"/>
            <a:ext cx="10515600" cy="701675"/>
          </a:xfrm>
        </p:spPr>
        <p:txBody>
          <a:bodyPr/>
          <a:lstStyle/>
          <a:p>
            <a:pPr algn="ctr"/>
            <a:r>
              <a:rPr lang="en-US" b="1" dirty="0"/>
              <a:t>Important Terminology</a:t>
            </a:r>
            <a:endParaRPr lang="en-US" dirty="0"/>
          </a:p>
        </p:txBody>
      </p:sp>
      <p:sp>
        <p:nvSpPr>
          <p:cNvPr id="3" name="Content Placeholder 2"/>
          <p:cNvSpPr>
            <a:spLocks noGrp="1"/>
          </p:cNvSpPr>
          <p:nvPr>
            <p:ph sz="half" idx="1"/>
          </p:nvPr>
        </p:nvSpPr>
        <p:spPr>
          <a:xfrm>
            <a:off x="838200" y="1035050"/>
            <a:ext cx="4937760" cy="6019799"/>
          </a:xfrm>
        </p:spPr>
        <p:txBody>
          <a:bodyPr>
            <a:normAutofit fontScale="87500" lnSpcReduction="10000"/>
          </a:bodyPr>
          <a:lstStyle/>
          <a:p>
            <a:r>
              <a:rPr lang="en-US" sz="2400" dirty="0"/>
              <a:t>barrier potential, </a:t>
            </a:r>
            <a:r>
              <a:rPr lang="en-US" sz="2400" i="1" dirty="0"/>
              <a:t>V </a:t>
            </a:r>
            <a:r>
              <a:rPr lang="en-US" sz="2400" dirty="0"/>
              <a:t>B</a:t>
            </a:r>
          </a:p>
          <a:p>
            <a:r>
              <a:rPr lang="en-US" sz="2400" dirty="0"/>
              <a:t>bias</a:t>
            </a:r>
          </a:p>
          <a:p>
            <a:r>
              <a:rPr lang="en-US" sz="2400" dirty="0"/>
              <a:t>breakdown voltage, </a:t>
            </a:r>
            <a:r>
              <a:rPr lang="en-US" sz="2400" i="1" dirty="0"/>
              <a:t>V </a:t>
            </a:r>
            <a:r>
              <a:rPr lang="en-US" sz="2400" dirty="0"/>
              <a:t>BR</a:t>
            </a:r>
          </a:p>
          <a:p>
            <a:r>
              <a:rPr lang="en-US" sz="2400" dirty="0"/>
              <a:t>bulk resistance, </a:t>
            </a:r>
            <a:r>
              <a:rPr lang="en-US" sz="2400" i="1" dirty="0"/>
              <a:t>r </a:t>
            </a:r>
            <a:r>
              <a:rPr lang="en-US" sz="2400" dirty="0"/>
              <a:t>B</a:t>
            </a:r>
          </a:p>
          <a:p>
            <a:r>
              <a:rPr lang="en-US" sz="2400" dirty="0"/>
              <a:t>covalent bonding</a:t>
            </a:r>
          </a:p>
          <a:p>
            <a:r>
              <a:rPr lang="en-US" sz="2400" dirty="0"/>
              <a:t>depletion zone</a:t>
            </a:r>
          </a:p>
          <a:p>
            <a:r>
              <a:rPr lang="en-US" sz="2400" dirty="0"/>
              <a:t>diode</a:t>
            </a:r>
          </a:p>
          <a:p>
            <a:r>
              <a:rPr lang="en-US" sz="2400" dirty="0"/>
              <a:t>doping</a:t>
            </a:r>
          </a:p>
          <a:p>
            <a:r>
              <a:rPr lang="en-US" sz="2400" dirty="0"/>
              <a:t>electron-hole pair</a:t>
            </a:r>
          </a:p>
          <a:p>
            <a:r>
              <a:rPr lang="en-US" sz="2400" dirty="0"/>
              <a:t>extrinsic</a:t>
            </a:r>
          </a:p>
          <a:p>
            <a:r>
              <a:rPr lang="en-US" sz="2400" dirty="0"/>
              <a:t>Semiconductor</a:t>
            </a:r>
          </a:p>
          <a:p>
            <a:r>
              <a:rPr lang="en-US" sz="2400" dirty="0"/>
              <a:t>avalanche</a:t>
            </a:r>
          </a:p>
          <a:p>
            <a:r>
              <a:rPr lang="en-US" sz="2400" dirty="0"/>
              <a:t>forward bias</a:t>
            </a:r>
          </a:p>
          <a:p>
            <a:r>
              <a:rPr lang="en-US" sz="2400" dirty="0"/>
              <a:t>full-wave rectifier</a:t>
            </a:r>
          </a:p>
          <a:p>
            <a:r>
              <a:rPr lang="en-US" sz="2400" dirty="0"/>
              <a:t>half-wave rectifier</a:t>
            </a:r>
          </a:p>
          <a:p>
            <a:r>
              <a:rPr lang="en-US" sz="2400" dirty="0"/>
              <a:t>hole</a:t>
            </a:r>
            <a:endParaRPr lang="en-US" dirty="0"/>
          </a:p>
          <a:p>
            <a:endParaRPr lang="en-US" dirty="0"/>
          </a:p>
          <a:p>
            <a:endParaRPr lang="en-US" dirty="0"/>
          </a:p>
          <a:p>
            <a:endParaRPr lang="en-US" dirty="0"/>
          </a:p>
        </p:txBody>
      </p:sp>
      <p:sp>
        <p:nvSpPr>
          <p:cNvPr id="4" name="Content Placeholder 3"/>
          <p:cNvSpPr>
            <a:spLocks noGrp="1"/>
          </p:cNvSpPr>
          <p:nvPr>
            <p:ph sz="half" idx="2"/>
          </p:nvPr>
        </p:nvSpPr>
        <p:spPr>
          <a:xfrm>
            <a:off x="6156960" y="1035050"/>
            <a:ext cx="5181600" cy="6019799"/>
          </a:xfrm>
        </p:spPr>
        <p:txBody>
          <a:bodyPr>
            <a:normAutofit fontScale="87500" lnSpcReduction="10000"/>
          </a:bodyPr>
          <a:lstStyle/>
          <a:p>
            <a:r>
              <a:rPr lang="en-US" sz="2400" dirty="0"/>
              <a:t>intrinsic semiconductor</a:t>
            </a:r>
          </a:p>
          <a:p>
            <a:r>
              <a:rPr lang="en-US" sz="2400" dirty="0"/>
              <a:t>leakage current</a:t>
            </a:r>
          </a:p>
          <a:p>
            <a:r>
              <a:rPr lang="en-US" sz="2400" dirty="0"/>
              <a:t>light-emitting diode</a:t>
            </a:r>
          </a:p>
          <a:p>
            <a:r>
              <a:rPr lang="en-US" sz="2400" dirty="0"/>
              <a:t>(LED)</a:t>
            </a:r>
          </a:p>
          <a:p>
            <a:r>
              <a:rPr lang="en-US" sz="2400" dirty="0"/>
              <a:t>majority current carrier</a:t>
            </a:r>
          </a:p>
          <a:p>
            <a:r>
              <a:rPr lang="en-US" sz="2400" dirty="0"/>
              <a:t>minority current carrier</a:t>
            </a:r>
          </a:p>
          <a:p>
            <a:r>
              <a:rPr lang="en-US" sz="2400" i="1" dirty="0"/>
              <a:t>n </a:t>
            </a:r>
            <a:r>
              <a:rPr lang="en-US" sz="2400" dirty="0"/>
              <a:t>-type semiconductor</a:t>
            </a:r>
          </a:p>
          <a:p>
            <a:r>
              <a:rPr lang="en-US" sz="2400" i="1" dirty="0"/>
              <a:t>p </a:t>
            </a:r>
            <a:r>
              <a:rPr lang="en-US" sz="2400" dirty="0"/>
              <a:t>-type semiconductor</a:t>
            </a:r>
          </a:p>
          <a:p>
            <a:r>
              <a:rPr lang="en-US" sz="2400" dirty="0"/>
              <a:t>peak inverse voltage</a:t>
            </a:r>
          </a:p>
          <a:p>
            <a:r>
              <a:rPr lang="en-US" sz="2400" dirty="0"/>
              <a:t>(PIV)</a:t>
            </a:r>
          </a:p>
          <a:p>
            <a:r>
              <a:rPr lang="en-US" sz="2400" dirty="0"/>
              <a:t>pentavalent atom</a:t>
            </a:r>
          </a:p>
          <a:p>
            <a:r>
              <a:rPr lang="en-US" sz="2400" dirty="0"/>
              <a:t>reverse bias</a:t>
            </a:r>
          </a:p>
          <a:p>
            <a:r>
              <a:rPr lang="en-US" sz="2400" dirty="0"/>
              <a:t>trivalent atom</a:t>
            </a:r>
          </a:p>
          <a:p>
            <a:r>
              <a:rPr lang="en-US" sz="2400" dirty="0"/>
              <a:t>valence electrons</a:t>
            </a:r>
          </a:p>
          <a:p>
            <a:r>
              <a:rPr lang="en-US" sz="2400" dirty="0" err="1"/>
              <a:t>zener</a:t>
            </a:r>
            <a:r>
              <a:rPr lang="en-US" sz="2400" dirty="0"/>
              <a:t> current, </a:t>
            </a:r>
            <a:r>
              <a:rPr lang="en-US" sz="2400" i="1" dirty="0"/>
              <a:t>I </a:t>
            </a:r>
            <a:r>
              <a:rPr lang="en-US" sz="2400" dirty="0"/>
              <a:t>z</a:t>
            </a:r>
          </a:p>
          <a:p>
            <a:r>
              <a:rPr lang="en-US" sz="2400" dirty="0" err="1"/>
              <a:t>zener</a:t>
            </a:r>
            <a:r>
              <a:rPr lang="en-US" sz="2400" dirty="0"/>
              <a:t> diode</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ctr" eaLnBrk="1" hangingPunct="1"/>
            <a:r>
              <a:rPr lang="en-US" b="1">
                <a:latin typeface="Arial" panose="020B0604020202020204" pitchFamily="34" charset="0"/>
                <a:ea typeface="MS PGothic" panose="020B0600070205080204" charset="-128"/>
                <a:cs typeface="MS PGothic" panose="020B0600070205080204" charset="-128"/>
              </a:rPr>
              <a:t>Direct Current and its Voltage Waveform</a:t>
            </a:r>
          </a:p>
        </p:txBody>
      </p:sp>
      <p:sp>
        <p:nvSpPr>
          <p:cNvPr id="139267" name="Rectangle 3"/>
          <p:cNvSpPr>
            <a:spLocks noGrp="1" noChangeArrowheads="1"/>
          </p:cNvSpPr>
          <p:nvPr>
            <p:ph type="body" idx="1"/>
          </p:nvPr>
        </p:nvSpPr>
        <p:spPr>
          <a:xfrm>
            <a:off x="609600" y="963930"/>
            <a:ext cx="10972800" cy="5496560"/>
          </a:xfrm>
        </p:spPr>
        <p:txBody>
          <a:bodyPr/>
          <a:lstStyle/>
          <a:p>
            <a:pPr algn="just" eaLnBrk="1" hangingPunct="1"/>
            <a:r>
              <a:rPr lang="en-US" sz="2800">
                <a:latin typeface="Arial" panose="020B0604020202020204" pitchFamily="34" charset="0"/>
                <a:ea typeface="MS PGothic" panose="020B0600070205080204" charset="-128"/>
                <a:cs typeface="MS PGothic" panose="020B0600070205080204" charset="-128"/>
              </a:rPr>
              <a:t>Circuits that are powered by battery sources are termed </a:t>
            </a:r>
            <a:r>
              <a:rPr lang="en-US" sz="2800" b="1">
                <a:latin typeface="Arial" panose="020B0604020202020204" pitchFamily="34" charset="0"/>
                <a:ea typeface="MS PGothic" panose="020B0600070205080204" charset="-128"/>
                <a:cs typeface="MS PGothic" panose="020B0600070205080204" charset="-128"/>
              </a:rPr>
              <a:t>direct current</a:t>
            </a:r>
            <a:r>
              <a:rPr lang="en-US" sz="2800">
                <a:latin typeface="Arial" panose="020B0604020202020204" pitchFamily="34" charset="0"/>
                <a:ea typeface="MS PGothic" panose="020B0600070205080204" charset="-128"/>
                <a:cs typeface="MS PGothic" panose="020B0600070205080204" charset="-128"/>
              </a:rPr>
              <a:t> circuits.</a:t>
            </a:r>
          </a:p>
          <a:p>
            <a:pPr algn="just" eaLnBrk="1" hangingPunct="1"/>
            <a:r>
              <a:rPr lang="en-US" sz="2800">
                <a:latin typeface="Arial" panose="020B0604020202020204" pitchFamily="34" charset="0"/>
                <a:ea typeface="MS PGothic" panose="020B0600070205080204" charset="-128"/>
                <a:cs typeface="MS PGothic" panose="020B0600070205080204" charset="-128"/>
              </a:rPr>
              <a:t>This is because the battery maintains the same polarity of output voltage. The plus and minus sides remain constant.</a:t>
            </a:r>
            <a:endParaRPr lang="en-US">
              <a:latin typeface="Arial" panose="020B0604020202020204" pitchFamily="34" charset="0"/>
              <a:ea typeface="MS PGothic" panose="020B0600070205080204" charset="-128"/>
              <a:cs typeface="MS PGothic" panose="020B0600070205080204" charset="-128"/>
            </a:endParaRPr>
          </a:p>
          <a:p>
            <a:pPr algn="just" eaLnBrk="1" hangingPunct="1"/>
            <a:endParaRPr lang="en-US">
              <a:latin typeface="Arial" panose="020B0604020202020204" pitchFamily="34" charset="0"/>
              <a:ea typeface="MS PGothic" panose="020B0600070205080204" charset="-128"/>
              <a:cs typeface="MS PGothic" panose="020B0600070205080204" charset="-128"/>
            </a:endParaRPr>
          </a:p>
          <a:p>
            <a:pPr algn="just" eaLnBrk="1" hangingPunct="1"/>
            <a:endParaRPr lang="en-US">
              <a:latin typeface="Arial" panose="020B0604020202020204" pitchFamily="34" charset="0"/>
              <a:ea typeface="MS PGothic" panose="020B0600070205080204" charset="-128"/>
              <a:cs typeface="MS PGothic" panose="020B0600070205080204" charset="-128"/>
            </a:endParaRPr>
          </a:p>
        </p:txBody>
      </p:sp>
      <p:pic>
        <p:nvPicPr>
          <p:cNvPr id="77827" name="Picture 3" descr="DC 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6605" y="3233420"/>
            <a:ext cx="4801870" cy="302704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ctr" eaLnBrk="1" hangingPunct="1"/>
            <a:r>
              <a:rPr lang="en-US" b="1">
                <a:latin typeface="Arial" panose="020B0604020202020204" pitchFamily="34" charset="0"/>
                <a:ea typeface="MS PGothic" panose="020B0600070205080204" charset="-128"/>
                <a:cs typeface="MS PGothic" panose="020B0600070205080204" charset="-128"/>
              </a:rPr>
              <a:t>Characteristics of DC</a:t>
            </a:r>
          </a:p>
        </p:txBody>
      </p:sp>
      <p:sp>
        <p:nvSpPr>
          <p:cNvPr id="143363" name="Rectangle 3"/>
          <p:cNvSpPr>
            <a:spLocks noGrp="1" noChangeArrowheads="1"/>
          </p:cNvSpPr>
          <p:nvPr>
            <p:ph type="body" idx="1"/>
          </p:nvPr>
        </p:nvSpPr>
        <p:spPr/>
        <p:txBody>
          <a:bodyPr/>
          <a:lstStyle/>
          <a:p>
            <a:pPr algn="just" eaLnBrk="1" hangingPunct="1"/>
            <a:r>
              <a:rPr lang="en-US" sz="3000">
                <a:latin typeface="Arial" panose="020B0604020202020204" pitchFamily="34" charset="0"/>
                <a:ea typeface="MS PGothic" panose="020B0600070205080204" charset="-128"/>
                <a:cs typeface="MS PGothic" panose="020B0600070205080204" charset="-128"/>
              </a:rPr>
              <a:t>It is the flow of charges in just one direction.</a:t>
            </a:r>
          </a:p>
          <a:p>
            <a:pPr algn="just" eaLnBrk="1" hangingPunct="1"/>
            <a:r>
              <a:rPr lang="en-US" sz="3000">
                <a:latin typeface="Arial" panose="020B0604020202020204" pitchFamily="34" charset="0"/>
                <a:ea typeface="MS PGothic" panose="020B0600070205080204" charset="-128"/>
                <a:cs typeface="MS PGothic" panose="020B0600070205080204" charset="-128"/>
              </a:rPr>
              <a:t>The fixed polarity of the applied voltage which are characteristics of DC circuits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algn="ctr" eaLnBrk="1" hangingPunct="1"/>
            <a:r>
              <a:rPr lang="en-US" b="1">
                <a:latin typeface="Arial" panose="020B0604020202020204" pitchFamily="34" charset="0"/>
                <a:ea typeface="MS PGothic" panose="020B0600070205080204" charset="-128"/>
                <a:cs typeface="MS PGothic" panose="020B0600070205080204" charset="-128"/>
              </a:rPr>
              <a:t>Alternating Current (AC)</a:t>
            </a:r>
          </a:p>
        </p:txBody>
      </p:sp>
      <p:sp>
        <p:nvSpPr>
          <p:cNvPr id="145411" name="Rectangle 3"/>
          <p:cNvSpPr>
            <a:spLocks noGrp="1" noChangeArrowheads="1"/>
          </p:cNvSpPr>
          <p:nvPr>
            <p:ph type="body" idx="1"/>
          </p:nvPr>
        </p:nvSpPr>
        <p:spPr>
          <a:xfrm>
            <a:off x="609600" y="1129030"/>
            <a:ext cx="10822305" cy="4998720"/>
          </a:xfrm>
        </p:spPr>
        <p:txBody>
          <a:bodyPr/>
          <a:lstStyle/>
          <a:p>
            <a:pPr algn="just" eaLnBrk="1" hangingPunct="1">
              <a:lnSpc>
                <a:spcPct val="90000"/>
              </a:lnSpc>
            </a:pPr>
            <a:r>
              <a:rPr lang="en-US" sz="3000">
                <a:latin typeface="Arial" panose="020B0604020202020204" pitchFamily="34" charset="0"/>
                <a:ea typeface="MS PGothic" panose="020B0600070205080204" charset="-128"/>
                <a:cs typeface="MS PGothic" panose="020B0600070205080204" charset="-128"/>
              </a:rPr>
              <a:t>An alternating voltage source periodically alternates or reverses in polarity.</a:t>
            </a:r>
          </a:p>
          <a:p>
            <a:pPr algn="just" eaLnBrk="1" hangingPunct="1">
              <a:lnSpc>
                <a:spcPct val="90000"/>
              </a:lnSpc>
            </a:pPr>
            <a:r>
              <a:rPr lang="en-US" sz="3000">
                <a:latin typeface="Arial" panose="020B0604020202020204" pitchFamily="34" charset="0"/>
                <a:ea typeface="MS PGothic" panose="020B0600070205080204" charset="-128"/>
                <a:cs typeface="MS PGothic" panose="020B0600070205080204" charset="-128"/>
              </a:rPr>
              <a:t>The resulting current, therefore, periodically reverses in direction.</a:t>
            </a:r>
          </a:p>
          <a:p>
            <a:pPr algn="just" eaLnBrk="1" hangingPunct="1">
              <a:lnSpc>
                <a:spcPct val="90000"/>
              </a:lnSpc>
            </a:pPr>
            <a:r>
              <a:rPr lang="en-US" sz="3000">
                <a:latin typeface="Arial" panose="020B0604020202020204" pitchFamily="34" charset="0"/>
                <a:ea typeface="MS PGothic" panose="020B0600070205080204" charset="-128"/>
                <a:cs typeface="MS PGothic" panose="020B0600070205080204" charset="-128"/>
              </a:rPr>
              <a:t>The power outlet in your home is 60 cycle ac - meaning the voltage polarity and current direction go through 60 cycles of reversal per second.</a:t>
            </a:r>
          </a:p>
          <a:p>
            <a:pPr algn="just" eaLnBrk="1" hangingPunct="1">
              <a:lnSpc>
                <a:spcPct val="90000"/>
              </a:lnSpc>
            </a:pPr>
            <a:r>
              <a:rPr lang="en-US" sz="3000">
                <a:latin typeface="Arial" panose="020B0604020202020204" pitchFamily="34" charset="0"/>
                <a:ea typeface="MS PGothic" panose="020B0600070205080204" charset="-128"/>
                <a:cs typeface="MS PGothic" panose="020B0600070205080204" charset="-128"/>
              </a:rPr>
              <a:t>All audio signals are AC also.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algn="ctr" eaLnBrk="1" hangingPunct="1"/>
            <a:r>
              <a:rPr lang="en-US" b="1">
                <a:latin typeface="Arial" panose="020B0604020202020204" pitchFamily="34" charset="0"/>
                <a:ea typeface="MS PGothic" panose="020B0600070205080204" charset="-128"/>
                <a:cs typeface="MS PGothic" panose="020B0600070205080204" charset="-128"/>
              </a:rPr>
              <a:t>Waveform of AC Voltage</a:t>
            </a:r>
          </a:p>
        </p:txBody>
      </p:sp>
      <p:pic>
        <p:nvPicPr>
          <p:cNvPr id="83971" name="Picture 3" descr="AC 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447800"/>
            <a:ext cx="6248400" cy="4343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1981201" y="228600"/>
            <a:ext cx="8226425" cy="685800"/>
          </a:xfrm>
        </p:spPr>
        <p:txBody>
          <a:bodyPr>
            <a:normAutofit/>
          </a:bodyPr>
          <a:lstStyle/>
          <a:p>
            <a:pPr algn="ctr" eaLnBrk="1" hangingPunct="1"/>
            <a:r>
              <a:rPr lang="en-US" b="1">
                <a:latin typeface="Arial" panose="020B0604020202020204" pitchFamily="34" charset="0"/>
                <a:ea typeface="MS PGothic" panose="020B0600070205080204" charset="-128"/>
                <a:cs typeface="MS PGothic" panose="020B0600070205080204" charset="-128"/>
              </a:rPr>
              <a:t>Comparison of DC &amp; AC</a:t>
            </a:r>
          </a:p>
        </p:txBody>
      </p:sp>
      <p:graphicFrame>
        <p:nvGraphicFramePr>
          <p:cNvPr id="151555" name="Group 3"/>
          <p:cNvGraphicFramePr>
            <a:graphicFrameLocks noGrp="1"/>
          </p:cNvGraphicFramePr>
          <p:nvPr/>
        </p:nvGraphicFramePr>
        <p:xfrm>
          <a:off x="2590800" y="1167130"/>
          <a:ext cx="6807200" cy="4812030"/>
        </p:xfrm>
        <a:graphic>
          <a:graphicData uri="http://schemas.openxmlformats.org/drawingml/2006/table">
            <a:tbl>
              <a:tblPr/>
              <a:tblGrid>
                <a:gridCol w="3403600">
                  <a:extLst>
                    <a:ext uri="{9D8B030D-6E8A-4147-A177-3AD203B41FA5}">
                      <a16:colId xmlns:a16="http://schemas.microsoft.com/office/drawing/2014/main" val="20000"/>
                    </a:ext>
                  </a:extLst>
                </a:gridCol>
                <a:gridCol w="3403600">
                  <a:extLst>
                    <a:ext uri="{9D8B030D-6E8A-4147-A177-3AD203B41FA5}">
                      <a16:colId xmlns:a16="http://schemas.microsoft.com/office/drawing/2014/main" val="20001"/>
                    </a:ext>
                  </a:extLst>
                </a:gridCol>
              </a:tblGrid>
              <a:tr h="570865">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3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MS PGothic" panose="020B0600070205080204" charset="-128"/>
                          <a:cs typeface="MS PGothic" panose="020B0600070205080204" charset="-128"/>
                        </a:rPr>
                        <a:t>DC Voltage</a:t>
                      </a:r>
                      <a:endParaRPr kumimoji="0" lang="en-US" sz="22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MS PGothic" panose="020B0600070205080204" charset="-128"/>
                        <a:cs typeface="MS PGothic" panose="020B060007020508020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3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MS PGothic" panose="020B0600070205080204" charset="-128"/>
                          <a:cs typeface="MS PGothic" panose="020B0600070205080204" charset="-128"/>
                        </a:rPr>
                        <a:t>AC Voltage</a:t>
                      </a:r>
                      <a:endParaRPr kumimoji="0" lang="en-US" sz="22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MS PGothic" panose="020B0600070205080204" charset="-128"/>
                        <a:cs typeface="MS PGothic" panose="020B060007020508020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1985">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Fixed polarity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Reverses polarity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97280">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Can be steady or vary in magnitude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Varies in magnitude between reversals in polarity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97280">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Steady value cannot be stepped up or down by a transformer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Used for electrical power distribution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2000">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Electrode voltage for tube and transistor amps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I/O signal for tube and transistor amps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2620">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Easier to measure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charset="0"/>
                        <a:buNone/>
                      </a:pPr>
                      <a:r>
                        <a:rPr kumimoji="0" lang="en-US" sz="2200" b="0" i="0" u="none" strike="noStrike" cap="none" normalizeH="0" baseline="0">
                          <a:ln>
                            <a:noFill/>
                          </a:ln>
                          <a:solidFill>
                            <a:schemeClr val="tx1"/>
                          </a:solidFill>
                          <a:effectLst/>
                          <a:latin typeface="Arial" panose="020B0604020202020204" pitchFamily="34" charset="0"/>
                          <a:ea typeface="MS PGothic" panose="020B0600070205080204" charset="-128"/>
                          <a:cs typeface="MS PGothic" panose="020B0600070205080204" charset="-128"/>
                        </a:rPr>
                        <a:t>Easier to amplify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8090" name="Text Box 26"/>
          <p:cNvSpPr txBox="1">
            <a:spLocks noChangeArrowheads="1"/>
          </p:cNvSpPr>
          <p:nvPr/>
        </p:nvSpPr>
        <p:spPr bwMode="auto">
          <a:xfrm>
            <a:off x="2819401" y="6019801"/>
            <a:ext cx="6142355" cy="398780"/>
          </a:xfrm>
          <a:prstGeom prst="rect">
            <a:avLst/>
          </a:prstGeom>
          <a:noFill/>
          <a:ln>
            <a:noFill/>
          </a:ln>
        </p:spPr>
        <p:txBody>
          <a:bodyPr wrap="none">
            <a:spAutoFit/>
          </a:bodyPr>
          <a:lstStyle>
            <a:lvl1pPr>
              <a:defRPr sz="1600">
                <a:solidFill>
                  <a:schemeClr val="tx1"/>
                </a:solidFill>
                <a:latin typeface="Times" charset="0"/>
                <a:ea typeface="MS PGothic" panose="020B0600070205080204" charset="-128"/>
                <a:cs typeface="MS PGothic" panose="020B0600070205080204" charset="-128"/>
              </a:defRPr>
            </a:lvl1pPr>
            <a:lvl2pPr marL="37931725" indent="-37474525">
              <a:defRPr sz="1600">
                <a:solidFill>
                  <a:schemeClr val="tx1"/>
                </a:solidFill>
                <a:latin typeface="Times" charset="0"/>
                <a:ea typeface="MS PGothic" panose="020B0600070205080204" charset="-128"/>
              </a:defRPr>
            </a:lvl2pPr>
            <a:lvl3pPr>
              <a:defRPr sz="1600">
                <a:solidFill>
                  <a:schemeClr val="tx1"/>
                </a:solidFill>
                <a:latin typeface="Times" charset="0"/>
                <a:ea typeface="MS PGothic" panose="020B0600070205080204" charset="-128"/>
              </a:defRPr>
            </a:lvl3pPr>
            <a:lvl4pPr>
              <a:defRPr sz="1600">
                <a:solidFill>
                  <a:schemeClr val="tx1"/>
                </a:solidFill>
                <a:latin typeface="Times" charset="0"/>
                <a:ea typeface="MS PGothic" panose="020B0600070205080204" charset="-128"/>
              </a:defRPr>
            </a:lvl4pPr>
            <a:lvl5pPr>
              <a:defRPr sz="1600">
                <a:solidFill>
                  <a:schemeClr val="tx1"/>
                </a:solidFill>
                <a:latin typeface="Times" charset="0"/>
                <a:ea typeface="MS PGothic" panose="020B0600070205080204" charset="-128"/>
              </a:defRPr>
            </a:lvl5pPr>
            <a:lvl6pPr marL="457200" eaLnBrk="0" fontAlgn="base" hangingPunct="0">
              <a:spcBef>
                <a:spcPct val="0"/>
              </a:spcBef>
              <a:spcAft>
                <a:spcPct val="0"/>
              </a:spcAft>
              <a:defRPr sz="1600">
                <a:solidFill>
                  <a:schemeClr val="tx1"/>
                </a:solidFill>
                <a:latin typeface="Times" charset="0"/>
                <a:ea typeface="MS PGothic" panose="020B0600070205080204" charset="-128"/>
              </a:defRPr>
            </a:lvl6pPr>
            <a:lvl7pPr marL="914400" eaLnBrk="0" fontAlgn="base" hangingPunct="0">
              <a:spcBef>
                <a:spcPct val="0"/>
              </a:spcBef>
              <a:spcAft>
                <a:spcPct val="0"/>
              </a:spcAft>
              <a:defRPr sz="1600">
                <a:solidFill>
                  <a:schemeClr val="tx1"/>
                </a:solidFill>
                <a:latin typeface="Times" charset="0"/>
                <a:ea typeface="MS PGothic" panose="020B0600070205080204" charset="-128"/>
              </a:defRPr>
            </a:lvl7pPr>
            <a:lvl8pPr marL="1371600" eaLnBrk="0" fontAlgn="base" hangingPunct="0">
              <a:spcBef>
                <a:spcPct val="0"/>
              </a:spcBef>
              <a:spcAft>
                <a:spcPct val="0"/>
              </a:spcAft>
              <a:defRPr sz="1600">
                <a:solidFill>
                  <a:schemeClr val="tx1"/>
                </a:solidFill>
                <a:latin typeface="Times" charset="0"/>
                <a:ea typeface="MS PGothic" panose="020B0600070205080204" charset="-128"/>
              </a:defRPr>
            </a:lvl8pPr>
            <a:lvl9pPr marL="1828800" eaLnBrk="0" fontAlgn="base" hangingPunct="0">
              <a:spcBef>
                <a:spcPct val="0"/>
              </a:spcBef>
              <a:spcAft>
                <a:spcPct val="0"/>
              </a:spcAft>
              <a:defRPr sz="1600">
                <a:solidFill>
                  <a:schemeClr val="tx1"/>
                </a:solidFill>
                <a:latin typeface="Times" charset="0"/>
                <a:ea typeface="MS PGothic" panose="020B0600070205080204" charset="-128"/>
              </a:defRPr>
            </a:lvl9pPr>
          </a:lstStyle>
          <a:p>
            <a:r>
              <a:rPr lang="en-US" sz="2000">
                <a:latin typeface="Arial" panose="020B0604020202020204" pitchFamily="34" charset="0"/>
              </a:rPr>
              <a:t>Heating Effects the same for both AC and DC current</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910" y="227965"/>
            <a:ext cx="11245850" cy="662940"/>
          </a:xfrm>
        </p:spPr>
        <p:txBody>
          <a:bodyPr>
            <a:normAutofit/>
          </a:bodyPr>
          <a:lstStyle/>
          <a:p>
            <a:pPr algn="ctr"/>
            <a:r>
              <a:rPr lang="en-US" b="1" dirty="0"/>
              <a:t>DC power supply: Batteries</a:t>
            </a:r>
          </a:p>
        </p:txBody>
      </p:sp>
      <p:sp>
        <p:nvSpPr>
          <p:cNvPr id="4" name="Rectangle 4"/>
          <p:cNvSpPr>
            <a:spLocks noGrp="1" noChangeArrowheads="1"/>
          </p:cNvSpPr>
          <p:nvPr>
            <p:ph idx="1"/>
          </p:nvPr>
        </p:nvSpPr>
        <p:spPr>
          <a:xfrm>
            <a:off x="422943" y="1003841"/>
            <a:ext cx="8241632" cy="5456420"/>
          </a:xfrm>
        </p:spPr>
        <p:txBody>
          <a:bodyPr>
            <a:normAutofit lnSpcReduction="10000"/>
          </a:bodyPr>
          <a:lstStyle/>
          <a:p>
            <a:pPr algn="just" eaLnBrk="1" hangingPunct="1">
              <a:lnSpc>
                <a:spcPct val="100000"/>
              </a:lnSpc>
            </a:pPr>
            <a:r>
              <a:rPr lang="en-US" altLang="en-US" sz="2500" dirty="0">
                <a:solidFill>
                  <a:schemeClr val="tx2">
                    <a:lumMod val="95000"/>
                    <a:lumOff val="5000"/>
                  </a:schemeClr>
                </a:solidFill>
                <a:effectLst/>
              </a:rPr>
              <a:t>A power supply (battery) is characterized by a voltage (V) and an output impedance (R), sometimes called source impedance.</a:t>
            </a:r>
          </a:p>
          <a:p>
            <a:pPr algn="just" eaLnBrk="1" hangingPunct="1">
              <a:lnSpc>
                <a:spcPct val="100000"/>
              </a:lnSpc>
            </a:pPr>
            <a:r>
              <a:rPr lang="en-US" altLang="en-US" sz="2500" dirty="0">
                <a:solidFill>
                  <a:schemeClr val="tx2">
                    <a:lumMod val="95000"/>
                    <a:lumOff val="5000"/>
                  </a:schemeClr>
                </a:solidFill>
                <a:effectLst/>
              </a:rPr>
              <a:t>Hooking up to load (</a:t>
            </a:r>
            <a:r>
              <a:rPr lang="en-US" altLang="en-US" sz="2500" dirty="0" err="1">
                <a:solidFill>
                  <a:schemeClr val="tx2">
                    <a:lumMod val="95000"/>
                    <a:lumOff val="5000"/>
                  </a:schemeClr>
                </a:solidFill>
                <a:effectLst/>
              </a:rPr>
              <a:t>R</a:t>
            </a:r>
            <a:r>
              <a:rPr lang="en-US" altLang="en-US" sz="2500" baseline="-25000" dirty="0" err="1">
                <a:solidFill>
                  <a:schemeClr val="tx2">
                    <a:lumMod val="95000"/>
                    <a:lumOff val="5000"/>
                  </a:schemeClr>
                </a:solidFill>
                <a:effectLst/>
              </a:rPr>
              <a:t>load</a:t>
            </a:r>
            <a:r>
              <a:rPr lang="en-US" altLang="en-US" sz="2500" dirty="0">
                <a:solidFill>
                  <a:schemeClr val="tx2">
                    <a:lumMod val="95000"/>
                    <a:lumOff val="5000"/>
                  </a:schemeClr>
                </a:solidFill>
                <a:effectLst/>
              </a:rPr>
              <a:t>), we form a voltage divider, so that the voltage applied by the battery terminal is actually </a:t>
            </a:r>
            <a:r>
              <a:rPr lang="en-US" altLang="en-US" sz="2500" dirty="0" err="1">
                <a:solidFill>
                  <a:schemeClr val="tx2">
                    <a:lumMod val="95000"/>
                    <a:lumOff val="5000"/>
                  </a:schemeClr>
                </a:solidFill>
                <a:effectLst/>
              </a:rPr>
              <a:t>V</a:t>
            </a:r>
            <a:r>
              <a:rPr lang="en-US" altLang="en-US" sz="2500" baseline="-25000" dirty="0" err="1">
                <a:solidFill>
                  <a:schemeClr val="tx2">
                    <a:lumMod val="95000"/>
                    <a:lumOff val="5000"/>
                  </a:schemeClr>
                </a:solidFill>
                <a:effectLst/>
              </a:rPr>
              <a:t>out</a:t>
            </a:r>
            <a:r>
              <a:rPr lang="en-US" altLang="en-US" sz="2500" dirty="0">
                <a:solidFill>
                  <a:schemeClr val="tx2">
                    <a:lumMod val="95000"/>
                    <a:lumOff val="5000"/>
                  </a:schemeClr>
                </a:solidFill>
                <a:effectLst/>
              </a:rPr>
              <a:t> = V(</a:t>
            </a:r>
            <a:r>
              <a:rPr lang="en-US" altLang="en-US" sz="2500" dirty="0" err="1">
                <a:solidFill>
                  <a:schemeClr val="tx2">
                    <a:lumMod val="95000"/>
                    <a:lumOff val="5000"/>
                  </a:schemeClr>
                </a:solidFill>
                <a:effectLst/>
              </a:rPr>
              <a:t>R</a:t>
            </a:r>
            <a:r>
              <a:rPr lang="en-US" altLang="en-US" sz="2500" baseline="-25000" dirty="0" err="1">
                <a:solidFill>
                  <a:schemeClr val="tx2">
                    <a:lumMod val="95000"/>
                    <a:lumOff val="5000"/>
                  </a:schemeClr>
                </a:solidFill>
                <a:effectLst/>
              </a:rPr>
              <a:t>load</a:t>
            </a:r>
            <a:r>
              <a:rPr lang="en-US" altLang="en-US" sz="2500" dirty="0">
                <a:solidFill>
                  <a:schemeClr val="tx2">
                    <a:lumMod val="95000"/>
                    <a:lumOff val="5000"/>
                  </a:schemeClr>
                </a:solidFill>
                <a:effectLst/>
              </a:rPr>
              <a:t>/(</a:t>
            </a:r>
            <a:r>
              <a:rPr lang="en-US" altLang="en-US" sz="2500" dirty="0" err="1">
                <a:solidFill>
                  <a:schemeClr val="tx2">
                    <a:lumMod val="95000"/>
                    <a:lumOff val="5000"/>
                  </a:schemeClr>
                </a:solidFill>
                <a:effectLst/>
              </a:rPr>
              <a:t>R+R</a:t>
            </a:r>
            <a:r>
              <a:rPr lang="en-US" altLang="en-US" sz="2500" baseline="-25000" dirty="0" err="1">
                <a:solidFill>
                  <a:schemeClr val="tx2">
                    <a:lumMod val="95000"/>
                    <a:lumOff val="5000"/>
                  </a:schemeClr>
                </a:solidFill>
                <a:effectLst/>
              </a:rPr>
              <a:t>load</a:t>
            </a:r>
            <a:r>
              <a:rPr lang="en-US" altLang="en-US" sz="2500" dirty="0">
                <a:solidFill>
                  <a:schemeClr val="tx2">
                    <a:lumMod val="95000"/>
                    <a:lumOff val="5000"/>
                  </a:schemeClr>
                </a:solidFill>
                <a:effectLst/>
              </a:rPr>
              <a:t>))</a:t>
            </a:r>
          </a:p>
          <a:p>
            <a:pPr lvl="1" algn="just" eaLnBrk="1" hangingPunct="1">
              <a:lnSpc>
                <a:spcPct val="100000"/>
              </a:lnSpc>
            </a:pPr>
            <a:r>
              <a:rPr lang="en-US" altLang="en-US" sz="2500" dirty="0">
                <a:solidFill>
                  <a:schemeClr val="tx2">
                    <a:lumMod val="95000"/>
                    <a:lumOff val="5000"/>
                  </a:schemeClr>
                </a:solidFill>
                <a:effectLst/>
              </a:rPr>
              <a:t>thus the smaller R is, the “stiffer” the power supply</a:t>
            </a:r>
          </a:p>
          <a:p>
            <a:pPr lvl="1" algn="just" eaLnBrk="1" hangingPunct="1">
              <a:lnSpc>
                <a:spcPct val="100000"/>
              </a:lnSpc>
            </a:pPr>
            <a:r>
              <a:rPr lang="en-US" altLang="en-US" sz="2500" dirty="0">
                <a:solidFill>
                  <a:schemeClr val="tx2">
                    <a:lumMod val="95000"/>
                    <a:lumOff val="5000"/>
                  </a:schemeClr>
                </a:solidFill>
                <a:effectLst/>
              </a:rPr>
              <a:t>when </a:t>
            </a:r>
            <a:r>
              <a:rPr lang="en-US" altLang="en-US" sz="2500" dirty="0" err="1">
                <a:solidFill>
                  <a:schemeClr val="tx2">
                    <a:lumMod val="95000"/>
                    <a:lumOff val="5000"/>
                  </a:schemeClr>
                </a:solidFill>
                <a:effectLst/>
              </a:rPr>
              <a:t>V</a:t>
            </a:r>
            <a:r>
              <a:rPr lang="en-US" altLang="en-US" sz="2500" baseline="-25000" dirty="0" err="1">
                <a:solidFill>
                  <a:schemeClr val="tx2">
                    <a:lumMod val="95000"/>
                    <a:lumOff val="5000"/>
                  </a:schemeClr>
                </a:solidFill>
                <a:effectLst/>
              </a:rPr>
              <a:t>out</a:t>
            </a:r>
            <a:r>
              <a:rPr lang="en-US" altLang="en-US" sz="2500" dirty="0">
                <a:solidFill>
                  <a:schemeClr val="tx2">
                    <a:lumMod val="95000"/>
                    <a:lumOff val="5000"/>
                  </a:schemeClr>
                </a:solidFill>
                <a:effectLst/>
              </a:rPr>
              <a:t> sags with higher load current, we call this “droop”</a:t>
            </a:r>
          </a:p>
          <a:p>
            <a:pPr algn="just" eaLnBrk="1" hangingPunct="1">
              <a:lnSpc>
                <a:spcPct val="100000"/>
              </a:lnSpc>
            </a:pPr>
            <a:r>
              <a:rPr lang="en-US" altLang="en-US" sz="2500" dirty="0">
                <a:solidFill>
                  <a:schemeClr val="tx2">
                    <a:lumMod val="95000"/>
                    <a:lumOff val="5000"/>
                  </a:schemeClr>
                </a:solidFill>
                <a:effectLst/>
              </a:rPr>
              <a:t>Example: If 10.0 V power supply droops by 1% (0.1 V) when loaded to 1 Amp (10 </a:t>
            </a:r>
            <a:r>
              <a:rPr lang="en-US" altLang="en-US" sz="2500" dirty="0">
                <a:solidFill>
                  <a:schemeClr val="tx2">
                    <a:lumMod val="95000"/>
                    <a:lumOff val="5000"/>
                  </a:schemeClr>
                </a:solidFill>
                <a:effectLst/>
                <a:sym typeface="Symbol" panose="05050102010706020507" pitchFamily="18" charset="2"/>
              </a:rPr>
              <a:t> load):</a:t>
            </a:r>
            <a:endParaRPr lang="en-US" altLang="en-US" sz="2500" dirty="0">
              <a:solidFill>
                <a:schemeClr val="tx2">
                  <a:lumMod val="95000"/>
                  <a:lumOff val="5000"/>
                </a:schemeClr>
              </a:solidFill>
              <a:effectLst/>
            </a:endParaRPr>
          </a:p>
          <a:p>
            <a:pPr lvl="1" algn="just" eaLnBrk="1" hangingPunct="1">
              <a:lnSpc>
                <a:spcPct val="100000"/>
              </a:lnSpc>
            </a:pPr>
            <a:r>
              <a:rPr lang="en-US" altLang="en-US" sz="2500" dirty="0">
                <a:solidFill>
                  <a:schemeClr val="tx2">
                    <a:lumMod val="95000"/>
                    <a:lumOff val="5000"/>
                  </a:schemeClr>
                </a:solidFill>
                <a:effectLst/>
              </a:rPr>
              <a:t>internal resistance is 0.1 </a:t>
            </a:r>
            <a:r>
              <a:rPr lang="en-US" altLang="en-US" sz="2500" dirty="0">
                <a:solidFill>
                  <a:schemeClr val="tx2">
                    <a:lumMod val="95000"/>
                    <a:lumOff val="5000"/>
                  </a:schemeClr>
                </a:solidFill>
                <a:effectLst/>
                <a:sym typeface="Symbol" panose="05050102010706020507" pitchFamily="18" charset="2"/>
              </a:rPr>
              <a:t></a:t>
            </a:r>
          </a:p>
          <a:p>
            <a:pPr lvl="1" algn="just" eaLnBrk="1" hangingPunct="1">
              <a:lnSpc>
                <a:spcPct val="100000"/>
              </a:lnSpc>
            </a:pPr>
            <a:r>
              <a:rPr lang="en-US" altLang="en-US" sz="2500" dirty="0">
                <a:solidFill>
                  <a:schemeClr val="tx2">
                    <a:lumMod val="95000"/>
                    <a:lumOff val="5000"/>
                  </a:schemeClr>
                </a:solidFill>
                <a:effectLst/>
                <a:sym typeface="Symbol" panose="05050102010706020507" pitchFamily="18" charset="2"/>
              </a:rPr>
              <a:t>called output impedance or source impedance</a:t>
            </a:r>
          </a:p>
          <a:p>
            <a:pPr lvl="1" algn="just" eaLnBrk="1" hangingPunct="1">
              <a:lnSpc>
                <a:spcPct val="100000"/>
              </a:lnSpc>
            </a:pPr>
            <a:r>
              <a:rPr lang="en-US" altLang="en-US" sz="2500" dirty="0">
                <a:solidFill>
                  <a:schemeClr val="tx2">
                    <a:lumMod val="95000"/>
                    <a:lumOff val="5000"/>
                  </a:schemeClr>
                </a:solidFill>
                <a:effectLst/>
                <a:sym typeface="Symbol" panose="05050102010706020507" pitchFamily="18" charset="2"/>
              </a:rPr>
              <a:t>may vary with load, though (not a real resistor)</a:t>
            </a:r>
          </a:p>
        </p:txBody>
      </p:sp>
      <p:sp>
        <p:nvSpPr>
          <p:cNvPr id="6" name="Text Box 14"/>
          <p:cNvSpPr txBox="1">
            <a:spLocks noChangeArrowheads="1"/>
          </p:cNvSpPr>
          <p:nvPr/>
        </p:nvSpPr>
        <p:spPr bwMode="auto">
          <a:xfrm>
            <a:off x="8984458" y="4127063"/>
            <a:ext cx="2826419" cy="1323439"/>
          </a:xfrm>
          <a:prstGeom prst="rect">
            <a:avLst/>
          </a:prstGeom>
          <a:noFill/>
          <a:ln w="9525">
            <a:noFill/>
            <a:miter lim="800000"/>
          </a:ln>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just"/>
            <a:r>
              <a:rPr lang="en-US" altLang="en-US" sz="2000" dirty="0">
                <a:solidFill>
                  <a:schemeClr val="tx2">
                    <a:lumMod val="95000"/>
                    <a:lumOff val="5000"/>
                  </a:schemeClr>
                </a:solidFill>
              </a:rPr>
              <a:t>D-cell example: 6A</a:t>
            </a:r>
          </a:p>
          <a:p>
            <a:pPr algn="just"/>
            <a:r>
              <a:rPr lang="en-US" altLang="en-US" sz="2000" dirty="0">
                <a:solidFill>
                  <a:schemeClr val="tx2">
                    <a:lumMod val="95000"/>
                    <a:lumOff val="5000"/>
                  </a:schemeClr>
                </a:solidFill>
              </a:rPr>
              <a:t>out of 1.5 V battery</a:t>
            </a:r>
          </a:p>
          <a:p>
            <a:pPr algn="just"/>
            <a:r>
              <a:rPr lang="en-US" altLang="en-US" sz="2000" dirty="0">
                <a:solidFill>
                  <a:schemeClr val="tx2">
                    <a:lumMod val="95000"/>
                    <a:lumOff val="5000"/>
                  </a:schemeClr>
                </a:solidFill>
              </a:rPr>
              <a:t>indicates 0.25 </a:t>
            </a:r>
            <a:r>
              <a:rPr lang="en-US" altLang="en-US" sz="2000" dirty="0">
                <a:solidFill>
                  <a:schemeClr val="tx2">
                    <a:lumMod val="95000"/>
                    <a:lumOff val="5000"/>
                  </a:schemeClr>
                </a:solidFill>
                <a:sym typeface="Symbol" panose="05050102010706020507" pitchFamily="18" charset="2"/>
              </a:rPr>
              <a:t> output</a:t>
            </a:r>
          </a:p>
          <a:p>
            <a:pPr algn="just"/>
            <a:r>
              <a:rPr lang="en-US" altLang="en-US" sz="2000" dirty="0">
                <a:solidFill>
                  <a:schemeClr val="tx2">
                    <a:lumMod val="95000"/>
                    <a:lumOff val="5000"/>
                  </a:schemeClr>
                </a:solidFill>
                <a:sym typeface="Symbol" panose="05050102010706020507" pitchFamily="18" charset="2"/>
              </a:rPr>
              <a:t>impedance</a:t>
            </a:r>
            <a:endParaRPr lang="en-US" altLang="en-US" sz="2000" dirty="0">
              <a:solidFill>
                <a:schemeClr val="tx2">
                  <a:lumMod val="95000"/>
                  <a:lumOff val="5000"/>
                </a:schemeClr>
              </a:solidFill>
              <a:effectLst>
                <a:outerShdw blurRad="38100" dist="38100" dir="2700000" algn="tl">
                  <a:srgbClr val="C0C0C0"/>
                </a:outerShdw>
              </a:effectLst>
              <a:sym typeface="Symbol" panose="05050102010706020507" pitchFamily="18" charset="2"/>
            </a:endParaRPr>
          </a:p>
        </p:txBody>
      </p:sp>
      <p:pic>
        <p:nvPicPr>
          <p:cNvPr id="7" name="Picture 6"/>
          <p:cNvPicPr>
            <a:picLocks noChangeAspect="1"/>
          </p:cNvPicPr>
          <p:nvPr/>
        </p:nvPicPr>
        <p:blipFill>
          <a:blip r:embed="rId2"/>
          <a:stretch>
            <a:fillRect/>
          </a:stretch>
        </p:blipFill>
        <p:spPr>
          <a:xfrm>
            <a:off x="8984665" y="1332594"/>
            <a:ext cx="2584277" cy="23438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05" y="187325"/>
            <a:ext cx="10742295" cy="789305"/>
          </a:xfrm>
        </p:spPr>
        <p:txBody>
          <a:bodyPr/>
          <a:lstStyle/>
          <a:p>
            <a:pPr algn="ctr"/>
            <a:r>
              <a:rPr lang="en-US" b="1" dirty="0"/>
              <a:t>Power Supplies and Regulation</a:t>
            </a:r>
          </a:p>
        </p:txBody>
      </p:sp>
      <p:sp>
        <p:nvSpPr>
          <p:cNvPr id="5" name="Rectangle 3"/>
          <p:cNvSpPr>
            <a:spLocks noGrp="1" noChangeArrowheads="1"/>
          </p:cNvSpPr>
          <p:nvPr>
            <p:ph idx="1"/>
          </p:nvPr>
        </p:nvSpPr>
        <p:spPr>
          <a:xfrm>
            <a:off x="838200" y="1100455"/>
            <a:ext cx="10515600" cy="5636260"/>
          </a:xfrm>
        </p:spPr>
        <p:txBody>
          <a:bodyPr>
            <a:normAutofit/>
          </a:bodyPr>
          <a:lstStyle/>
          <a:p>
            <a:pPr algn="just" eaLnBrk="1" hangingPunct="1"/>
            <a:r>
              <a:rPr lang="en-US" altLang="en-US" sz="2500" dirty="0">
                <a:effectLst/>
              </a:rPr>
              <a:t>A power supply typically starts with a transformer, to knock down the 240 V peak-to-peak (120 V AC) to something reasonable/manageable</a:t>
            </a:r>
            <a:endParaRPr lang="en-US" altLang="en-US" sz="2500" dirty="0"/>
          </a:p>
          <a:p>
            <a:pPr algn="just" eaLnBrk="1" hangingPunct="1"/>
            <a:r>
              <a:rPr lang="en-US" altLang="en-US" sz="2500" dirty="0">
                <a:solidFill>
                  <a:schemeClr val="tx2">
                    <a:lumMod val="95000"/>
                    <a:lumOff val="5000"/>
                  </a:schemeClr>
                </a:solidFill>
                <a:effectLst/>
              </a:rPr>
              <a:t>We will be using a center-tap transformer</a:t>
            </a:r>
            <a:endParaRPr lang="en-US" altLang="en-US" sz="2500" dirty="0">
              <a:effectLst>
                <a:outerShdw blurRad="38100" dist="38100" dir="2700000" algn="tl">
                  <a:srgbClr val="C0C0C0"/>
                </a:outerShdw>
              </a:effectLst>
            </a:endParaRPr>
          </a:p>
          <a:p>
            <a:pPr algn="just" eaLnBrk="1" hangingPunct="1"/>
            <a:endParaRPr lang="en-US" altLang="en-US" sz="2500" dirty="0">
              <a:effectLst>
                <a:outerShdw blurRad="38100" dist="38100" dir="2700000" algn="tl">
                  <a:srgbClr val="C0C0C0"/>
                </a:outerShdw>
              </a:effectLst>
            </a:endParaRPr>
          </a:p>
          <a:p>
            <a:pPr algn="just" eaLnBrk="1" hangingPunct="1"/>
            <a:endParaRPr lang="en-US" altLang="en-US" sz="2500" dirty="0">
              <a:effectLst>
                <a:outerShdw blurRad="38100" dist="38100" dir="2700000" algn="tl">
                  <a:srgbClr val="C0C0C0"/>
                </a:outerShdw>
              </a:effectLst>
            </a:endParaRPr>
          </a:p>
          <a:p>
            <a:pPr algn="just" eaLnBrk="1" hangingPunct="1"/>
            <a:endParaRPr lang="en-US" altLang="en-US" sz="2500" dirty="0">
              <a:effectLst>
                <a:outerShdw blurRad="38100" dist="38100" dir="2700000" algn="tl">
                  <a:srgbClr val="C0C0C0"/>
                </a:outerShdw>
              </a:effectLst>
            </a:endParaRPr>
          </a:p>
          <a:p>
            <a:pPr algn="just" eaLnBrk="1" hangingPunct="1"/>
            <a:endParaRPr lang="en-US" altLang="en-US" sz="2500" dirty="0">
              <a:solidFill>
                <a:schemeClr val="tx2">
                  <a:lumMod val="95000"/>
                  <a:lumOff val="5000"/>
                </a:schemeClr>
              </a:solidFill>
              <a:effectLst>
                <a:outerShdw blurRad="38100" dist="38100" dir="2700000" algn="tl">
                  <a:srgbClr val="C0C0C0"/>
                </a:outerShdw>
              </a:effectLst>
            </a:endParaRPr>
          </a:p>
          <a:p>
            <a:pPr marL="0" indent="0" algn="just" eaLnBrk="1" hangingPunct="1">
              <a:buNone/>
            </a:pPr>
            <a:endParaRPr lang="en-US" altLang="en-US" sz="2500" dirty="0">
              <a:solidFill>
                <a:schemeClr val="tx2">
                  <a:lumMod val="95000"/>
                  <a:lumOff val="5000"/>
                </a:schemeClr>
              </a:solidFill>
              <a:effectLst>
                <a:outerShdw blurRad="38100" dist="38100" dir="2700000" algn="tl">
                  <a:srgbClr val="C0C0C0"/>
                </a:outerShdw>
              </a:effectLst>
            </a:endParaRPr>
          </a:p>
          <a:p>
            <a:pPr lvl="1" algn="just" eaLnBrk="1" hangingPunct="1"/>
            <a:r>
              <a:rPr lang="en-US" altLang="en-US" sz="2500" dirty="0">
                <a:solidFill>
                  <a:schemeClr val="tx2">
                    <a:lumMod val="95000"/>
                    <a:lumOff val="5000"/>
                  </a:schemeClr>
                </a:solidFill>
              </a:rPr>
              <a:t>(A’ </a:t>
            </a:r>
            <a:r>
              <a:rPr lang="en-US" altLang="en-US" sz="2500" dirty="0">
                <a:solidFill>
                  <a:schemeClr val="tx2">
                    <a:lumMod val="95000"/>
                    <a:lumOff val="5000"/>
                  </a:schemeClr>
                </a:solidFill>
                <a:sym typeface="Symbol" panose="05050102010706020507" pitchFamily="18" charset="2"/>
              </a:rPr>
              <a:t> B’) = (winding ratio)(A  B), </a:t>
            </a:r>
            <a:r>
              <a:rPr lang="en-US" altLang="en-US" sz="2500" dirty="0">
                <a:solidFill>
                  <a:schemeClr val="tx2">
                    <a:lumMod val="95000"/>
                    <a:lumOff val="5000"/>
                  </a:schemeClr>
                </a:solidFill>
              </a:rPr>
              <a:t>when A &gt; B, so is A’ &gt; B’</a:t>
            </a:r>
          </a:p>
          <a:p>
            <a:pPr lvl="1" algn="just" eaLnBrk="1" hangingPunct="1"/>
            <a:r>
              <a:rPr lang="en-US" altLang="en-US" sz="2500" dirty="0">
                <a:solidFill>
                  <a:schemeClr val="tx2">
                    <a:lumMod val="95000"/>
                    <a:lumOff val="5000"/>
                  </a:schemeClr>
                </a:solidFill>
              </a:rPr>
              <a:t>geometry of center tap (CT) guarantees it is midway between A’ and B’ (frequently tie this to ground so that A’ = </a:t>
            </a:r>
            <a:r>
              <a:rPr lang="en-US" altLang="en-US" sz="2500" dirty="0">
                <a:solidFill>
                  <a:schemeClr val="tx2">
                    <a:lumMod val="95000"/>
                    <a:lumOff val="5000"/>
                  </a:schemeClr>
                </a:solidFill>
                <a:sym typeface="Symbol" panose="05050102010706020507" pitchFamily="18" charset="2"/>
              </a:rPr>
              <a:t>B’</a:t>
            </a:r>
            <a:r>
              <a:rPr lang="en-US" altLang="en-US" sz="2500" dirty="0">
                <a:solidFill>
                  <a:schemeClr val="tx2">
                    <a:lumMod val="95000"/>
                    <a:lumOff val="5000"/>
                  </a:schemeClr>
                </a:solidFill>
              </a:rPr>
              <a:t>)</a:t>
            </a:r>
          </a:p>
          <a:p>
            <a:pPr lvl="1" algn="just" eaLnBrk="1" hangingPunct="1"/>
            <a:r>
              <a:rPr lang="en-US" altLang="en-US" sz="2500" dirty="0">
                <a:solidFill>
                  <a:schemeClr val="tx2">
                    <a:lumMod val="95000"/>
                    <a:lumOff val="5000"/>
                  </a:schemeClr>
                </a:solidFill>
              </a:rPr>
              <a:t>note that secondary side floats: no ground reference built-in</a:t>
            </a:r>
          </a:p>
        </p:txBody>
      </p:sp>
      <p:pic>
        <p:nvPicPr>
          <p:cNvPr id="6" name="Picture 5"/>
          <p:cNvPicPr>
            <a:picLocks noChangeAspect="1"/>
          </p:cNvPicPr>
          <p:nvPr/>
        </p:nvPicPr>
        <p:blipFill>
          <a:blip r:embed="rId2"/>
          <a:stretch>
            <a:fillRect/>
          </a:stretch>
        </p:blipFill>
        <p:spPr>
          <a:xfrm>
            <a:off x="2694508" y="2597420"/>
            <a:ext cx="5160051" cy="18437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500" y="0"/>
            <a:ext cx="10259060" cy="909320"/>
          </a:xfrm>
        </p:spPr>
        <p:txBody>
          <a:bodyPr/>
          <a:lstStyle/>
          <a:p>
            <a:pPr algn="ctr"/>
            <a:r>
              <a:rPr lang="en-US" b="1" dirty="0"/>
              <a:t>Diodes</a:t>
            </a:r>
          </a:p>
        </p:txBody>
      </p:sp>
      <p:pic>
        <p:nvPicPr>
          <p:cNvPr id="4" name="Content Placeholder 3"/>
          <p:cNvPicPr>
            <a:picLocks noGrp="1" noChangeAspect="1"/>
          </p:cNvPicPr>
          <p:nvPr>
            <p:ph idx="1"/>
          </p:nvPr>
        </p:nvPicPr>
        <p:blipFill>
          <a:blip r:embed="rId2"/>
          <a:stretch>
            <a:fillRect/>
          </a:stretch>
        </p:blipFill>
        <p:spPr>
          <a:xfrm>
            <a:off x="966470" y="909320"/>
            <a:ext cx="10259695" cy="58032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320"/>
            <a:ext cx="10515600" cy="774127"/>
          </a:xfrm>
        </p:spPr>
        <p:txBody>
          <a:bodyPr/>
          <a:lstStyle/>
          <a:p>
            <a:pPr algn="ctr"/>
            <a:r>
              <a:rPr lang="en-US" b="1" dirty="0"/>
              <a:t>Diode Makeup</a:t>
            </a:r>
          </a:p>
        </p:txBody>
      </p:sp>
      <p:sp>
        <p:nvSpPr>
          <p:cNvPr id="3" name="Content Placeholder 2"/>
          <p:cNvSpPr>
            <a:spLocks noGrp="1"/>
          </p:cNvSpPr>
          <p:nvPr>
            <p:ph idx="1"/>
          </p:nvPr>
        </p:nvSpPr>
        <p:spPr>
          <a:xfrm>
            <a:off x="838200" y="1211580"/>
            <a:ext cx="10515600" cy="4965065"/>
          </a:xfrm>
        </p:spPr>
        <p:txBody>
          <a:bodyPr>
            <a:normAutofit/>
          </a:bodyPr>
          <a:lstStyle/>
          <a:p>
            <a:pPr algn="just"/>
            <a:r>
              <a:rPr lang="en-US" altLang="en-US" sz="2800" dirty="0">
                <a:solidFill>
                  <a:schemeClr val="tx2">
                    <a:lumMod val="95000"/>
                    <a:lumOff val="5000"/>
                  </a:schemeClr>
                </a:solidFill>
                <a:effectLst/>
              </a:rPr>
              <a:t>Diodes are made of semiconductors (usually silicon)</a:t>
            </a:r>
          </a:p>
          <a:p>
            <a:pPr algn="just"/>
            <a:r>
              <a:rPr lang="en-US" altLang="en-US" sz="2800" dirty="0">
                <a:solidFill>
                  <a:schemeClr val="tx2">
                    <a:lumMod val="95000"/>
                    <a:lumOff val="5000"/>
                  </a:schemeClr>
                </a:solidFill>
                <a:effectLst/>
              </a:rPr>
              <a:t>Essentially a stack of p-doped and n-doped silicon to form a p-n junction</a:t>
            </a:r>
          </a:p>
          <a:p>
            <a:pPr marL="0" indent="0" algn="just">
              <a:buNone/>
            </a:pPr>
            <a:r>
              <a:rPr lang="en-US" altLang="en-US" sz="2800" dirty="0">
                <a:solidFill>
                  <a:schemeClr val="tx2">
                    <a:lumMod val="95000"/>
                    <a:lumOff val="5000"/>
                  </a:schemeClr>
                </a:solidFill>
                <a:effectLst/>
              </a:rPr>
              <a:t> </a:t>
            </a:r>
            <a:r>
              <a:rPr lang="en-US" altLang="en-US" sz="2800" b="1" dirty="0">
                <a:solidFill>
                  <a:schemeClr val="tx2">
                    <a:lumMod val="95000"/>
                    <a:lumOff val="5000"/>
                  </a:schemeClr>
                </a:solidFill>
                <a:effectLst/>
              </a:rPr>
              <a:t>  NB</a:t>
            </a:r>
            <a:r>
              <a:rPr lang="en-US" altLang="en-US" sz="2800" dirty="0">
                <a:solidFill>
                  <a:schemeClr val="tx2">
                    <a:lumMod val="95000"/>
                    <a:lumOff val="5000"/>
                  </a:schemeClr>
                </a:solidFill>
                <a:effectLst/>
              </a:rPr>
              <a:t>: doping means deliberate impurities that contribute extra</a:t>
            </a:r>
          </a:p>
          <a:p>
            <a:pPr marL="0" indent="0" algn="just">
              <a:buNone/>
            </a:pPr>
            <a:r>
              <a:rPr lang="en-US" altLang="en-US" sz="2800" dirty="0">
                <a:solidFill>
                  <a:schemeClr val="tx2">
                    <a:lumMod val="95000"/>
                    <a:lumOff val="5000"/>
                  </a:schemeClr>
                </a:solidFill>
                <a:effectLst/>
              </a:rPr>
              <a:t>          electrons (n-doped) or “holes” for electrons (p-doped).</a:t>
            </a:r>
            <a:endParaRPr lang="en-US" altLang="en-US" sz="2800" dirty="0"/>
          </a:p>
          <a:p>
            <a:endParaRPr lang="en-US" sz="3200" dirty="0"/>
          </a:p>
        </p:txBody>
      </p:sp>
      <p:pic>
        <p:nvPicPr>
          <p:cNvPr id="4" name="Picture 3"/>
          <p:cNvPicPr>
            <a:picLocks noChangeAspect="1"/>
          </p:cNvPicPr>
          <p:nvPr/>
        </p:nvPicPr>
        <p:blipFill>
          <a:blip r:embed="rId2"/>
          <a:stretch>
            <a:fillRect/>
          </a:stretch>
        </p:blipFill>
        <p:spPr>
          <a:xfrm>
            <a:off x="1584368" y="3934580"/>
            <a:ext cx="7188766" cy="21217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fld id="{176E5C63-21DC-4DC1-8AAE-5C43512FA5D5}" type="slidenum">
              <a:rPr lang="en-US" altLang="en-US" sz="1400">
                <a:solidFill>
                  <a:srgbClr val="1B28F6"/>
                </a:solidFill>
              </a:rPr>
              <a:t>16</a:t>
            </a:fld>
            <a:endParaRPr lang="en-US" altLang="en-US" sz="1400">
              <a:solidFill>
                <a:srgbClr val="1B28F6"/>
              </a:solidFill>
            </a:endParaRPr>
          </a:p>
        </p:txBody>
      </p:sp>
      <p:sp>
        <p:nvSpPr>
          <p:cNvPr id="78850" name="Rectangle 2"/>
          <p:cNvSpPr>
            <a:spLocks noGrp="1" noChangeArrowheads="1"/>
          </p:cNvSpPr>
          <p:nvPr>
            <p:ph type="title"/>
          </p:nvPr>
        </p:nvSpPr>
        <p:spPr>
          <a:xfrm>
            <a:off x="914400" y="76200"/>
            <a:ext cx="10363200" cy="1128395"/>
          </a:xfrm>
        </p:spPr>
        <p:txBody>
          <a:bodyPr/>
          <a:lstStyle/>
          <a:p>
            <a:pPr algn="ctr" eaLnBrk="1" hangingPunct="1">
              <a:defRPr/>
            </a:pPr>
            <a:r>
              <a:rPr lang="en-US" b="1">
                <a:solidFill>
                  <a:schemeClr val="accent1">
                    <a:lumMod val="10000"/>
                  </a:schemeClr>
                </a:solidFill>
              </a:rPr>
              <a:t>LEDs: Light-Emitting Diodes</a:t>
            </a:r>
          </a:p>
        </p:txBody>
      </p:sp>
      <p:sp>
        <p:nvSpPr>
          <p:cNvPr id="78851" name="Rectangle 3"/>
          <p:cNvSpPr>
            <a:spLocks noGrp="1" noChangeArrowheads="1"/>
          </p:cNvSpPr>
          <p:nvPr>
            <p:ph type="body" idx="1"/>
          </p:nvPr>
        </p:nvSpPr>
        <p:spPr>
          <a:xfrm>
            <a:off x="622935" y="1203960"/>
            <a:ext cx="8270240" cy="5349240"/>
          </a:xfrm>
        </p:spPr>
        <p:txBody>
          <a:bodyPr/>
          <a:lstStyle/>
          <a:p>
            <a:pPr algn="just" eaLnBrk="1" hangingPunct="1"/>
            <a:r>
              <a:rPr lang="en-US" altLang="en-US" sz="2700">
                <a:solidFill>
                  <a:schemeClr val="accent1">
                    <a:lumMod val="10000"/>
                  </a:schemeClr>
                </a:solidFill>
                <a:effectLst/>
              </a:rPr>
              <a:t>Main difference is, material is more exotic than silicon used in ordinary diodes/transistors (typically 2-volt drop instead of 0.6 V drop)</a:t>
            </a:r>
          </a:p>
          <a:p>
            <a:pPr algn="just" eaLnBrk="1" hangingPunct="1"/>
            <a:r>
              <a:rPr lang="en-US" altLang="en-US" sz="2700">
                <a:solidFill>
                  <a:schemeClr val="accent1">
                    <a:lumMod val="10000"/>
                  </a:schemeClr>
                </a:solidFill>
                <a:effectLst/>
              </a:rPr>
              <a:t>When electron flows through LED, loses energy by emitting a photon of light rather than vibrating lattice (heat)</a:t>
            </a:r>
          </a:p>
          <a:p>
            <a:pPr algn="just" eaLnBrk="1" hangingPunct="1"/>
            <a:r>
              <a:rPr lang="en-US" altLang="en-US" sz="2700">
                <a:solidFill>
                  <a:schemeClr val="accent1">
                    <a:lumMod val="10000"/>
                  </a:schemeClr>
                </a:solidFill>
                <a:effectLst/>
              </a:rPr>
              <a:t>LED efficiency is 30% (compare to incandescent bulb at 10%)</a:t>
            </a:r>
          </a:p>
          <a:p>
            <a:pPr algn="just" eaLnBrk="1" hangingPunct="1"/>
            <a:r>
              <a:rPr lang="en-US" altLang="en-US" sz="2700">
                <a:solidFill>
                  <a:schemeClr val="accent1">
                    <a:lumMod val="10000"/>
                  </a:schemeClr>
                </a:solidFill>
                <a:effectLst/>
              </a:rPr>
              <a:t>Must connect current-limiting resistor in series: </a:t>
            </a:r>
          </a:p>
        </p:txBody>
      </p:sp>
      <p:pic>
        <p:nvPicPr>
          <p:cNvPr id="33799" name="Picture 4" descr="L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90025" y="1400810"/>
            <a:ext cx="2702560" cy="202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0" name="Picture 5" descr="led-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90025" y="3831590"/>
            <a:ext cx="2656840" cy="1973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2209800" y="0"/>
            <a:ext cx="7772400" cy="990600"/>
          </a:xfrm>
        </p:spPr>
        <p:txBody>
          <a:bodyPr/>
          <a:lstStyle/>
          <a:p>
            <a:pPr eaLnBrk="1" hangingPunct="1">
              <a:defRPr/>
            </a:pPr>
            <a:r>
              <a:rPr lang="en-US" b="1" dirty="0">
                <a:solidFill>
                  <a:schemeClr val="accent1">
                    <a:lumMod val="10000"/>
                  </a:schemeClr>
                </a:solidFill>
              </a:rPr>
              <a:t>Getting DC back out of AC</a:t>
            </a:r>
          </a:p>
        </p:txBody>
      </p:sp>
      <p:sp>
        <p:nvSpPr>
          <p:cNvPr id="80899" name="Rectangle 3"/>
          <p:cNvSpPr>
            <a:spLocks noGrp="1" noChangeArrowheads="1"/>
          </p:cNvSpPr>
          <p:nvPr>
            <p:ph type="body" idx="1"/>
          </p:nvPr>
        </p:nvSpPr>
        <p:spPr>
          <a:xfrm>
            <a:off x="668655" y="838200"/>
            <a:ext cx="10487660" cy="5968365"/>
          </a:xfrm>
        </p:spPr>
        <p:txBody>
          <a:bodyPr/>
          <a:lstStyle/>
          <a:p>
            <a:pPr algn="just" eaLnBrk="1" hangingPunct="1"/>
            <a:r>
              <a:rPr lang="en-US" altLang="en-US" sz="2500" dirty="0">
                <a:solidFill>
                  <a:schemeClr val="accent1">
                    <a:lumMod val="10000"/>
                  </a:schemeClr>
                </a:solidFill>
                <a:effectLst/>
              </a:rPr>
              <a:t>AC provides a means for us to distribute electrical power, but most devices actually want DC. Electrical devices such bulbs, toasters, heaters, fans don’t care: plug straight in.</a:t>
            </a:r>
          </a:p>
          <a:p>
            <a:pPr algn="just" eaLnBrk="1" hangingPunct="1"/>
            <a:r>
              <a:rPr lang="en-US" altLang="en-US" sz="2500" dirty="0">
                <a:solidFill>
                  <a:schemeClr val="accent1">
                    <a:lumMod val="10000"/>
                  </a:schemeClr>
                </a:solidFill>
                <a:effectLst/>
              </a:rPr>
              <a:t>Sophisticated devices care because they have diodes and transistors that require a certain polarity.</a:t>
            </a:r>
          </a:p>
          <a:p>
            <a:pPr marL="914400" lvl="2" indent="0" algn="just" eaLnBrk="1" hangingPunct="1">
              <a:buNone/>
            </a:pPr>
            <a:r>
              <a:rPr lang="en-US" altLang="en-US" sz="2500" dirty="0">
                <a:solidFill>
                  <a:schemeClr val="tx2">
                    <a:lumMod val="95000"/>
                    <a:lumOff val="5000"/>
                  </a:schemeClr>
                </a:solidFill>
                <a:sym typeface="Symbol" panose="05050102010706020507" pitchFamily="18" charset="2"/>
              </a:rPr>
              <a:t> </a:t>
            </a:r>
            <a:r>
              <a:rPr lang="en-US" altLang="en-US" sz="2500" dirty="0">
                <a:solidFill>
                  <a:schemeClr val="accent1">
                    <a:lumMod val="10000"/>
                  </a:schemeClr>
                </a:solidFill>
                <a:effectLst/>
              </a:rPr>
              <a:t>rather than oscillating polarity derived from AC</a:t>
            </a:r>
          </a:p>
          <a:p>
            <a:pPr marL="914400" lvl="2" indent="0" algn="just" eaLnBrk="1" hangingPunct="1">
              <a:buNone/>
            </a:pPr>
            <a:r>
              <a:rPr lang="en-US" altLang="en-US" sz="2500" dirty="0">
                <a:solidFill>
                  <a:schemeClr val="tx2">
                    <a:lumMod val="95000"/>
                    <a:lumOff val="5000"/>
                  </a:schemeClr>
                </a:solidFill>
                <a:sym typeface="Symbol" panose="05050102010706020507" pitchFamily="18" charset="2"/>
              </a:rPr>
              <a:t> </a:t>
            </a:r>
            <a:r>
              <a:rPr lang="en-US" altLang="en-US" sz="2500" dirty="0">
                <a:solidFill>
                  <a:schemeClr val="accent1">
                    <a:lumMod val="10000"/>
                  </a:schemeClr>
                </a:solidFill>
                <a:effectLst/>
              </a:rPr>
              <a:t>this is why battery orientation matters in most electronics</a:t>
            </a:r>
          </a:p>
          <a:p>
            <a:pPr algn="just" eaLnBrk="1" hangingPunct="1"/>
            <a:r>
              <a:rPr lang="en-US" altLang="en-US" sz="2500" dirty="0">
                <a:solidFill>
                  <a:schemeClr val="accent1">
                    <a:lumMod val="10000"/>
                  </a:schemeClr>
                </a:solidFill>
                <a:effectLst/>
              </a:rPr>
              <a:t>Use diodes to “rectify” AC signal</a:t>
            </a:r>
          </a:p>
          <a:p>
            <a:pPr algn="just" eaLnBrk="1" hangingPunct="1"/>
            <a:r>
              <a:rPr lang="en-US" altLang="en-US" sz="2500" dirty="0">
                <a:solidFill>
                  <a:schemeClr val="accent1">
                    <a:lumMod val="10000"/>
                  </a:schemeClr>
                </a:solidFill>
                <a:effectLst/>
              </a:rPr>
              <a:t>Simplest (half-wave) rectifier uses one diode:</a:t>
            </a:r>
          </a:p>
        </p:txBody>
      </p:sp>
      <p:grpSp>
        <p:nvGrpSpPr>
          <p:cNvPr id="35847" name="Group 4"/>
          <p:cNvGrpSpPr/>
          <p:nvPr/>
        </p:nvGrpSpPr>
        <p:grpSpPr bwMode="auto">
          <a:xfrm>
            <a:off x="1696721" y="4852670"/>
            <a:ext cx="1482725" cy="1257300"/>
            <a:chOff x="794" y="3000"/>
            <a:chExt cx="934" cy="792"/>
          </a:xfrm>
        </p:grpSpPr>
        <p:grpSp>
          <p:nvGrpSpPr>
            <p:cNvPr id="35868" name="Group 5"/>
            <p:cNvGrpSpPr/>
            <p:nvPr/>
          </p:nvGrpSpPr>
          <p:grpSpPr bwMode="auto">
            <a:xfrm>
              <a:off x="794" y="3312"/>
              <a:ext cx="240" cy="240"/>
              <a:chOff x="768" y="3312"/>
              <a:chExt cx="240" cy="240"/>
            </a:xfrm>
          </p:grpSpPr>
          <p:sp>
            <p:nvSpPr>
              <p:cNvPr id="35886" name="Oval 6"/>
              <p:cNvSpPr>
                <a:spLocks noChangeArrowheads="1"/>
              </p:cNvSpPr>
              <p:nvPr/>
            </p:nvSpPr>
            <p:spPr bwMode="auto">
              <a:xfrm>
                <a:off x="768" y="3312"/>
                <a:ext cx="240" cy="240"/>
              </a:xfrm>
              <a:prstGeom prst="ellipse">
                <a:avLst/>
              </a:prstGeom>
              <a:solidFill>
                <a:schemeClr val="accent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87" name="Freeform 7"/>
              <p:cNvSpPr/>
              <p:nvPr/>
            </p:nvSpPr>
            <p:spPr bwMode="auto">
              <a:xfrm>
                <a:off x="794" y="3385"/>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 name="T10" fmla="*/ 0 60000 65536"/>
                  <a:gd name="T11" fmla="*/ 0 60000 65536"/>
                  <a:gd name="T12" fmla="*/ 0 60000 65536"/>
                  <a:gd name="T13" fmla="*/ 0 60000 65536"/>
                  <a:gd name="T14" fmla="*/ 0 60000 65536"/>
                  <a:gd name="T15" fmla="*/ 0 w 192"/>
                  <a:gd name="T16" fmla="*/ 0 h 96"/>
                  <a:gd name="T17" fmla="*/ 192 w 192"/>
                  <a:gd name="T18" fmla="*/ 96 h 96"/>
                </a:gdLst>
                <a:ahLst/>
                <a:cxnLst>
                  <a:cxn ang="T10">
                    <a:pos x="T0" y="T1"/>
                  </a:cxn>
                  <a:cxn ang="T11">
                    <a:pos x="T2" y="T3"/>
                  </a:cxn>
                  <a:cxn ang="T12">
                    <a:pos x="T4" y="T5"/>
                  </a:cxn>
                  <a:cxn ang="T13">
                    <a:pos x="T6" y="T7"/>
                  </a:cxn>
                  <a:cxn ang="T14">
                    <a:pos x="T8" y="T9"/>
                  </a:cxn>
                </a:cxnLst>
                <a:rect l="T15" t="T16" r="T17" b="T18"/>
                <a:pathLst>
                  <a:path w="192" h="96">
                    <a:moveTo>
                      <a:pt x="0" y="48"/>
                    </a:moveTo>
                    <a:cubicBezTo>
                      <a:pt x="16" y="24"/>
                      <a:pt x="32" y="0"/>
                      <a:pt x="48" y="0"/>
                    </a:cubicBezTo>
                    <a:cubicBezTo>
                      <a:pt x="64" y="0"/>
                      <a:pt x="80" y="32"/>
                      <a:pt x="96" y="48"/>
                    </a:cubicBezTo>
                    <a:cubicBezTo>
                      <a:pt x="112" y="64"/>
                      <a:pt x="128" y="96"/>
                      <a:pt x="144" y="96"/>
                    </a:cubicBezTo>
                    <a:cubicBezTo>
                      <a:pt x="160" y="96"/>
                      <a:pt x="184" y="56"/>
                      <a:pt x="192" y="48"/>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35869" name="Line 8"/>
            <p:cNvSpPr>
              <a:spLocks noChangeShapeType="1"/>
            </p:cNvSpPr>
            <p:nvPr/>
          </p:nvSpPr>
          <p:spPr bwMode="auto">
            <a:xfrm flipV="1">
              <a:off x="912" y="3072"/>
              <a:ext cx="0" cy="24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70" name="Line 9"/>
            <p:cNvSpPr>
              <a:spLocks noChangeShapeType="1"/>
            </p:cNvSpPr>
            <p:nvPr/>
          </p:nvSpPr>
          <p:spPr bwMode="auto">
            <a:xfrm flipV="1">
              <a:off x="912" y="3552"/>
              <a:ext cx="0" cy="24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5871" name="Group 10"/>
            <p:cNvGrpSpPr/>
            <p:nvPr/>
          </p:nvGrpSpPr>
          <p:grpSpPr bwMode="auto">
            <a:xfrm>
              <a:off x="1632" y="3264"/>
              <a:ext cx="96" cy="336"/>
              <a:chOff x="1104" y="3264"/>
              <a:chExt cx="96" cy="336"/>
            </a:xfrm>
          </p:grpSpPr>
          <p:sp>
            <p:nvSpPr>
              <p:cNvPr id="35879" name="Line 11"/>
              <p:cNvSpPr>
                <a:spLocks noChangeShapeType="1"/>
              </p:cNvSpPr>
              <p:nvPr/>
            </p:nvSpPr>
            <p:spPr bwMode="auto">
              <a:xfrm>
                <a:off x="1152" y="3264"/>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80" name="Line 12"/>
              <p:cNvSpPr>
                <a:spLocks noChangeShapeType="1"/>
              </p:cNvSpPr>
              <p:nvPr/>
            </p:nvSpPr>
            <p:spPr bwMode="auto">
              <a:xfrm flipH="1">
                <a:off x="1104" y="3312"/>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81" name="Line 13"/>
              <p:cNvSpPr>
                <a:spLocks noChangeShapeType="1"/>
              </p:cNvSpPr>
              <p:nvPr/>
            </p:nvSpPr>
            <p:spPr bwMode="auto">
              <a:xfrm>
                <a:off x="1104" y="3360"/>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82" name="Line 14"/>
              <p:cNvSpPr>
                <a:spLocks noChangeShapeType="1"/>
              </p:cNvSpPr>
              <p:nvPr/>
            </p:nvSpPr>
            <p:spPr bwMode="auto">
              <a:xfrm flipH="1">
                <a:off x="1104" y="3408"/>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83" name="Line 15"/>
              <p:cNvSpPr>
                <a:spLocks noChangeShapeType="1"/>
              </p:cNvSpPr>
              <p:nvPr/>
            </p:nvSpPr>
            <p:spPr bwMode="auto">
              <a:xfrm>
                <a:off x="1104" y="3456"/>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84" name="Line 16"/>
              <p:cNvSpPr>
                <a:spLocks noChangeShapeType="1"/>
              </p:cNvSpPr>
              <p:nvPr/>
            </p:nvSpPr>
            <p:spPr bwMode="auto">
              <a:xfrm flipH="1">
                <a:off x="1104" y="3504"/>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85" name="Line 17"/>
              <p:cNvSpPr>
                <a:spLocks noChangeShapeType="1"/>
              </p:cNvSpPr>
              <p:nvPr/>
            </p:nvSpPr>
            <p:spPr bwMode="auto">
              <a:xfrm>
                <a:off x="1104" y="3552"/>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5872" name="Line 18"/>
            <p:cNvSpPr>
              <a:spLocks noChangeShapeType="1"/>
            </p:cNvSpPr>
            <p:nvPr/>
          </p:nvSpPr>
          <p:spPr bwMode="auto">
            <a:xfrm flipV="1">
              <a:off x="1680" y="3072"/>
              <a:ext cx="0" cy="19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73" name="Line 19"/>
            <p:cNvSpPr>
              <a:spLocks noChangeShapeType="1"/>
            </p:cNvSpPr>
            <p:nvPr/>
          </p:nvSpPr>
          <p:spPr bwMode="auto">
            <a:xfrm>
              <a:off x="1680" y="3600"/>
              <a:ext cx="0" cy="19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5874" name="Group 20"/>
            <p:cNvGrpSpPr/>
            <p:nvPr/>
          </p:nvGrpSpPr>
          <p:grpSpPr bwMode="auto">
            <a:xfrm>
              <a:off x="912" y="3000"/>
              <a:ext cx="768" cy="145"/>
              <a:chOff x="912" y="3023"/>
              <a:chExt cx="768" cy="145"/>
            </a:xfrm>
          </p:grpSpPr>
          <p:sp>
            <p:nvSpPr>
              <p:cNvPr id="35876" name="Line 21"/>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77" name="AutoShape 22"/>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78" name="Line 23"/>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5875" name="Line 24"/>
            <p:cNvSpPr>
              <a:spLocks noChangeShapeType="1"/>
            </p:cNvSpPr>
            <p:nvPr/>
          </p:nvSpPr>
          <p:spPr bwMode="auto">
            <a:xfrm>
              <a:off x="912" y="3792"/>
              <a:ext cx="768"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5848" name="Text Box 25"/>
          <p:cNvSpPr txBox="1">
            <a:spLocks noChangeArrowheads="1"/>
          </p:cNvSpPr>
          <p:nvPr/>
        </p:nvSpPr>
        <p:spPr bwMode="auto">
          <a:xfrm>
            <a:off x="421005" y="5500688"/>
            <a:ext cx="1250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rPr>
              <a:t>AC source</a:t>
            </a:r>
          </a:p>
        </p:txBody>
      </p:sp>
      <p:sp>
        <p:nvSpPr>
          <p:cNvPr id="35849" name="Text Box 26"/>
          <p:cNvSpPr txBox="1">
            <a:spLocks noChangeArrowheads="1"/>
          </p:cNvSpPr>
          <p:nvPr/>
        </p:nvSpPr>
        <p:spPr bwMode="auto">
          <a:xfrm>
            <a:off x="3293110" y="5459095"/>
            <a:ext cx="63881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rPr>
              <a:t>load</a:t>
            </a:r>
          </a:p>
        </p:txBody>
      </p:sp>
      <p:sp>
        <p:nvSpPr>
          <p:cNvPr id="35850" name="Line 27"/>
          <p:cNvSpPr>
            <a:spLocks noChangeShapeType="1"/>
          </p:cNvSpPr>
          <p:nvPr/>
        </p:nvSpPr>
        <p:spPr bwMode="auto">
          <a:xfrm>
            <a:off x="6781800" y="4876800"/>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51" name="Line 28"/>
          <p:cNvSpPr>
            <a:spLocks noChangeShapeType="1"/>
          </p:cNvSpPr>
          <p:nvPr/>
        </p:nvSpPr>
        <p:spPr bwMode="auto">
          <a:xfrm>
            <a:off x="6781800" y="5257800"/>
            <a:ext cx="2895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5852" name="Group 29"/>
          <p:cNvGrpSpPr/>
          <p:nvPr/>
        </p:nvGrpSpPr>
        <p:grpSpPr bwMode="auto">
          <a:xfrm>
            <a:off x="6765925" y="4836795"/>
            <a:ext cx="3048000" cy="762000"/>
            <a:chOff x="3312" y="3072"/>
            <a:chExt cx="1920" cy="480"/>
          </a:xfrm>
        </p:grpSpPr>
        <p:sp>
          <p:nvSpPr>
            <p:cNvPr id="35864" name="Freeform 30"/>
            <p:cNvSpPr/>
            <p:nvPr/>
          </p:nvSpPr>
          <p:spPr bwMode="auto">
            <a:xfrm flipV="1">
              <a:off x="3792" y="331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65" name="Freeform 31"/>
            <p:cNvSpPr/>
            <p:nvPr/>
          </p:nvSpPr>
          <p:spPr bwMode="auto">
            <a:xfrm>
              <a:off x="3312" y="307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66" name="Freeform 32"/>
            <p:cNvSpPr/>
            <p:nvPr/>
          </p:nvSpPr>
          <p:spPr bwMode="auto">
            <a:xfrm>
              <a:off x="4272" y="307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67" name="Freeform 33"/>
            <p:cNvSpPr/>
            <p:nvPr/>
          </p:nvSpPr>
          <p:spPr bwMode="auto">
            <a:xfrm flipV="1">
              <a:off x="4752" y="331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35853" name="Line 34"/>
          <p:cNvSpPr>
            <a:spLocks noChangeShapeType="1"/>
          </p:cNvSpPr>
          <p:nvPr/>
        </p:nvSpPr>
        <p:spPr bwMode="auto">
          <a:xfrm>
            <a:off x="6781800" y="5867400"/>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54" name="Line 35"/>
          <p:cNvSpPr>
            <a:spLocks noChangeShapeType="1"/>
          </p:cNvSpPr>
          <p:nvPr/>
        </p:nvSpPr>
        <p:spPr bwMode="auto">
          <a:xfrm>
            <a:off x="6781800" y="6398895"/>
            <a:ext cx="2895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5855" name="Group 36"/>
          <p:cNvGrpSpPr/>
          <p:nvPr/>
        </p:nvGrpSpPr>
        <p:grpSpPr bwMode="auto">
          <a:xfrm>
            <a:off x="6629400" y="6017895"/>
            <a:ext cx="3048000" cy="381000"/>
            <a:chOff x="3216" y="3408"/>
            <a:chExt cx="1920" cy="240"/>
          </a:xfrm>
        </p:grpSpPr>
        <p:sp>
          <p:nvSpPr>
            <p:cNvPr id="35859" name="Freeform 37"/>
            <p:cNvSpPr/>
            <p:nvPr/>
          </p:nvSpPr>
          <p:spPr bwMode="auto">
            <a:xfrm>
              <a:off x="3312" y="3408"/>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60" name="Freeform 38"/>
            <p:cNvSpPr/>
            <p:nvPr/>
          </p:nvSpPr>
          <p:spPr bwMode="auto">
            <a:xfrm>
              <a:off x="4272" y="3408"/>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5861" name="Line 39"/>
            <p:cNvSpPr>
              <a:spLocks noChangeShapeType="1"/>
            </p:cNvSpPr>
            <p:nvPr/>
          </p:nvSpPr>
          <p:spPr bwMode="auto">
            <a:xfrm>
              <a:off x="3792" y="3648"/>
              <a:ext cx="480"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62" name="Line 40"/>
            <p:cNvSpPr>
              <a:spLocks noChangeShapeType="1"/>
            </p:cNvSpPr>
            <p:nvPr/>
          </p:nvSpPr>
          <p:spPr bwMode="auto">
            <a:xfrm flipH="1">
              <a:off x="3216" y="3648"/>
              <a:ext cx="96"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5863" name="Line 41"/>
            <p:cNvSpPr>
              <a:spLocks noChangeShapeType="1"/>
            </p:cNvSpPr>
            <p:nvPr/>
          </p:nvSpPr>
          <p:spPr bwMode="auto">
            <a:xfrm>
              <a:off x="4752" y="3648"/>
              <a:ext cx="384"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5856" name="Text Box 42"/>
          <p:cNvSpPr txBox="1">
            <a:spLocks noChangeArrowheads="1"/>
          </p:cNvSpPr>
          <p:nvPr/>
        </p:nvSpPr>
        <p:spPr bwMode="auto">
          <a:xfrm>
            <a:off x="7258051" y="4632325"/>
            <a:ext cx="1336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600">
                <a:solidFill>
                  <a:schemeClr val="accent1">
                    <a:lumMod val="10000"/>
                  </a:schemeClr>
                </a:solidFill>
              </a:rPr>
              <a:t>input voltage</a:t>
            </a:r>
          </a:p>
        </p:txBody>
      </p:sp>
      <p:sp>
        <p:nvSpPr>
          <p:cNvPr id="35857" name="Text Box 43"/>
          <p:cNvSpPr txBox="1">
            <a:spLocks noChangeArrowheads="1"/>
          </p:cNvSpPr>
          <p:nvPr/>
        </p:nvSpPr>
        <p:spPr bwMode="auto">
          <a:xfrm>
            <a:off x="6900229" y="6384925"/>
            <a:ext cx="2047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600">
                <a:solidFill>
                  <a:srgbClr val="000000"/>
                </a:solidFill>
              </a:rPr>
              <a:t>voltage seen by load</a:t>
            </a:r>
          </a:p>
        </p:txBody>
      </p:sp>
      <p:sp>
        <p:nvSpPr>
          <p:cNvPr id="35858" name="Text Box 44"/>
          <p:cNvSpPr txBox="1">
            <a:spLocks noChangeArrowheads="1"/>
          </p:cNvSpPr>
          <p:nvPr/>
        </p:nvSpPr>
        <p:spPr bwMode="auto">
          <a:xfrm>
            <a:off x="1236980" y="6160770"/>
            <a:ext cx="320230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rPr>
              <a:t>diode only conducts</a:t>
            </a:r>
          </a:p>
          <a:p>
            <a:pPr eaLnBrk="0" fontAlgn="base" hangingPunct="0">
              <a:spcBef>
                <a:spcPct val="0"/>
              </a:spcBef>
              <a:spcAft>
                <a:spcPct val="0"/>
              </a:spcAft>
            </a:pPr>
            <a:r>
              <a:rPr lang="en-US" altLang="en-US" sz="1800">
                <a:solidFill>
                  <a:schemeClr val="accent1">
                    <a:lumMod val="10000"/>
                  </a:schemeClr>
                </a:solidFill>
              </a:rPr>
              <a:t>when input voltage is positive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609600" y="70485"/>
            <a:ext cx="10972800" cy="929005"/>
          </a:xfrm>
        </p:spPr>
        <p:txBody>
          <a:bodyPr/>
          <a:lstStyle/>
          <a:p>
            <a:pPr algn="ctr" eaLnBrk="1" hangingPunct="1">
              <a:defRPr/>
            </a:pPr>
            <a:r>
              <a:rPr lang="en-US" b="1"/>
              <a:t>Doing Better: Full-wave Diode Bridge</a:t>
            </a:r>
          </a:p>
        </p:txBody>
      </p:sp>
      <p:sp>
        <p:nvSpPr>
          <p:cNvPr id="82947" name="Rectangle 3"/>
          <p:cNvSpPr>
            <a:spLocks noGrp="1" noChangeArrowheads="1"/>
          </p:cNvSpPr>
          <p:nvPr>
            <p:ph type="body" idx="1"/>
          </p:nvPr>
        </p:nvSpPr>
        <p:spPr>
          <a:xfrm>
            <a:off x="609600" y="773430"/>
            <a:ext cx="10972800" cy="5527040"/>
          </a:xfrm>
        </p:spPr>
        <p:txBody>
          <a:bodyPr/>
          <a:lstStyle/>
          <a:p>
            <a:pPr algn="just" eaLnBrk="1" hangingPunct="1"/>
            <a:r>
              <a:rPr lang="en-US" altLang="en-US" sz="2800">
                <a:solidFill>
                  <a:schemeClr val="accent1">
                    <a:lumMod val="10000"/>
                  </a:schemeClr>
                </a:solidFill>
                <a:effectLst/>
              </a:rPr>
              <a:t>The diode in the rectifying circuit simply prevented the negative swing of voltage from conducting</a:t>
            </a:r>
          </a:p>
          <a:p>
            <a:pPr lvl="1" algn="just" eaLnBrk="1" hangingPunct="1"/>
            <a:r>
              <a:rPr lang="en-US" altLang="en-US" sz="2800">
                <a:solidFill>
                  <a:schemeClr val="accent1">
                    <a:lumMod val="10000"/>
                  </a:schemeClr>
                </a:solidFill>
                <a:effectLst/>
              </a:rPr>
              <a:t>but this wastes half the available cycle</a:t>
            </a:r>
          </a:p>
          <a:p>
            <a:pPr lvl="1" algn="just" eaLnBrk="1" hangingPunct="1"/>
            <a:r>
              <a:rPr lang="en-US" altLang="en-US" sz="2800">
                <a:solidFill>
                  <a:schemeClr val="accent1">
                    <a:lumMod val="10000"/>
                  </a:schemeClr>
                </a:solidFill>
                <a:effectLst/>
              </a:rPr>
              <a:t>also very irregular (bumpy): far from a “good” DC source</a:t>
            </a:r>
          </a:p>
          <a:p>
            <a:pPr algn="just" eaLnBrk="1" hangingPunct="1"/>
            <a:r>
              <a:rPr lang="en-US" altLang="en-US" sz="2800">
                <a:solidFill>
                  <a:schemeClr val="accent1">
                    <a:lumMod val="10000"/>
                  </a:schemeClr>
                </a:solidFill>
                <a:effectLst/>
              </a:rPr>
              <a:t>By using four diodes, you can recover the negative swing:</a:t>
            </a:r>
            <a:endParaRPr lang="en-US" altLang="en-US">
              <a:effectLst>
                <a:outerShdw blurRad="38100" dist="38100" dir="2700000" algn="tl">
                  <a:srgbClr val="C0C0C0"/>
                </a:outerShdw>
              </a:effectLst>
            </a:endParaRPr>
          </a:p>
          <a:p>
            <a:pPr eaLnBrk="1" hangingPunct="1">
              <a:buFontTx/>
              <a:buNone/>
            </a:pPr>
            <a:endParaRPr lang="en-US" altLang="en-US">
              <a:effectLst>
                <a:outerShdw blurRad="38100" dist="38100" dir="2700000" algn="tl">
                  <a:srgbClr val="C0C0C0"/>
                </a:outerShdw>
              </a:effectLst>
            </a:endParaRPr>
          </a:p>
        </p:txBody>
      </p:sp>
      <p:grpSp>
        <p:nvGrpSpPr>
          <p:cNvPr id="37895" name="Group 4"/>
          <p:cNvGrpSpPr/>
          <p:nvPr/>
        </p:nvGrpSpPr>
        <p:grpSpPr bwMode="auto">
          <a:xfrm>
            <a:off x="2057400" y="3962400"/>
            <a:ext cx="3543300" cy="2225040"/>
            <a:chOff x="1560" y="2496"/>
            <a:chExt cx="2232" cy="1344"/>
          </a:xfrm>
        </p:grpSpPr>
        <p:grpSp>
          <p:nvGrpSpPr>
            <p:cNvPr id="37924" name="Group 5"/>
            <p:cNvGrpSpPr/>
            <p:nvPr/>
          </p:nvGrpSpPr>
          <p:grpSpPr bwMode="auto">
            <a:xfrm>
              <a:off x="1560" y="2976"/>
              <a:ext cx="240" cy="240"/>
              <a:chOff x="768" y="3312"/>
              <a:chExt cx="240" cy="240"/>
            </a:xfrm>
          </p:grpSpPr>
          <p:sp>
            <p:nvSpPr>
              <p:cNvPr id="37965" name="Oval 6"/>
              <p:cNvSpPr>
                <a:spLocks noChangeArrowheads="1"/>
              </p:cNvSpPr>
              <p:nvPr/>
            </p:nvSpPr>
            <p:spPr bwMode="auto">
              <a:xfrm>
                <a:off x="768" y="3312"/>
                <a:ext cx="240" cy="240"/>
              </a:xfrm>
              <a:prstGeom prst="ellipse">
                <a:avLst/>
              </a:prstGeom>
              <a:solidFill>
                <a:schemeClr val="accent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66" name="Freeform 7"/>
              <p:cNvSpPr/>
              <p:nvPr/>
            </p:nvSpPr>
            <p:spPr bwMode="auto">
              <a:xfrm>
                <a:off x="794" y="3385"/>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 name="T10" fmla="*/ 0 60000 65536"/>
                  <a:gd name="T11" fmla="*/ 0 60000 65536"/>
                  <a:gd name="T12" fmla="*/ 0 60000 65536"/>
                  <a:gd name="T13" fmla="*/ 0 60000 65536"/>
                  <a:gd name="T14" fmla="*/ 0 60000 65536"/>
                  <a:gd name="T15" fmla="*/ 0 w 192"/>
                  <a:gd name="T16" fmla="*/ 0 h 96"/>
                  <a:gd name="T17" fmla="*/ 192 w 192"/>
                  <a:gd name="T18" fmla="*/ 96 h 96"/>
                </a:gdLst>
                <a:ahLst/>
                <a:cxnLst>
                  <a:cxn ang="T10">
                    <a:pos x="T0" y="T1"/>
                  </a:cxn>
                  <a:cxn ang="T11">
                    <a:pos x="T2" y="T3"/>
                  </a:cxn>
                  <a:cxn ang="T12">
                    <a:pos x="T4" y="T5"/>
                  </a:cxn>
                  <a:cxn ang="T13">
                    <a:pos x="T6" y="T7"/>
                  </a:cxn>
                  <a:cxn ang="T14">
                    <a:pos x="T8" y="T9"/>
                  </a:cxn>
                </a:cxnLst>
                <a:rect l="T15" t="T16" r="T17" b="T18"/>
                <a:pathLst>
                  <a:path w="192" h="96">
                    <a:moveTo>
                      <a:pt x="0" y="48"/>
                    </a:moveTo>
                    <a:cubicBezTo>
                      <a:pt x="16" y="24"/>
                      <a:pt x="32" y="0"/>
                      <a:pt x="48" y="0"/>
                    </a:cubicBezTo>
                    <a:cubicBezTo>
                      <a:pt x="64" y="0"/>
                      <a:pt x="80" y="32"/>
                      <a:pt x="96" y="48"/>
                    </a:cubicBezTo>
                    <a:cubicBezTo>
                      <a:pt x="112" y="64"/>
                      <a:pt x="128" y="96"/>
                      <a:pt x="144" y="96"/>
                    </a:cubicBezTo>
                    <a:cubicBezTo>
                      <a:pt x="160" y="96"/>
                      <a:pt x="184" y="56"/>
                      <a:pt x="192" y="48"/>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37925" name="Group 8"/>
            <p:cNvGrpSpPr/>
            <p:nvPr/>
          </p:nvGrpSpPr>
          <p:grpSpPr bwMode="auto">
            <a:xfrm>
              <a:off x="3696" y="3312"/>
              <a:ext cx="96" cy="336"/>
              <a:chOff x="1104" y="3264"/>
              <a:chExt cx="96" cy="336"/>
            </a:xfrm>
          </p:grpSpPr>
          <p:sp>
            <p:nvSpPr>
              <p:cNvPr id="37958" name="Line 9"/>
              <p:cNvSpPr>
                <a:spLocks noChangeShapeType="1"/>
              </p:cNvSpPr>
              <p:nvPr/>
            </p:nvSpPr>
            <p:spPr bwMode="auto">
              <a:xfrm>
                <a:off x="1152" y="3264"/>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59" name="Line 10"/>
              <p:cNvSpPr>
                <a:spLocks noChangeShapeType="1"/>
              </p:cNvSpPr>
              <p:nvPr/>
            </p:nvSpPr>
            <p:spPr bwMode="auto">
              <a:xfrm flipH="1">
                <a:off x="1104" y="3312"/>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60" name="Line 11"/>
              <p:cNvSpPr>
                <a:spLocks noChangeShapeType="1"/>
              </p:cNvSpPr>
              <p:nvPr/>
            </p:nvSpPr>
            <p:spPr bwMode="auto">
              <a:xfrm>
                <a:off x="1104" y="3360"/>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61" name="Line 12"/>
              <p:cNvSpPr>
                <a:spLocks noChangeShapeType="1"/>
              </p:cNvSpPr>
              <p:nvPr/>
            </p:nvSpPr>
            <p:spPr bwMode="auto">
              <a:xfrm flipH="1">
                <a:off x="1104" y="3408"/>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62" name="Line 13"/>
              <p:cNvSpPr>
                <a:spLocks noChangeShapeType="1"/>
              </p:cNvSpPr>
              <p:nvPr/>
            </p:nvSpPr>
            <p:spPr bwMode="auto">
              <a:xfrm>
                <a:off x="1104" y="3456"/>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63" name="Line 14"/>
              <p:cNvSpPr>
                <a:spLocks noChangeShapeType="1"/>
              </p:cNvSpPr>
              <p:nvPr/>
            </p:nvSpPr>
            <p:spPr bwMode="auto">
              <a:xfrm flipH="1">
                <a:off x="1104" y="3504"/>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64" name="Line 15"/>
              <p:cNvSpPr>
                <a:spLocks noChangeShapeType="1"/>
              </p:cNvSpPr>
              <p:nvPr/>
            </p:nvSpPr>
            <p:spPr bwMode="auto">
              <a:xfrm>
                <a:off x="1104" y="3552"/>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7926" name="Line 16"/>
            <p:cNvSpPr>
              <a:spLocks noChangeShapeType="1"/>
            </p:cNvSpPr>
            <p:nvPr/>
          </p:nvSpPr>
          <p:spPr bwMode="auto">
            <a:xfrm flipV="1">
              <a:off x="3744" y="3120"/>
              <a:ext cx="0" cy="19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27" name="Line 17"/>
            <p:cNvSpPr>
              <a:spLocks noChangeShapeType="1"/>
            </p:cNvSpPr>
            <p:nvPr/>
          </p:nvSpPr>
          <p:spPr bwMode="auto">
            <a:xfrm>
              <a:off x="3744" y="3648"/>
              <a:ext cx="0" cy="19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7928" name="Group 18"/>
            <p:cNvGrpSpPr/>
            <p:nvPr/>
          </p:nvGrpSpPr>
          <p:grpSpPr bwMode="auto">
            <a:xfrm rot="2695030">
              <a:off x="2112" y="3311"/>
              <a:ext cx="768" cy="145"/>
              <a:chOff x="912" y="3023"/>
              <a:chExt cx="768" cy="145"/>
            </a:xfrm>
          </p:grpSpPr>
          <p:sp>
            <p:nvSpPr>
              <p:cNvPr id="37955" name="Line 19"/>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56" name="AutoShape 20"/>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57" name="Line 21"/>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7929" name="Group 22"/>
            <p:cNvGrpSpPr/>
            <p:nvPr/>
          </p:nvGrpSpPr>
          <p:grpSpPr bwMode="auto">
            <a:xfrm rot="18904970" flipV="1">
              <a:off x="2112" y="2784"/>
              <a:ext cx="768" cy="145"/>
              <a:chOff x="912" y="3023"/>
              <a:chExt cx="768" cy="145"/>
            </a:xfrm>
          </p:grpSpPr>
          <p:sp>
            <p:nvSpPr>
              <p:cNvPr id="37952" name="Line 23"/>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53" name="AutoShape 24"/>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54" name="Line 25"/>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7930" name="Group 26"/>
            <p:cNvGrpSpPr/>
            <p:nvPr/>
          </p:nvGrpSpPr>
          <p:grpSpPr bwMode="auto">
            <a:xfrm rot="2695030">
              <a:off x="2640" y="2784"/>
              <a:ext cx="768" cy="145"/>
              <a:chOff x="912" y="3023"/>
              <a:chExt cx="768" cy="145"/>
            </a:xfrm>
          </p:grpSpPr>
          <p:sp>
            <p:nvSpPr>
              <p:cNvPr id="37949" name="Line 27"/>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50" name="AutoShape 28"/>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51" name="Line 29"/>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7931" name="Group 30"/>
            <p:cNvGrpSpPr/>
            <p:nvPr/>
          </p:nvGrpSpPr>
          <p:grpSpPr bwMode="auto">
            <a:xfrm rot="18904970" flipV="1">
              <a:off x="2640" y="3311"/>
              <a:ext cx="768" cy="145"/>
              <a:chOff x="912" y="3023"/>
              <a:chExt cx="768" cy="145"/>
            </a:xfrm>
          </p:grpSpPr>
          <p:sp>
            <p:nvSpPr>
              <p:cNvPr id="37946" name="Line 31"/>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7" name="AutoShape 32"/>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48" name="Line 33"/>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7932" name="Oval 34"/>
            <p:cNvSpPr>
              <a:spLocks noChangeArrowheads="1"/>
            </p:cNvSpPr>
            <p:nvPr/>
          </p:nvSpPr>
          <p:spPr bwMode="auto">
            <a:xfrm>
              <a:off x="2736" y="2573"/>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33" name="Oval 35"/>
            <p:cNvSpPr>
              <a:spLocks noChangeArrowheads="1"/>
            </p:cNvSpPr>
            <p:nvPr/>
          </p:nvSpPr>
          <p:spPr bwMode="auto">
            <a:xfrm>
              <a:off x="2736" y="3616"/>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34" name="Oval 36"/>
            <p:cNvSpPr>
              <a:spLocks noChangeArrowheads="1"/>
            </p:cNvSpPr>
            <p:nvPr/>
          </p:nvSpPr>
          <p:spPr bwMode="auto">
            <a:xfrm>
              <a:off x="2208" y="3092"/>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35" name="Oval 37"/>
            <p:cNvSpPr>
              <a:spLocks noChangeArrowheads="1"/>
            </p:cNvSpPr>
            <p:nvPr/>
          </p:nvSpPr>
          <p:spPr bwMode="auto">
            <a:xfrm>
              <a:off x="3264" y="3092"/>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36" name="Line 38"/>
            <p:cNvSpPr>
              <a:spLocks noChangeShapeType="1"/>
            </p:cNvSpPr>
            <p:nvPr/>
          </p:nvSpPr>
          <p:spPr bwMode="auto">
            <a:xfrm flipV="1">
              <a:off x="2736" y="2496"/>
              <a:ext cx="0" cy="96"/>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37" name="Line 39"/>
            <p:cNvSpPr>
              <a:spLocks noChangeShapeType="1"/>
            </p:cNvSpPr>
            <p:nvPr/>
          </p:nvSpPr>
          <p:spPr bwMode="auto">
            <a:xfrm flipH="1">
              <a:off x="1680" y="2496"/>
              <a:ext cx="1056"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38" name="Line 40"/>
            <p:cNvSpPr>
              <a:spLocks noChangeShapeType="1"/>
            </p:cNvSpPr>
            <p:nvPr/>
          </p:nvSpPr>
          <p:spPr bwMode="auto">
            <a:xfrm>
              <a:off x="1680" y="2496"/>
              <a:ext cx="0" cy="48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39" name="Line 41"/>
            <p:cNvSpPr>
              <a:spLocks noChangeShapeType="1"/>
            </p:cNvSpPr>
            <p:nvPr/>
          </p:nvSpPr>
          <p:spPr bwMode="auto">
            <a:xfrm>
              <a:off x="1680" y="3216"/>
              <a:ext cx="0" cy="52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0" name="Line 42"/>
            <p:cNvSpPr>
              <a:spLocks noChangeShapeType="1"/>
            </p:cNvSpPr>
            <p:nvPr/>
          </p:nvSpPr>
          <p:spPr bwMode="auto">
            <a:xfrm>
              <a:off x="2736" y="3648"/>
              <a:ext cx="0" cy="96"/>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1" name="Line 43"/>
            <p:cNvSpPr>
              <a:spLocks noChangeShapeType="1"/>
            </p:cNvSpPr>
            <p:nvPr/>
          </p:nvSpPr>
          <p:spPr bwMode="auto">
            <a:xfrm flipH="1">
              <a:off x="1680" y="3744"/>
              <a:ext cx="1056"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2" name="Line 44"/>
            <p:cNvSpPr>
              <a:spLocks noChangeShapeType="1"/>
            </p:cNvSpPr>
            <p:nvPr/>
          </p:nvSpPr>
          <p:spPr bwMode="auto">
            <a:xfrm flipH="1">
              <a:off x="2064" y="3120"/>
              <a:ext cx="144"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3" name="Line 45"/>
            <p:cNvSpPr>
              <a:spLocks noChangeShapeType="1"/>
            </p:cNvSpPr>
            <p:nvPr/>
          </p:nvSpPr>
          <p:spPr bwMode="auto">
            <a:xfrm>
              <a:off x="2064" y="3120"/>
              <a:ext cx="0" cy="72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4" name="Line 46"/>
            <p:cNvSpPr>
              <a:spLocks noChangeShapeType="1"/>
            </p:cNvSpPr>
            <p:nvPr/>
          </p:nvSpPr>
          <p:spPr bwMode="auto">
            <a:xfrm>
              <a:off x="2064" y="3840"/>
              <a:ext cx="1680"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45" name="Line 47"/>
            <p:cNvSpPr>
              <a:spLocks noChangeShapeType="1"/>
            </p:cNvSpPr>
            <p:nvPr/>
          </p:nvSpPr>
          <p:spPr bwMode="auto">
            <a:xfrm>
              <a:off x="3312" y="3120"/>
              <a:ext cx="432"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7896" name="Text Box 48"/>
          <p:cNvSpPr txBox="1">
            <a:spLocks noChangeArrowheads="1"/>
          </p:cNvSpPr>
          <p:nvPr/>
        </p:nvSpPr>
        <p:spPr bwMode="auto">
          <a:xfrm>
            <a:off x="3108325" y="41290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A</a:t>
            </a:r>
            <a:endParaRPr lang="en-US" altLang="en-US" sz="1800">
              <a:solidFill>
                <a:srgbClr val="1B28F6"/>
              </a:solidFill>
            </a:endParaRPr>
          </a:p>
        </p:txBody>
      </p:sp>
      <p:sp>
        <p:nvSpPr>
          <p:cNvPr id="37897" name="Text Box 49"/>
          <p:cNvSpPr txBox="1">
            <a:spLocks noChangeArrowheads="1"/>
          </p:cNvSpPr>
          <p:nvPr/>
        </p:nvSpPr>
        <p:spPr bwMode="auto">
          <a:xfrm>
            <a:off x="3117850" y="53340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C</a:t>
            </a:r>
            <a:endParaRPr lang="en-US" altLang="en-US" sz="1800">
              <a:solidFill>
                <a:srgbClr val="1B28F6"/>
              </a:solidFill>
            </a:endParaRPr>
          </a:p>
        </p:txBody>
      </p:sp>
      <p:sp>
        <p:nvSpPr>
          <p:cNvPr id="37898" name="Text Box 50"/>
          <p:cNvSpPr txBox="1">
            <a:spLocks noChangeArrowheads="1"/>
          </p:cNvSpPr>
          <p:nvPr/>
        </p:nvSpPr>
        <p:spPr bwMode="auto">
          <a:xfrm>
            <a:off x="4464050" y="412908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B</a:t>
            </a:r>
            <a:endParaRPr lang="en-US" altLang="en-US" sz="1800">
              <a:solidFill>
                <a:srgbClr val="1B28F6"/>
              </a:solidFill>
            </a:endParaRPr>
          </a:p>
        </p:txBody>
      </p:sp>
      <p:sp>
        <p:nvSpPr>
          <p:cNvPr id="37899" name="Text Box 51"/>
          <p:cNvSpPr txBox="1">
            <a:spLocks noChangeArrowheads="1"/>
          </p:cNvSpPr>
          <p:nvPr/>
        </p:nvSpPr>
        <p:spPr bwMode="auto">
          <a:xfrm>
            <a:off x="4457700" y="54102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D</a:t>
            </a:r>
            <a:endParaRPr lang="en-US" altLang="en-US" sz="1800">
              <a:solidFill>
                <a:srgbClr val="1B28F6"/>
              </a:solidFill>
            </a:endParaRPr>
          </a:p>
        </p:txBody>
      </p:sp>
      <p:sp>
        <p:nvSpPr>
          <p:cNvPr id="37900" name="Text Box 52"/>
          <p:cNvSpPr txBox="1">
            <a:spLocks noChangeArrowheads="1"/>
          </p:cNvSpPr>
          <p:nvPr/>
        </p:nvSpPr>
        <p:spPr bwMode="auto">
          <a:xfrm rot="16200000">
            <a:off x="1139190" y="4815841"/>
            <a:ext cx="1250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rgbClr val="0B871F"/>
                </a:solidFill>
              </a:rPr>
              <a:t>AC source</a:t>
            </a:r>
          </a:p>
        </p:txBody>
      </p:sp>
      <p:sp>
        <p:nvSpPr>
          <p:cNvPr id="37901" name="Text Box 53"/>
          <p:cNvSpPr txBox="1">
            <a:spLocks noChangeArrowheads="1"/>
          </p:cNvSpPr>
          <p:nvPr/>
        </p:nvSpPr>
        <p:spPr bwMode="auto">
          <a:xfrm>
            <a:off x="5632450" y="5257801"/>
            <a:ext cx="61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rgbClr val="0B871F"/>
                </a:solidFill>
              </a:rPr>
              <a:t>load</a:t>
            </a:r>
          </a:p>
        </p:txBody>
      </p:sp>
      <p:sp>
        <p:nvSpPr>
          <p:cNvPr id="37902" name="Line 54"/>
          <p:cNvSpPr>
            <a:spLocks noChangeShapeType="1"/>
          </p:cNvSpPr>
          <p:nvPr/>
        </p:nvSpPr>
        <p:spPr bwMode="auto">
          <a:xfrm>
            <a:off x="6781800" y="4054475"/>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03" name="Line 55"/>
          <p:cNvSpPr>
            <a:spLocks noChangeShapeType="1"/>
          </p:cNvSpPr>
          <p:nvPr/>
        </p:nvSpPr>
        <p:spPr bwMode="auto">
          <a:xfrm>
            <a:off x="6781800" y="4434840"/>
            <a:ext cx="3048000" cy="127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7904" name="Group 56"/>
          <p:cNvGrpSpPr/>
          <p:nvPr/>
        </p:nvGrpSpPr>
        <p:grpSpPr bwMode="auto">
          <a:xfrm>
            <a:off x="6781800" y="4054475"/>
            <a:ext cx="3048000" cy="762000"/>
            <a:chOff x="3312" y="3072"/>
            <a:chExt cx="1920" cy="480"/>
          </a:xfrm>
        </p:grpSpPr>
        <p:sp>
          <p:nvSpPr>
            <p:cNvPr id="37920" name="Freeform 57"/>
            <p:cNvSpPr/>
            <p:nvPr/>
          </p:nvSpPr>
          <p:spPr bwMode="auto">
            <a:xfrm flipV="1">
              <a:off x="3792" y="331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21" name="Freeform 58"/>
            <p:cNvSpPr/>
            <p:nvPr/>
          </p:nvSpPr>
          <p:spPr bwMode="auto">
            <a:xfrm>
              <a:off x="3312" y="307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22" name="Freeform 59"/>
            <p:cNvSpPr/>
            <p:nvPr/>
          </p:nvSpPr>
          <p:spPr bwMode="auto">
            <a:xfrm>
              <a:off x="4272" y="307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23" name="Freeform 60"/>
            <p:cNvSpPr/>
            <p:nvPr/>
          </p:nvSpPr>
          <p:spPr bwMode="auto">
            <a:xfrm flipV="1">
              <a:off x="4752" y="3312"/>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37905" name="Line 61"/>
          <p:cNvSpPr>
            <a:spLocks noChangeShapeType="1"/>
          </p:cNvSpPr>
          <p:nvPr/>
        </p:nvSpPr>
        <p:spPr bwMode="auto">
          <a:xfrm>
            <a:off x="6781800" y="5426075"/>
            <a:ext cx="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06" name="Text Box 62"/>
          <p:cNvSpPr txBox="1">
            <a:spLocks noChangeArrowheads="1"/>
          </p:cNvSpPr>
          <p:nvPr/>
        </p:nvSpPr>
        <p:spPr bwMode="auto">
          <a:xfrm>
            <a:off x="7258051" y="3810000"/>
            <a:ext cx="1336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600">
                <a:solidFill>
                  <a:srgbClr val="FF2C2C"/>
                </a:solidFill>
              </a:rPr>
              <a:t>input voltage</a:t>
            </a:r>
          </a:p>
        </p:txBody>
      </p:sp>
      <p:sp>
        <p:nvSpPr>
          <p:cNvPr id="37907" name="Text Box 63"/>
          <p:cNvSpPr txBox="1">
            <a:spLocks noChangeArrowheads="1"/>
          </p:cNvSpPr>
          <p:nvPr/>
        </p:nvSpPr>
        <p:spPr bwMode="auto">
          <a:xfrm>
            <a:off x="6920549" y="5963920"/>
            <a:ext cx="2047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600">
                <a:solidFill>
                  <a:srgbClr val="000000"/>
                </a:solidFill>
              </a:rPr>
              <a:t>voltage seen by load</a:t>
            </a:r>
          </a:p>
        </p:txBody>
      </p:sp>
      <p:grpSp>
        <p:nvGrpSpPr>
          <p:cNvPr id="37908" name="Group 64"/>
          <p:cNvGrpSpPr/>
          <p:nvPr/>
        </p:nvGrpSpPr>
        <p:grpSpPr bwMode="auto">
          <a:xfrm>
            <a:off x="6781800" y="5448935"/>
            <a:ext cx="2896235" cy="381000"/>
            <a:chOff x="3312" y="3696"/>
            <a:chExt cx="1920" cy="240"/>
          </a:xfrm>
        </p:grpSpPr>
        <p:sp>
          <p:nvSpPr>
            <p:cNvPr id="37915" name="Line 65"/>
            <p:cNvSpPr>
              <a:spLocks noChangeShapeType="1"/>
            </p:cNvSpPr>
            <p:nvPr/>
          </p:nvSpPr>
          <p:spPr bwMode="auto">
            <a:xfrm>
              <a:off x="3312" y="3936"/>
              <a:ext cx="18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16" name="Freeform 66"/>
            <p:cNvSpPr/>
            <p:nvPr/>
          </p:nvSpPr>
          <p:spPr bwMode="auto">
            <a:xfrm>
              <a:off x="331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17" name="Freeform 67"/>
            <p:cNvSpPr/>
            <p:nvPr/>
          </p:nvSpPr>
          <p:spPr bwMode="auto">
            <a:xfrm>
              <a:off x="427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18" name="Freeform 68"/>
            <p:cNvSpPr/>
            <p:nvPr/>
          </p:nvSpPr>
          <p:spPr bwMode="auto">
            <a:xfrm>
              <a:off x="379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7919" name="Freeform 69"/>
            <p:cNvSpPr/>
            <p:nvPr/>
          </p:nvSpPr>
          <p:spPr bwMode="auto">
            <a:xfrm>
              <a:off x="475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37909" name="Text Box 70"/>
          <p:cNvSpPr txBox="1">
            <a:spLocks noChangeArrowheads="1"/>
          </p:cNvSpPr>
          <p:nvPr/>
        </p:nvSpPr>
        <p:spPr bwMode="auto">
          <a:xfrm>
            <a:off x="6802121" y="3565209"/>
            <a:ext cx="1808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2000">
                <a:solidFill>
                  <a:srgbClr val="0B871F"/>
                </a:solidFill>
              </a:rPr>
              <a:t>B &amp; C conduct</a:t>
            </a:r>
          </a:p>
        </p:txBody>
      </p:sp>
      <p:sp>
        <p:nvSpPr>
          <p:cNvPr id="37910" name="Text Box 71"/>
          <p:cNvSpPr txBox="1">
            <a:spLocks noChangeArrowheads="1"/>
          </p:cNvSpPr>
          <p:nvPr/>
        </p:nvSpPr>
        <p:spPr bwMode="auto">
          <a:xfrm>
            <a:off x="7869238" y="4876801"/>
            <a:ext cx="1808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2000">
                <a:solidFill>
                  <a:srgbClr val="8C20F2"/>
                </a:solidFill>
              </a:rPr>
              <a:t>A &amp; D conduct</a:t>
            </a:r>
          </a:p>
        </p:txBody>
      </p:sp>
      <p:sp>
        <p:nvSpPr>
          <p:cNvPr id="37911" name="Line 72"/>
          <p:cNvSpPr>
            <a:spLocks noChangeShapeType="1"/>
          </p:cNvSpPr>
          <p:nvPr/>
        </p:nvSpPr>
        <p:spPr bwMode="auto">
          <a:xfrm>
            <a:off x="7162800" y="3733800"/>
            <a:ext cx="0" cy="2286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12" name="Line 73"/>
          <p:cNvSpPr>
            <a:spLocks noChangeShapeType="1"/>
          </p:cNvSpPr>
          <p:nvPr/>
        </p:nvSpPr>
        <p:spPr bwMode="auto">
          <a:xfrm>
            <a:off x="8458200" y="3733800"/>
            <a:ext cx="152400" cy="22860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13" name="Line 74"/>
          <p:cNvSpPr>
            <a:spLocks noChangeShapeType="1"/>
          </p:cNvSpPr>
          <p:nvPr/>
        </p:nvSpPr>
        <p:spPr bwMode="auto">
          <a:xfrm flipH="1" flipV="1">
            <a:off x="8153400" y="4724400"/>
            <a:ext cx="152400" cy="2286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7914" name="Line 75"/>
          <p:cNvSpPr>
            <a:spLocks noChangeShapeType="1"/>
          </p:cNvSpPr>
          <p:nvPr/>
        </p:nvSpPr>
        <p:spPr bwMode="auto">
          <a:xfrm flipV="1">
            <a:off x="9067800" y="4800600"/>
            <a:ext cx="228600" cy="152400"/>
          </a:xfrm>
          <a:prstGeom prst="line">
            <a:avLst/>
          </a:prstGeom>
          <a:noFill/>
          <a:ln w="952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803275" y="-76200"/>
            <a:ext cx="9178925" cy="1143000"/>
          </a:xfrm>
        </p:spPr>
        <p:txBody>
          <a:bodyPr/>
          <a:lstStyle/>
          <a:p>
            <a:pPr algn="ctr" eaLnBrk="1" hangingPunct="1">
              <a:defRPr/>
            </a:pPr>
            <a:r>
              <a:rPr lang="en-US" b="1"/>
              <a:t>Full-Wave Dual-Supply</a:t>
            </a:r>
          </a:p>
        </p:txBody>
      </p:sp>
      <p:sp>
        <p:nvSpPr>
          <p:cNvPr id="90115" name="Rectangle 3"/>
          <p:cNvSpPr>
            <a:spLocks noGrp="1" noChangeArrowheads="1"/>
          </p:cNvSpPr>
          <p:nvPr>
            <p:ph type="body" idx="1"/>
          </p:nvPr>
        </p:nvSpPr>
        <p:spPr>
          <a:xfrm>
            <a:off x="682625" y="1066800"/>
            <a:ext cx="8982075" cy="2924810"/>
          </a:xfrm>
        </p:spPr>
        <p:txBody>
          <a:bodyPr/>
          <a:lstStyle/>
          <a:p>
            <a:pPr algn="just" eaLnBrk="1" hangingPunct="1">
              <a:lnSpc>
                <a:spcPct val="90000"/>
              </a:lnSpc>
              <a:defRPr/>
            </a:pPr>
            <a:r>
              <a:rPr lang="en-US" sz="2700"/>
              <a:t>By grounding the center tap, we have two opposite AC sources</a:t>
            </a:r>
          </a:p>
          <a:p>
            <a:pPr lvl="1" algn="just" eaLnBrk="1" hangingPunct="1">
              <a:lnSpc>
                <a:spcPct val="90000"/>
              </a:lnSpc>
              <a:defRPr/>
            </a:pPr>
            <a:r>
              <a:rPr lang="en-US" sz="2700"/>
              <a:t>the diode bridge now presents </a:t>
            </a:r>
            <a:r>
              <a:rPr lang="en-US" sz="2700">
                <a:solidFill>
                  <a:schemeClr val="accent2"/>
                </a:solidFill>
              </a:rPr>
              <a:t>+</a:t>
            </a:r>
            <a:r>
              <a:rPr lang="en-US" sz="2700"/>
              <a:t> and </a:t>
            </a:r>
            <a:r>
              <a:rPr lang="en-US" sz="2700">
                <a:solidFill>
                  <a:schemeClr val="hlink"/>
                </a:solidFill>
                <a:sym typeface="Symbol" panose="05050102010706020507" pitchFamily="18" charset="2"/>
              </a:rPr>
              <a:t></a:t>
            </a:r>
            <a:r>
              <a:rPr lang="en-US" sz="2700">
                <a:sym typeface="Symbol" panose="05050102010706020507" pitchFamily="18" charset="2"/>
              </a:rPr>
              <a:t> voltages relative to ground</a:t>
            </a:r>
          </a:p>
          <a:p>
            <a:pPr lvl="1" algn="just" eaLnBrk="1" hangingPunct="1">
              <a:lnSpc>
                <a:spcPct val="90000"/>
              </a:lnSpc>
              <a:defRPr/>
            </a:pPr>
            <a:r>
              <a:rPr lang="en-US" sz="2700">
                <a:sym typeface="Symbol" panose="05050102010706020507" pitchFamily="18" charset="2"/>
              </a:rPr>
              <a:t>each can be separately smoothed/regulated</a:t>
            </a:r>
          </a:p>
          <a:p>
            <a:pPr lvl="1" algn="just" eaLnBrk="1" hangingPunct="1">
              <a:lnSpc>
                <a:spcPct val="90000"/>
              </a:lnSpc>
              <a:defRPr/>
            </a:pPr>
            <a:r>
              <a:rPr lang="en-US" sz="2700"/>
              <a:t>cutting out diodes A and D makes a half-wave rectifier</a:t>
            </a:r>
          </a:p>
        </p:txBody>
      </p:sp>
      <p:grpSp>
        <p:nvGrpSpPr>
          <p:cNvPr id="39943" name="Group 5"/>
          <p:cNvGrpSpPr/>
          <p:nvPr/>
        </p:nvGrpSpPr>
        <p:grpSpPr bwMode="auto">
          <a:xfrm>
            <a:off x="2428875" y="4943475"/>
            <a:ext cx="381000" cy="381000"/>
            <a:chOff x="768" y="3312"/>
            <a:chExt cx="240" cy="240"/>
          </a:xfrm>
        </p:grpSpPr>
        <p:sp>
          <p:nvSpPr>
            <p:cNvPr id="40060" name="Oval 6"/>
            <p:cNvSpPr>
              <a:spLocks noChangeArrowheads="1"/>
            </p:cNvSpPr>
            <p:nvPr/>
          </p:nvSpPr>
          <p:spPr bwMode="auto">
            <a:xfrm>
              <a:off x="768" y="3312"/>
              <a:ext cx="240" cy="240"/>
            </a:xfrm>
            <a:prstGeom prst="ellipse">
              <a:avLst/>
            </a:prstGeom>
            <a:solidFill>
              <a:schemeClr val="accent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61" name="Freeform 7"/>
            <p:cNvSpPr/>
            <p:nvPr/>
          </p:nvSpPr>
          <p:spPr bwMode="auto">
            <a:xfrm>
              <a:off x="794" y="3385"/>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 name="T10" fmla="*/ 0 60000 65536"/>
                <a:gd name="T11" fmla="*/ 0 60000 65536"/>
                <a:gd name="T12" fmla="*/ 0 60000 65536"/>
                <a:gd name="T13" fmla="*/ 0 60000 65536"/>
                <a:gd name="T14" fmla="*/ 0 60000 65536"/>
                <a:gd name="T15" fmla="*/ 0 w 192"/>
                <a:gd name="T16" fmla="*/ 0 h 96"/>
                <a:gd name="T17" fmla="*/ 192 w 192"/>
                <a:gd name="T18" fmla="*/ 96 h 96"/>
              </a:gdLst>
              <a:ahLst/>
              <a:cxnLst>
                <a:cxn ang="T10">
                  <a:pos x="T0" y="T1"/>
                </a:cxn>
                <a:cxn ang="T11">
                  <a:pos x="T2" y="T3"/>
                </a:cxn>
                <a:cxn ang="T12">
                  <a:pos x="T4" y="T5"/>
                </a:cxn>
                <a:cxn ang="T13">
                  <a:pos x="T6" y="T7"/>
                </a:cxn>
                <a:cxn ang="T14">
                  <a:pos x="T8" y="T9"/>
                </a:cxn>
              </a:cxnLst>
              <a:rect l="T15" t="T16" r="T17" b="T18"/>
              <a:pathLst>
                <a:path w="192" h="96">
                  <a:moveTo>
                    <a:pt x="0" y="48"/>
                  </a:moveTo>
                  <a:cubicBezTo>
                    <a:pt x="16" y="24"/>
                    <a:pt x="32" y="0"/>
                    <a:pt x="48" y="0"/>
                  </a:cubicBezTo>
                  <a:cubicBezTo>
                    <a:pt x="64" y="0"/>
                    <a:pt x="80" y="32"/>
                    <a:pt x="96" y="48"/>
                  </a:cubicBezTo>
                  <a:cubicBezTo>
                    <a:pt x="112" y="64"/>
                    <a:pt x="128" y="96"/>
                    <a:pt x="144" y="96"/>
                  </a:cubicBezTo>
                  <a:cubicBezTo>
                    <a:pt x="160" y="96"/>
                    <a:pt x="184" y="56"/>
                    <a:pt x="192" y="48"/>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39944" name="Group 8"/>
          <p:cNvGrpSpPr/>
          <p:nvPr/>
        </p:nvGrpSpPr>
        <p:grpSpPr bwMode="auto">
          <a:xfrm>
            <a:off x="7740015" y="5383530"/>
            <a:ext cx="152400" cy="554990"/>
            <a:chOff x="1104" y="3264"/>
            <a:chExt cx="96" cy="336"/>
          </a:xfrm>
        </p:grpSpPr>
        <p:sp>
          <p:nvSpPr>
            <p:cNvPr id="40053" name="Line 9"/>
            <p:cNvSpPr>
              <a:spLocks noChangeShapeType="1"/>
            </p:cNvSpPr>
            <p:nvPr/>
          </p:nvSpPr>
          <p:spPr bwMode="auto">
            <a:xfrm>
              <a:off x="1152" y="3264"/>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4" name="Line 10"/>
            <p:cNvSpPr>
              <a:spLocks noChangeShapeType="1"/>
            </p:cNvSpPr>
            <p:nvPr/>
          </p:nvSpPr>
          <p:spPr bwMode="auto">
            <a:xfrm flipH="1">
              <a:off x="1104" y="3312"/>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5" name="Line 11"/>
            <p:cNvSpPr>
              <a:spLocks noChangeShapeType="1"/>
            </p:cNvSpPr>
            <p:nvPr/>
          </p:nvSpPr>
          <p:spPr bwMode="auto">
            <a:xfrm>
              <a:off x="1104" y="3360"/>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6" name="Line 12"/>
            <p:cNvSpPr>
              <a:spLocks noChangeShapeType="1"/>
            </p:cNvSpPr>
            <p:nvPr/>
          </p:nvSpPr>
          <p:spPr bwMode="auto">
            <a:xfrm flipH="1">
              <a:off x="1104" y="3408"/>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7" name="Line 13"/>
            <p:cNvSpPr>
              <a:spLocks noChangeShapeType="1"/>
            </p:cNvSpPr>
            <p:nvPr/>
          </p:nvSpPr>
          <p:spPr bwMode="auto">
            <a:xfrm>
              <a:off x="1104" y="3456"/>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8" name="Line 14"/>
            <p:cNvSpPr>
              <a:spLocks noChangeShapeType="1"/>
            </p:cNvSpPr>
            <p:nvPr/>
          </p:nvSpPr>
          <p:spPr bwMode="auto">
            <a:xfrm flipH="1">
              <a:off x="1104" y="3504"/>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9" name="Line 15"/>
            <p:cNvSpPr>
              <a:spLocks noChangeShapeType="1"/>
            </p:cNvSpPr>
            <p:nvPr/>
          </p:nvSpPr>
          <p:spPr bwMode="auto">
            <a:xfrm>
              <a:off x="1104" y="3552"/>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9945" name="Line 16"/>
          <p:cNvSpPr>
            <a:spLocks noChangeShapeType="1"/>
          </p:cNvSpPr>
          <p:nvPr/>
        </p:nvSpPr>
        <p:spPr bwMode="auto">
          <a:xfrm flipV="1">
            <a:off x="7816215" y="5059045"/>
            <a:ext cx="635" cy="31686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46" name="Line 17"/>
          <p:cNvSpPr>
            <a:spLocks noChangeShapeType="1"/>
          </p:cNvSpPr>
          <p:nvPr/>
        </p:nvSpPr>
        <p:spPr bwMode="auto">
          <a:xfrm>
            <a:off x="7816215" y="5938520"/>
            <a:ext cx="635" cy="31686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9947" name="Group 18"/>
          <p:cNvGrpSpPr/>
          <p:nvPr/>
        </p:nvGrpSpPr>
        <p:grpSpPr bwMode="auto">
          <a:xfrm rot="2695030">
            <a:off x="5273675" y="5381625"/>
            <a:ext cx="1219200" cy="238760"/>
            <a:chOff x="912" y="3023"/>
            <a:chExt cx="768" cy="145"/>
          </a:xfrm>
        </p:grpSpPr>
        <p:sp>
          <p:nvSpPr>
            <p:cNvPr id="40050" name="Line 19"/>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51" name="AutoShape 20"/>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52" name="Line 21"/>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9948" name="Group 22"/>
          <p:cNvGrpSpPr/>
          <p:nvPr/>
        </p:nvGrpSpPr>
        <p:grpSpPr bwMode="auto">
          <a:xfrm rot="18904970" flipV="1">
            <a:off x="5270500" y="4547870"/>
            <a:ext cx="1219200" cy="230188"/>
            <a:chOff x="912" y="3023"/>
            <a:chExt cx="768" cy="145"/>
          </a:xfrm>
        </p:grpSpPr>
        <p:sp>
          <p:nvSpPr>
            <p:cNvPr id="40047" name="Line 23"/>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48" name="AutoShape 24"/>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49" name="Line 25"/>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9949" name="Group 26"/>
          <p:cNvGrpSpPr/>
          <p:nvPr/>
        </p:nvGrpSpPr>
        <p:grpSpPr bwMode="auto">
          <a:xfrm rot="2695030">
            <a:off x="6165850" y="4546600"/>
            <a:ext cx="1219200" cy="230188"/>
            <a:chOff x="912" y="3023"/>
            <a:chExt cx="768" cy="145"/>
          </a:xfrm>
        </p:grpSpPr>
        <p:sp>
          <p:nvSpPr>
            <p:cNvPr id="40044" name="Line 27"/>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45" name="AutoShape 28"/>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46" name="Line 29"/>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9950" name="Group 30"/>
          <p:cNvGrpSpPr/>
          <p:nvPr/>
        </p:nvGrpSpPr>
        <p:grpSpPr bwMode="auto">
          <a:xfrm rot="18904970" flipV="1">
            <a:off x="6122670" y="5370195"/>
            <a:ext cx="1269365" cy="229870"/>
            <a:chOff x="912" y="3023"/>
            <a:chExt cx="768" cy="145"/>
          </a:xfrm>
        </p:grpSpPr>
        <p:sp>
          <p:nvSpPr>
            <p:cNvPr id="40041" name="Line 31"/>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42" name="AutoShape 32"/>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43" name="Line 33"/>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9951" name="Oval 34"/>
          <p:cNvSpPr>
            <a:spLocks noChangeArrowheads="1"/>
          </p:cNvSpPr>
          <p:nvPr/>
        </p:nvSpPr>
        <p:spPr bwMode="auto">
          <a:xfrm>
            <a:off x="6286500" y="4212908"/>
            <a:ext cx="76200" cy="7620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52" name="Oval 35"/>
          <p:cNvSpPr>
            <a:spLocks noChangeArrowheads="1"/>
          </p:cNvSpPr>
          <p:nvPr/>
        </p:nvSpPr>
        <p:spPr bwMode="auto">
          <a:xfrm>
            <a:off x="6266815" y="5885815"/>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53" name="Oval 36"/>
          <p:cNvSpPr>
            <a:spLocks noChangeArrowheads="1"/>
          </p:cNvSpPr>
          <p:nvPr/>
        </p:nvSpPr>
        <p:spPr bwMode="auto">
          <a:xfrm>
            <a:off x="5440045" y="5071110"/>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54" name="Oval 37"/>
          <p:cNvSpPr>
            <a:spLocks noChangeArrowheads="1"/>
          </p:cNvSpPr>
          <p:nvPr/>
        </p:nvSpPr>
        <p:spPr bwMode="auto">
          <a:xfrm>
            <a:off x="7130415" y="5021580"/>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55" name="Line 44"/>
          <p:cNvSpPr>
            <a:spLocks noChangeShapeType="1"/>
          </p:cNvSpPr>
          <p:nvPr/>
        </p:nvSpPr>
        <p:spPr bwMode="auto">
          <a:xfrm flipH="1">
            <a:off x="5222240" y="5097780"/>
            <a:ext cx="228600" cy="63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56" name="Line 45"/>
          <p:cNvSpPr>
            <a:spLocks noChangeShapeType="1"/>
          </p:cNvSpPr>
          <p:nvPr/>
        </p:nvSpPr>
        <p:spPr bwMode="auto">
          <a:xfrm>
            <a:off x="5219065" y="5092700"/>
            <a:ext cx="635" cy="79311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57" name="Line 47"/>
          <p:cNvSpPr>
            <a:spLocks noChangeShapeType="1"/>
          </p:cNvSpPr>
          <p:nvPr/>
        </p:nvSpPr>
        <p:spPr bwMode="auto">
          <a:xfrm>
            <a:off x="7130415" y="5059045"/>
            <a:ext cx="685800" cy="63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58" name="Text Box 48"/>
          <p:cNvSpPr txBox="1">
            <a:spLocks noChangeArrowheads="1"/>
          </p:cNvSpPr>
          <p:nvPr/>
        </p:nvSpPr>
        <p:spPr bwMode="auto">
          <a:xfrm>
            <a:off x="5516245" y="4266248"/>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A</a:t>
            </a:r>
            <a:endParaRPr lang="en-US" altLang="en-US" sz="1800">
              <a:solidFill>
                <a:srgbClr val="1B28F6"/>
              </a:solidFill>
            </a:endParaRPr>
          </a:p>
        </p:txBody>
      </p:sp>
      <p:sp>
        <p:nvSpPr>
          <p:cNvPr id="39959" name="Text Box 49"/>
          <p:cNvSpPr txBox="1">
            <a:spLocks noChangeArrowheads="1"/>
          </p:cNvSpPr>
          <p:nvPr/>
        </p:nvSpPr>
        <p:spPr bwMode="auto">
          <a:xfrm>
            <a:off x="5614035" y="5777231"/>
            <a:ext cx="349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C</a:t>
            </a:r>
            <a:endParaRPr lang="en-US" altLang="en-US" sz="1800">
              <a:solidFill>
                <a:srgbClr val="1B28F6"/>
              </a:solidFill>
            </a:endParaRPr>
          </a:p>
        </p:txBody>
      </p:sp>
      <p:sp>
        <p:nvSpPr>
          <p:cNvPr id="39960" name="Text Box 50"/>
          <p:cNvSpPr txBox="1">
            <a:spLocks noChangeArrowheads="1"/>
          </p:cNvSpPr>
          <p:nvPr/>
        </p:nvSpPr>
        <p:spPr bwMode="auto">
          <a:xfrm rot="10800000" flipV="1">
            <a:off x="6747510" y="4212590"/>
            <a:ext cx="3390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B</a:t>
            </a:r>
            <a:endParaRPr lang="en-US" altLang="en-US" sz="1800">
              <a:solidFill>
                <a:srgbClr val="1B28F6"/>
              </a:solidFill>
            </a:endParaRPr>
          </a:p>
        </p:txBody>
      </p:sp>
      <p:sp>
        <p:nvSpPr>
          <p:cNvPr id="39961" name="Text Box 51"/>
          <p:cNvSpPr txBox="1">
            <a:spLocks noChangeArrowheads="1"/>
          </p:cNvSpPr>
          <p:nvPr/>
        </p:nvSpPr>
        <p:spPr bwMode="auto">
          <a:xfrm>
            <a:off x="6904990" y="5541011"/>
            <a:ext cx="349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D</a:t>
            </a:r>
            <a:endParaRPr lang="en-US" altLang="en-US" sz="1800">
              <a:solidFill>
                <a:srgbClr val="1B28F6"/>
              </a:solidFill>
            </a:endParaRPr>
          </a:p>
        </p:txBody>
      </p:sp>
      <p:sp>
        <p:nvSpPr>
          <p:cNvPr id="39962" name="Text Box 52"/>
          <p:cNvSpPr txBox="1">
            <a:spLocks noChangeArrowheads="1"/>
          </p:cNvSpPr>
          <p:nvPr/>
        </p:nvSpPr>
        <p:spPr bwMode="auto">
          <a:xfrm>
            <a:off x="1080770" y="4965701"/>
            <a:ext cx="1250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rgbClr val="0B871F"/>
                </a:solidFill>
              </a:rPr>
              <a:t>AC source</a:t>
            </a:r>
          </a:p>
        </p:txBody>
      </p:sp>
      <p:sp>
        <p:nvSpPr>
          <p:cNvPr id="39963" name="Text Box 53"/>
          <p:cNvSpPr txBox="1">
            <a:spLocks noChangeArrowheads="1"/>
          </p:cNvSpPr>
          <p:nvPr/>
        </p:nvSpPr>
        <p:spPr bwMode="auto">
          <a:xfrm>
            <a:off x="7931785" y="5469255"/>
            <a:ext cx="83121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rPr>
              <a:t>+ load</a:t>
            </a:r>
          </a:p>
        </p:txBody>
      </p:sp>
      <p:grpSp>
        <p:nvGrpSpPr>
          <p:cNvPr id="39964" name="Group 55"/>
          <p:cNvGrpSpPr/>
          <p:nvPr/>
        </p:nvGrpSpPr>
        <p:grpSpPr bwMode="auto">
          <a:xfrm>
            <a:off x="2619058" y="4564063"/>
            <a:ext cx="1676400" cy="1219200"/>
            <a:chOff x="3264" y="2496"/>
            <a:chExt cx="1056" cy="768"/>
          </a:xfrm>
        </p:grpSpPr>
        <p:grpSp>
          <p:nvGrpSpPr>
            <p:cNvPr id="40012" name="Group 56"/>
            <p:cNvGrpSpPr/>
            <p:nvPr/>
          </p:nvGrpSpPr>
          <p:grpSpPr bwMode="auto">
            <a:xfrm>
              <a:off x="3840" y="2496"/>
              <a:ext cx="96" cy="192"/>
              <a:chOff x="3840" y="2496"/>
              <a:chExt cx="96" cy="192"/>
            </a:xfrm>
          </p:grpSpPr>
          <p:sp>
            <p:nvSpPr>
              <p:cNvPr id="40039" name="Arc 57"/>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40" name="Arc 58"/>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3" name="Group 59"/>
            <p:cNvGrpSpPr/>
            <p:nvPr/>
          </p:nvGrpSpPr>
          <p:grpSpPr bwMode="auto">
            <a:xfrm>
              <a:off x="3840" y="2688"/>
              <a:ext cx="96" cy="192"/>
              <a:chOff x="3840" y="2496"/>
              <a:chExt cx="96" cy="192"/>
            </a:xfrm>
          </p:grpSpPr>
          <p:sp>
            <p:nvSpPr>
              <p:cNvPr id="40037" name="Arc 60"/>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38" name="Arc 61"/>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4" name="Group 62"/>
            <p:cNvGrpSpPr/>
            <p:nvPr/>
          </p:nvGrpSpPr>
          <p:grpSpPr bwMode="auto">
            <a:xfrm>
              <a:off x="3840" y="2880"/>
              <a:ext cx="96" cy="192"/>
              <a:chOff x="3840" y="2496"/>
              <a:chExt cx="96" cy="192"/>
            </a:xfrm>
          </p:grpSpPr>
          <p:sp>
            <p:nvSpPr>
              <p:cNvPr id="40035" name="Arc 63"/>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36" name="Arc 64"/>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5" name="Group 65"/>
            <p:cNvGrpSpPr/>
            <p:nvPr/>
          </p:nvGrpSpPr>
          <p:grpSpPr bwMode="auto">
            <a:xfrm>
              <a:off x="3840" y="3072"/>
              <a:ext cx="96" cy="192"/>
              <a:chOff x="3840" y="2496"/>
              <a:chExt cx="96" cy="192"/>
            </a:xfrm>
          </p:grpSpPr>
          <p:sp>
            <p:nvSpPr>
              <p:cNvPr id="40033" name="Arc 66"/>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34" name="Arc 67"/>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6" name="Group 68"/>
            <p:cNvGrpSpPr/>
            <p:nvPr/>
          </p:nvGrpSpPr>
          <p:grpSpPr bwMode="auto">
            <a:xfrm flipH="1">
              <a:off x="3648" y="3072"/>
              <a:ext cx="96" cy="192"/>
              <a:chOff x="3840" y="2496"/>
              <a:chExt cx="96" cy="192"/>
            </a:xfrm>
          </p:grpSpPr>
          <p:sp>
            <p:nvSpPr>
              <p:cNvPr id="40031" name="Arc 69"/>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32" name="Arc 70"/>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7" name="Group 71"/>
            <p:cNvGrpSpPr/>
            <p:nvPr/>
          </p:nvGrpSpPr>
          <p:grpSpPr bwMode="auto">
            <a:xfrm flipH="1">
              <a:off x="3648" y="2496"/>
              <a:ext cx="96" cy="192"/>
              <a:chOff x="3840" y="2496"/>
              <a:chExt cx="96" cy="192"/>
            </a:xfrm>
          </p:grpSpPr>
          <p:sp>
            <p:nvSpPr>
              <p:cNvPr id="40029" name="Arc 72"/>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30" name="Arc 73"/>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8" name="Group 74"/>
            <p:cNvGrpSpPr/>
            <p:nvPr/>
          </p:nvGrpSpPr>
          <p:grpSpPr bwMode="auto">
            <a:xfrm flipH="1">
              <a:off x="3648" y="2688"/>
              <a:ext cx="96" cy="192"/>
              <a:chOff x="3840" y="2496"/>
              <a:chExt cx="96" cy="192"/>
            </a:xfrm>
          </p:grpSpPr>
          <p:sp>
            <p:nvSpPr>
              <p:cNvPr id="40027" name="Arc 75"/>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28" name="Arc 76"/>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0019" name="Group 77"/>
            <p:cNvGrpSpPr/>
            <p:nvPr/>
          </p:nvGrpSpPr>
          <p:grpSpPr bwMode="auto">
            <a:xfrm flipH="1">
              <a:off x="3648" y="2880"/>
              <a:ext cx="96" cy="192"/>
              <a:chOff x="3840" y="2496"/>
              <a:chExt cx="96" cy="192"/>
            </a:xfrm>
          </p:grpSpPr>
          <p:sp>
            <p:nvSpPr>
              <p:cNvPr id="40025" name="Arc 78"/>
              <p:cNvSpPr/>
              <p:nvPr/>
            </p:nvSpPr>
            <p:spPr bwMode="auto">
              <a:xfrm flipH="1">
                <a:off x="3840" y="2496"/>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0026" name="Arc 79"/>
              <p:cNvSpPr/>
              <p:nvPr/>
            </p:nvSpPr>
            <p:spPr bwMode="auto">
              <a:xfrm flipH="1" flipV="1">
                <a:off x="3840" y="2592"/>
                <a:ext cx="96"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40020" name="Line 80"/>
            <p:cNvSpPr>
              <a:spLocks noChangeShapeType="1"/>
            </p:cNvSpPr>
            <p:nvPr/>
          </p:nvSpPr>
          <p:spPr bwMode="auto">
            <a:xfrm flipH="1">
              <a:off x="3264" y="2496"/>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21" name="Line 81"/>
            <p:cNvSpPr>
              <a:spLocks noChangeShapeType="1"/>
            </p:cNvSpPr>
            <p:nvPr/>
          </p:nvSpPr>
          <p:spPr bwMode="auto">
            <a:xfrm flipH="1">
              <a:off x="3264" y="3264"/>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22" name="Line 82"/>
            <p:cNvSpPr>
              <a:spLocks noChangeShapeType="1"/>
            </p:cNvSpPr>
            <p:nvPr/>
          </p:nvSpPr>
          <p:spPr bwMode="auto">
            <a:xfrm flipH="1">
              <a:off x="3936" y="3264"/>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23" name="Line 83"/>
            <p:cNvSpPr>
              <a:spLocks noChangeShapeType="1"/>
            </p:cNvSpPr>
            <p:nvPr/>
          </p:nvSpPr>
          <p:spPr bwMode="auto">
            <a:xfrm flipH="1">
              <a:off x="3936" y="2880"/>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24" name="Line 84"/>
            <p:cNvSpPr>
              <a:spLocks noChangeShapeType="1"/>
            </p:cNvSpPr>
            <p:nvPr/>
          </p:nvSpPr>
          <p:spPr bwMode="auto">
            <a:xfrm flipH="1">
              <a:off x="3936" y="2496"/>
              <a:ext cx="38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9965" name="Line 90"/>
          <p:cNvSpPr>
            <a:spLocks noChangeShapeType="1"/>
          </p:cNvSpPr>
          <p:nvPr/>
        </p:nvSpPr>
        <p:spPr bwMode="auto">
          <a:xfrm>
            <a:off x="2619375" y="4556760"/>
            <a:ext cx="635" cy="3810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66" name="Line 91"/>
          <p:cNvSpPr>
            <a:spLocks noChangeShapeType="1"/>
          </p:cNvSpPr>
          <p:nvPr/>
        </p:nvSpPr>
        <p:spPr bwMode="auto">
          <a:xfrm flipV="1">
            <a:off x="2620645" y="5334000"/>
            <a:ext cx="3810" cy="4572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39967" name="Group 92"/>
          <p:cNvGrpSpPr/>
          <p:nvPr/>
        </p:nvGrpSpPr>
        <p:grpSpPr bwMode="auto">
          <a:xfrm>
            <a:off x="4109720" y="5167630"/>
            <a:ext cx="304800" cy="304800"/>
            <a:chOff x="4032" y="1968"/>
            <a:chExt cx="192" cy="192"/>
          </a:xfrm>
        </p:grpSpPr>
        <p:sp>
          <p:nvSpPr>
            <p:cNvPr id="40008" name="Line 93"/>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9" name="Line 94"/>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10" name="Line 95"/>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11" name="Line 96"/>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9970" name="Group 112"/>
          <p:cNvGrpSpPr/>
          <p:nvPr/>
        </p:nvGrpSpPr>
        <p:grpSpPr bwMode="auto">
          <a:xfrm>
            <a:off x="5066665" y="5866765"/>
            <a:ext cx="304800" cy="872490"/>
            <a:chOff x="2160" y="3312"/>
            <a:chExt cx="192" cy="528"/>
          </a:xfrm>
        </p:grpSpPr>
        <p:grpSp>
          <p:nvGrpSpPr>
            <p:cNvPr id="39995" name="Group 99"/>
            <p:cNvGrpSpPr/>
            <p:nvPr/>
          </p:nvGrpSpPr>
          <p:grpSpPr bwMode="auto">
            <a:xfrm>
              <a:off x="2208" y="3312"/>
              <a:ext cx="96" cy="336"/>
              <a:chOff x="1104" y="3264"/>
              <a:chExt cx="96" cy="336"/>
            </a:xfrm>
          </p:grpSpPr>
          <p:sp>
            <p:nvSpPr>
              <p:cNvPr id="40001" name="Line 100"/>
              <p:cNvSpPr>
                <a:spLocks noChangeShapeType="1"/>
              </p:cNvSpPr>
              <p:nvPr/>
            </p:nvSpPr>
            <p:spPr bwMode="auto">
              <a:xfrm>
                <a:off x="1152" y="3264"/>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2" name="Line 101"/>
              <p:cNvSpPr>
                <a:spLocks noChangeShapeType="1"/>
              </p:cNvSpPr>
              <p:nvPr/>
            </p:nvSpPr>
            <p:spPr bwMode="auto">
              <a:xfrm flipH="1">
                <a:off x="1104" y="3312"/>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3" name="Line 102"/>
              <p:cNvSpPr>
                <a:spLocks noChangeShapeType="1"/>
              </p:cNvSpPr>
              <p:nvPr/>
            </p:nvSpPr>
            <p:spPr bwMode="auto">
              <a:xfrm>
                <a:off x="1104" y="3360"/>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4" name="Line 103"/>
              <p:cNvSpPr>
                <a:spLocks noChangeShapeType="1"/>
              </p:cNvSpPr>
              <p:nvPr/>
            </p:nvSpPr>
            <p:spPr bwMode="auto">
              <a:xfrm flipH="1">
                <a:off x="1104" y="3408"/>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5" name="Line 104"/>
              <p:cNvSpPr>
                <a:spLocks noChangeShapeType="1"/>
              </p:cNvSpPr>
              <p:nvPr/>
            </p:nvSpPr>
            <p:spPr bwMode="auto">
              <a:xfrm>
                <a:off x="1104" y="3456"/>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6" name="Line 105"/>
              <p:cNvSpPr>
                <a:spLocks noChangeShapeType="1"/>
              </p:cNvSpPr>
              <p:nvPr/>
            </p:nvSpPr>
            <p:spPr bwMode="auto">
              <a:xfrm flipH="1">
                <a:off x="1104" y="3504"/>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7" name="Line 106"/>
              <p:cNvSpPr>
                <a:spLocks noChangeShapeType="1"/>
              </p:cNvSpPr>
              <p:nvPr/>
            </p:nvSpPr>
            <p:spPr bwMode="auto">
              <a:xfrm>
                <a:off x="1104" y="3552"/>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39996" name="Group 107"/>
            <p:cNvGrpSpPr/>
            <p:nvPr/>
          </p:nvGrpSpPr>
          <p:grpSpPr bwMode="auto">
            <a:xfrm>
              <a:off x="2160" y="3648"/>
              <a:ext cx="192" cy="192"/>
              <a:chOff x="4032" y="1968"/>
              <a:chExt cx="192" cy="192"/>
            </a:xfrm>
          </p:grpSpPr>
          <p:sp>
            <p:nvSpPr>
              <p:cNvPr id="39997" name="Line 108"/>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98" name="Line 109"/>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99" name="Line 110"/>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0000" name="Line 111"/>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grpSp>
        <p:nvGrpSpPr>
          <p:cNvPr id="39971" name="Group 113"/>
          <p:cNvGrpSpPr/>
          <p:nvPr/>
        </p:nvGrpSpPr>
        <p:grpSpPr bwMode="auto">
          <a:xfrm>
            <a:off x="7664450" y="6129655"/>
            <a:ext cx="304800" cy="316865"/>
            <a:chOff x="4032" y="1968"/>
            <a:chExt cx="192" cy="192"/>
          </a:xfrm>
        </p:grpSpPr>
        <p:sp>
          <p:nvSpPr>
            <p:cNvPr id="39991" name="Line 114"/>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92" name="Line 115"/>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93" name="Line 116"/>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94" name="Line 117"/>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39972" name="Text Box 118"/>
          <p:cNvSpPr txBox="1">
            <a:spLocks noChangeArrowheads="1"/>
          </p:cNvSpPr>
          <p:nvPr/>
        </p:nvSpPr>
        <p:spPr bwMode="auto">
          <a:xfrm>
            <a:off x="4414521" y="5932171"/>
            <a:ext cx="8048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sym typeface="Symbol" panose="05050102010706020507" pitchFamily="18" charset="2"/>
              </a:rPr>
              <a:t></a:t>
            </a:r>
            <a:r>
              <a:rPr lang="en-US" altLang="en-US" sz="1800">
                <a:solidFill>
                  <a:schemeClr val="accent1">
                    <a:lumMod val="10000"/>
                  </a:schemeClr>
                </a:solidFill>
              </a:rPr>
              <a:t> load</a:t>
            </a:r>
          </a:p>
        </p:txBody>
      </p:sp>
      <p:sp>
        <p:nvSpPr>
          <p:cNvPr id="39973" name="Line 119"/>
          <p:cNvSpPr>
            <a:spLocks noChangeShapeType="1"/>
          </p:cNvSpPr>
          <p:nvPr/>
        </p:nvSpPr>
        <p:spPr bwMode="auto">
          <a:xfrm flipH="1">
            <a:off x="8552180" y="4488180"/>
            <a:ext cx="14605"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74" name="Text Box 120"/>
          <p:cNvSpPr txBox="1">
            <a:spLocks noChangeArrowheads="1"/>
          </p:cNvSpPr>
          <p:nvPr/>
        </p:nvSpPr>
        <p:spPr bwMode="auto">
          <a:xfrm>
            <a:off x="9038591" y="5364480"/>
            <a:ext cx="22510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600">
                <a:solidFill>
                  <a:srgbClr val="000000"/>
                </a:solidFill>
              </a:rPr>
              <a:t>voltages seen by loads</a:t>
            </a:r>
          </a:p>
        </p:txBody>
      </p:sp>
      <p:grpSp>
        <p:nvGrpSpPr>
          <p:cNvPr id="39975" name="Group 121"/>
          <p:cNvGrpSpPr/>
          <p:nvPr/>
        </p:nvGrpSpPr>
        <p:grpSpPr bwMode="auto">
          <a:xfrm>
            <a:off x="8552180" y="4507230"/>
            <a:ext cx="3048000" cy="381000"/>
            <a:chOff x="3312" y="3696"/>
            <a:chExt cx="1920" cy="240"/>
          </a:xfrm>
        </p:grpSpPr>
        <p:sp>
          <p:nvSpPr>
            <p:cNvPr id="39986" name="Line 122"/>
            <p:cNvSpPr>
              <a:spLocks noChangeShapeType="1"/>
            </p:cNvSpPr>
            <p:nvPr/>
          </p:nvSpPr>
          <p:spPr bwMode="auto">
            <a:xfrm>
              <a:off x="3312" y="3936"/>
              <a:ext cx="1824" cy="0"/>
            </a:xfrm>
            <a:prstGeom prst="line">
              <a:avLst/>
            </a:prstGeom>
            <a:noFill/>
            <a:ln w="9525">
              <a:solidFill>
                <a:schemeClr val="accent2"/>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87" name="Freeform 123"/>
            <p:cNvSpPr/>
            <p:nvPr/>
          </p:nvSpPr>
          <p:spPr bwMode="auto">
            <a:xfrm>
              <a:off x="331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88" name="Freeform 124"/>
            <p:cNvSpPr/>
            <p:nvPr/>
          </p:nvSpPr>
          <p:spPr bwMode="auto">
            <a:xfrm>
              <a:off x="427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89" name="Freeform 125"/>
            <p:cNvSpPr/>
            <p:nvPr/>
          </p:nvSpPr>
          <p:spPr bwMode="auto">
            <a:xfrm>
              <a:off x="379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90" name="Freeform 126"/>
            <p:cNvSpPr/>
            <p:nvPr/>
          </p:nvSpPr>
          <p:spPr bwMode="auto">
            <a:xfrm>
              <a:off x="475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39976" name="Group 127"/>
          <p:cNvGrpSpPr/>
          <p:nvPr/>
        </p:nvGrpSpPr>
        <p:grpSpPr bwMode="auto">
          <a:xfrm flipV="1">
            <a:off x="8551545" y="4868545"/>
            <a:ext cx="3048000" cy="381000"/>
            <a:chOff x="3312" y="3696"/>
            <a:chExt cx="1920" cy="240"/>
          </a:xfrm>
        </p:grpSpPr>
        <p:sp>
          <p:nvSpPr>
            <p:cNvPr id="39981" name="Line 128"/>
            <p:cNvSpPr>
              <a:spLocks noChangeShapeType="1"/>
            </p:cNvSpPr>
            <p:nvPr/>
          </p:nvSpPr>
          <p:spPr bwMode="auto">
            <a:xfrm>
              <a:off x="3312" y="3936"/>
              <a:ext cx="1824" cy="0"/>
            </a:xfrm>
            <a:prstGeom prst="line">
              <a:avLst/>
            </a:prstGeom>
            <a:noFill/>
            <a:ln w="9525">
              <a:solidFill>
                <a:schemeClr val="hlink"/>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39982" name="Freeform 129"/>
            <p:cNvSpPr/>
            <p:nvPr/>
          </p:nvSpPr>
          <p:spPr bwMode="auto">
            <a:xfrm>
              <a:off x="331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83" name="Freeform 130"/>
            <p:cNvSpPr/>
            <p:nvPr/>
          </p:nvSpPr>
          <p:spPr bwMode="auto">
            <a:xfrm>
              <a:off x="427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84" name="Freeform 131"/>
            <p:cNvSpPr/>
            <p:nvPr/>
          </p:nvSpPr>
          <p:spPr bwMode="auto">
            <a:xfrm>
              <a:off x="379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39985" name="Freeform 132"/>
            <p:cNvSpPr/>
            <p:nvPr/>
          </p:nvSpPr>
          <p:spPr bwMode="auto">
            <a:xfrm>
              <a:off x="475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15875">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39977" name="Line 133"/>
          <p:cNvSpPr>
            <a:spLocks noChangeShapeType="1"/>
          </p:cNvSpPr>
          <p:nvPr/>
        </p:nvSpPr>
        <p:spPr bwMode="auto">
          <a:xfrm>
            <a:off x="8526145" y="4869180"/>
            <a:ext cx="32766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pic>
        <p:nvPicPr>
          <p:cNvPr id="39978" name="Picture 135" descr="diode_brid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2659" y="1952625"/>
            <a:ext cx="1614487"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79" name="Text Box 136"/>
          <p:cNvSpPr txBox="1">
            <a:spLocks noChangeArrowheads="1"/>
          </p:cNvSpPr>
          <p:nvPr/>
        </p:nvSpPr>
        <p:spPr bwMode="auto">
          <a:xfrm>
            <a:off x="9267190" y="3629025"/>
            <a:ext cx="253555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r" eaLnBrk="0" fontAlgn="base" hangingPunct="0">
              <a:spcBef>
                <a:spcPct val="0"/>
              </a:spcBef>
              <a:spcAft>
                <a:spcPct val="0"/>
              </a:spcAft>
            </a:pPr>
            <a:r>
              <a:rPr lang="en-US" altLang="en-US" sz="1600">
                <a:solidFill>
                  <a:schemeClr val="accent1">
                    <a:lumMod val="10000"/>
                  </a:schemeClr>
                </a:solidFill>
              </a:rPr>
              <a:t>can buy pre-packaged diode bridges</a:t>
            </a:r>
          </a:p>
        </p:txBody>
      </p:sp>
      <p:cxnSp>
        <p:nvCxnSpPr>
          <p:cNvPr id="2" name="Straight Connector 1"/>
          <p:cNvCxnSpPr/>
          <p:nvPr/>
        </p:nvCxnSpPr>
        <p:spPr>
          <a:xfrm flipH="1">
            <a:off x="4272915" y="5783580"/>
            <a:ext cx="8890" cy="55626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4" name="Straight Connector 3"/>
          <p:cNvCxnSpPr>
            <a:stCxn id="40041" idx="1"/>
          </p:cNvCxnSpPr>
          <p:nvPr/>
        </p:nvCxnSpPr>
        <p:spPr>
          <a:xfrm flipH="1">
            <a:off x="6306820" y="5932805"/>
            <a:ext cx="635" cy="40386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7" name="Straight Connector 6"/>
          <p:cNvCxnSpPr/>
          <p:nvPr/>
        </p:nvCxnSpPr>
        <p:spPr>
          <a:xfrm flipH="1" flipV="1">
            <a:off x="4330700" y="6327775"/>
            <a:ext cx="2011680" cy="1460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sp>
        <p:nvSpPr>
          <p:cNvPr id="8" name="Oval 35"/>
          <p:cNvSpPr>
            <a:spLocks noChangeArrowheads="1"/>
          </p:cNvSpPr>
          <p:nvPr/>
        </p:nvSpPr>
        <p:spPr bwMode="auto">
          <a:xfrm>
            <a:off x="6266180" y="6288405"/>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9" name="Oval 35"/>
          <p:cNvSpPr>
            <a:spLocks noChangeArrowheads="1"/>
          </p:cNvSpPr>
          <p:nvPr/>
        </p:nvSpPr>
        <p:spPr bwMode="auto">
          <a:xfrm>
            <a:off x="4262120" y="6300470"/>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cxnSp>
        <p:nvCxnSpPr>
          <p:cNvPr id="10" name="Straight Connector 9"/>
          <p:cNvCxnSpPr/>
          <p:nvPr/>
        </p:nvCxnSpPr>
        <p:spPr>
          <a:xfrm>
            <a:off x="4316730" y="4038600"/>
            <a:ext cx="13970" cy="50101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11" name="Straight Connector 10"/>
          <p:cNvCxnSpPr/>
          <p:nvPr/>
        </p:nvCxnSpPr>
        <p:spPr>
          <a:xfrm flipH="1" flipV="1">
            <a:off x="4302760" y="4023995"/>
            <a:ext cx="2011680" cy="14605"/>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cxnSp>
        <p:nvCxnSpPr>
          <p:cNvPr id="13" name="Straight Connector 12"/>
          <p:cNvCxnSpPr/>
          <p:nvPr/>
        </p:nvCxnSpPr>
        <p:spPr>
          <a:xfrm flipH="1">
            <a:off x="6306820" y="4007485"/>
            <a:ext cx="10795" cy="281940"/>
          </a:xfrm>
          <a:prstGeom prst="lin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cxnSp>
      <p:sp>
        <p:nvSpPr>
          <p:cNvPr id="14" name="Oval 35"/>
          <p:cNvSpPr>
            <a:spLocks noChangeArrowheads="1"/>
          </p:cNvSpPr>
          <p:nvPr/>
        </p:nvSpPr>
        <p:spPr bwMode="auto">
          <a:xfrm>
            <a:off x="6266180" y="3992245"/>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15" name="Oval 35"/>
          <p:cNvSpPr>
            <a:spLocks noChangeArrowheads="1"/>
          </p:cNvSpPr>
          <p:nvPr/>
        </p:nvSpPr>
        <p:spPr bwMode="auto">
          <a:xfrm>
            <a:off x="4262120" y="4004310"/>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16" name="Oval 35"/>
          <p:cNvSpPr>
            <a:spLocks noChangeArrowheads="1"/>
          </p:cNvSpPr>
          <p:nvPr/>
        </p:nvSpPr>
        <p:spPr bwMode="auto">
          <a:xfrm>
            <a:off x="4281805" y="4507230"/>
            <a:ext cx="76200" cy="78740"/>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2209800" y="-152400"/>
            <a:ext cx="7772400" cy="1143000"/>
          </a:xfrm>
        </p:spPr>
        <p:txBody>
          <a:bodyPr/>
          <a:lstStyle/>
          <a:p>
            <a:pPr eaLnBrk="1" hangingPunct="1">
              <a:defRPr/>
            </a:pPr>
            <a:r>
              <a:rPr lang="en-US" b="1"/>
              <a:t>Smoothing out the Bumps</a:t>
            </a:r>
          </a:p>
        </p:txBody>
      </p:sp>
      <p:sp>
        <p:nvSpPr>
          <p:cNvPr id="84995" name="Rectangle 3"/>
          <p:cNvSpPr>
            <a:spLocks noGrp="1" noChangeArrowheads="1"/>
          </p:cNvSpPr>
          <p:nvPr>
            <p:ph type="body" idx="1"/>
          </p:nvPr>
        </p:nvSpPr>
        <p:spPr>
          <a:xfrm>
            <a:off x="514350" y="762000"/>
            <a:ext cx="8782050" cy="3865245"/>
          </a:xfrm>
        </p:spPr>
        <p:txBody>
          <a:bodyPr/>
          <a:lstStyle/>
          <a:p>
            <a:pPr eaLnBrk="1" hangingPunct="1">
              <a:defRPr/>
            </a:pPr>
            <a:r>
              <a:rPr lang="en-US" sz="2800">
                <a:solidFill>
                  <a:schemeClr val="accent1">
                    <a:lumMod val="10000"/>
                  </a:schemeClr>
                </a:solidFill>
              </a:rPr>
              <a:t>Still a bumpy ride, but we can smooth this out with a capacitor</a:t>
            </a:r>
          </a:p>
          <a:p>
            <a:pPr lvl="1" eaLnBrk="1" hangingPunct="1">
              <a:defRPr/>
            </a:pPr>
            <a:r>
              <a:rPr lang="en-US" sz="2800">
                <a:solidFill>
                  <a:schemeClr val="accent1">
                    <a:lumMod val="10000"/>
                  </a:schemeClr>
                </a:solidFill>
              </a:rPr>
              <a:t>capacitors have capacity for storing charge</a:t>
            </a:r>
          </a:p>
          <a:p>
            <a:pPr lvl="1" eaLnBrk="1" hangingPunct="1">
              <a:defRPr/>
            </a:pPr>
            <a:r>
              <a:rPr lang="en-US" sz="2800">
                <a:solidFill>
                  <a:schemeClr val="accent1">
                    <a:lumMod val="10000"/>
                  </a:schemeClr>
                </a:solidFill>
              </a:rPr>
              <a:t>acts like a reservoir to supply current during low spots</a:t>
            </a:r>
          </a:p>
          <a:p>
            <a:pPr lvl="1" eaLnBrk="1" hangingPunct="1">
              <a:defRPr/>
            </a:pPr>
            <a:r>
              <a:rPr lang="en-US" sz="2800">
                <a:solidFill>
                  <a:schemeClr val="accent1">
                    <a:lumMod val="10000"/>
                  </a:schemeClr>
                </a:solidFill>
              </a:rPr>
              <a:t>voltage regulator smoothes out remaining ripple</a:t>
            </a:r>
          </a:p>
        </p:txBody>
      </p:sp>
      <p:sp>
        <p:nvSpPr>
          <p:cNvPr id="41991" name="Line 4"/>
          <p:cNvSpPr>
            <a:spLocks noChangeShapeType="1"/>
          </p:cNvSpPr>
          <p:nvPr/>
        </p:nvSpPr>
        <p:spPr bwMode="auto">
          <a:xfrm>
            <a:off x="6553200" y="5145405"/>
            <a:ext cx="635" cy="157226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41992" name="Group 5"/>
          <p:cNvGrpSpPr/>
          <p:nvPr/>
        </p:nvGrpSpPr>
        <p:grpSpPr bwMode="auto">
          <a:xfrm>
            <a:off x="6553200" y="5495925"/>
            <a:ext cx="4370705" cy="752475"/>
            <a:chOff x="3312" y="3696"/>
            <a:chExt cx="1920" cy="240"/>
          </a:xfrm>
        </p:grpSpPr>
        <p:sp>
          <p:nvSpPr>
            <p:cNvPr id="42061" name="Line 6"/>
            <p:cNvSpPr>
              <a:spLocks noChangeShapeType="1"/>
            </p:cNvSpPr>
            <p:nvPr/>
          </p:nvSpPr>
          <p:spPr bwMode="auto">
            <a:xfrm>
              <a:off x="3312" y="3936"/>
              <a:ext cx="1824"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62" name="Freeform 7"/>
            <p:cNvSpPr/>
            <p:nvPr/>
          </p:nvSpPr>
          <p:spPr bwMode="auto">
            <a:xfrm>
              <a:off x="331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63" name="Freeform 8"/>
            <p:cNvSpPr/>
            <p:nvPr/>
          </p:nvSpPr>
          <p:spPr bwMode="auto">
            <a:xfrm>
              <a:off x="427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64" name="Freeform 9"/>
            <p:cNvSpPr/>
            <p:nvPr/>
          </p:nvSpPr>
          <p:spPr bwMode="auto">
            <a:xfrm>
              <a:off x="379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65" name="Freeform 10"/>
            <p:cNvSpPr/>
            <p:nvPr/>
          </p:nvSpPr>
          <p:spPr bwMode="auto">
            <a:xfrm>
              <a:off x="4752" y="3696"/>
              <a:ext cx="480" cy="240"/>
            </a:xfrm>
            <a:custGeom>
              <a:avLst/>
              <a:gdLst>
                <a:gd name="T0" fmla="*/ 0 w 480"/>
                <a:gd name="T1" fmla="*/ 240 h 240"/>
                <a:gd name="T2" fmla="*/ 240 w 480"/>
                <a:gd name="T3" fmla="*/ 0 h 240"/>
                <a:gd name="T4" fmla="*/ 480 w 480"/>
                <a:gd name="T5" fmla="*/ 240 h 240"/>
                <a:gd name="T6" fmla="*/ 0 60000 65536"/>
                <a:gd name="T7" fmla="*/ 0 60000 65536"/>
                <a:gd name="T8" fmla="*/ 0 60000 65536"/>
                <a:gd name="T9" fmla="*/ 0 w 480"/>
                <a:gd name="T10" fmla="*/ 0 h 240"/>
                <a:gd name="T11" fmla="*/ 480 w 480"/>
                <a:gd name="T12" fmla="*/ 240 h 240"/>
              </a:gdLst>
              <a:ahLst/>
              <a:cxnLst>
                <a:cxn ang="T6">
                  <a:pos x="T0" y="T1"/>
                </a:cxn>
                <a:cxn ang="T7">
                  <a:pos x="T2" y="T3"/>
                </a:cxn>
                <a:cxn ang="T8">
                  <a:pos x="T4" y="T5"/>
                </a:cxn>
              </a:cxnLst>
              <a:rect l="T9" t="T10" r="T11" b="T12"/>
              <a:pathLst>
                <a:path w="480" h="240">
                  <a:moveTo>
                    <a:pt x="0" y="240"/>
                  </a:moveTo>
                  <a:cubicBezTo>
                    <a:pt x="80" y="120"/>
                    <a:pt x="160" y="0"/>
                    <a:pt x="240" y="0"/>
                  </a:cubicBezTo>
                  <a:cubicBezTo>
                    <a:pt x="320" y="0"/>
                    <a:pt x="400" y="120"/>
                    <a:pt x="480" y="240"/>
                  </a:cubicBez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41993" name="Line 11"/>
          <p:cNvSpPr>
            <a:spLocks noChangeShapeType="1"/>
          </p:cNvSpPr>
          <p:nvPr/>
        </p:nvSpPr>
        <p:spPr bwMode="auto">
          <a:xfrm>
            <a:off x="7734300" y="5444490"/>
            <a:ext cx="916305" cy="62865"/>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1994" name="Line 12"/>
          <p:cNvSpPr>
            <a:spLocks noChangeShapeType="1"/>
          </p:cNvSpPr>
          <p:nvPr/>
        </p:nvSpPr>
        <p:spPr bwMode="auto">
          <a:xfrm>
            <a:off x="8883650" y="5452745"/>
            <a:ext cx="895350" cy="54610"/>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1995" name="Line 13"/>
          <p:cNvSpPr>
            <a:spLocks noChangeShapeType="1"/>
          </p:cNvSpPr>
          <p:nvPr/>
        </p:nvSpPr>
        <p:spPr bwMode="auto">
          <a:xfrm>
            <a:off x="9981565" y="5407660"/>
            <a:ext cx="942340" cy="76200"/>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1997" name="Line 15"/>
          <p:cNvSpPr>
            <a:spLocks noChangeShapeType="1"/>
          </p:cNvSpPr>
          <p:nvPr/>
        </p:nvSpPr>
        <p:spPr bwMode="auto">
          <a:xfrm>
            <a:off x="6553835" y="5444490"/>
            <a:ext cx="911860" cy="114935"/>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1998" name="Line 16"/>
          <p:cNvSpPr>
            <a:spLocks noChangeShapeType="1"/>
          </p:cNvSpPr>
          <p:nvPr/>
        </p:nvSpPr>
        <p:spPr bwMode="auto">
          <a:xfrm flipV="1">
            <a:off x="7465695" y="5482590"/>
            <a:ext cx="228600" cy="76200"/>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1999" name="Line 17"/>
          <p:cNvSpPr>
            <a:spLocks noChangeShapeType="1"/>
          </p:cNvSpPr>
          <p:nvPr/>
        </p:nvSpPr>
        <p:spPr bwMode="auto">
          <a:xfrm flipV="1">
            <a:off x="8650605" y="5444490"/>
            <a:ext cx="240665" cy="62230"/>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00" name="Line 18"/>
          <p:cNvSpPr>
            <a:spLocks noChangeShapeType="1"/>
          </p:cNvSpPr>
          <p:nvPr/>
        </p:nvSpPr>
        <p:spPr bwMode="auto">
          <a:xfrm flipV="1">
            <a:off x="9779000" y="5453380"/>
            <a:ext cx="202565" cy="42545"/>
          </a:xfrm>
          <a:prstGeom prst="line">
            <a:avLst/>
          </a:prstGeom>
          <a:noFill/>
          <a:ln w="22225">
            <a:solidFill>
              <a:schemeClr val="hlink"/>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42003" name="Group 21"/>
          <p:cNvGrpSpPr/>
          <p:nvPr/>
        </p:nvGrpSpPr>
        <p:grpSpPr bwMode="auto">
          <a:xfrm>
            <a:off x="882015" y="4269105"/>
            <a:ext cx="4575810" cy="2452370"/>
            <a:chOff x="1560" y="2496"/>
            <a:chExt cx="2232" cy="1344"/>
          </a:xfrm>
        </p:grpSpPr>
        <p:grpSp>
          <p:nvGrpSpPr>
            <p:cNvPr id="42018" name="Group 22"/>
            <p:cNvGrpSpPr/>
            <p:nvPr/>
          </p:nvGrpSpPr>
          <p:grpSpPr bwMode="auto">
            <a:xfrm>
              <a:off x="1560" y="2976"/>
              <a:ext cx="240" cy="240"/>
              <a:chOff x="768" y="3312"/>
              <a:chExt cx="240" cy="240"/>
            </a:xfrm>
          </p:grpSpPr>
          <p:sp>
            <p:nvSpPr>
              <p:cNvPr id="42059" name="Oval 23"/>
              <p:cNvSpPr>
                <a:spLocks noChangeArrowheads="1"/>
              </p:cNvSpPr>
              <p:nvPr/>
            </p:nvSpPr>
            <p:spPr bwMode="auto">
              <a:xfrm>
                <a:off x="768" y="3312"/>
                <a:ext cx="240" cy="240"/>
              </a:xfrm>
              <a:prstGeom prst="ellipse">
                <a:avLst/>
              </a:prstGeom>
              <a:solidFill>
                <a:schemeClr val="accent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60" name="Freeform 24"/>
              <p:cNvSpPr/>
              <p:nvPr/>
            </p:nvSpPr>
            <p:spPr bwMode="auto">
              <a:xfrm>
                <a:off x="794" y="3385"/>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 name="T10" fmla="*/ 0 60000 65536"/>
                  <a:gd name="T11" fmla="*/ 0 60000 65536"/>
                  <a:gd name="T12" fmla="*/ 0 60000 65536"/>
                  <a:gd name="T13" fmla="*/ 0 60000 65536"/>
                  <a:gd name="T14" fmla="*/ 0 60000 65536"/>
                  <a:gd name="T15" fmla="*/ 0 w 192"/>
                  <a:gd name="T16" fmla="*/ 0 h 96"/>
                  <a:gd name="T17" fmla="*/ 192 w 192"/>
                  <a:gd name="T18" fmla="*/ 96 h 96"/>
                </a:gdLst>
                <a:ahLst/>
                <a:cxnLst>
                  <a:cxn ang="T10">
                    <a:pos x="T0" y="T1"/>
                  </a:cxn>
                  <a:cxn ang="T11">
                    <a:pos x="T2" y="T3"/>
                  </a:cxn>
                  <a:cxn ang="T12">
                    <a:pos x="T4" y="T5"/>
                  </a:cxn>
                  <a:cxn ang="T13">
                    <a:pos x="T6" y="T7"/>
                  </a:cxn>
                  <a:cxn ang="T14">
                    <a:pos x="T8" y="T9"/>
                  </a:cxn>
                </a:cxnLst>
                <a:rect l="T15" t="T16" r="T17" b="T18"/>
                <a:pathLst>
                  <a:path w="192" h="96">
                    <a:moveTo>
                      <a:pt x="0" y="48"/>
                    </a:moveTo>
                    <a:cubicBezTo>
                      <a:pt x="16" y="24"/>
                      <a:pt x="32" y="0"/>
                      <a:pt x="48" y="0"/>
                    </a:cubicBezTo>
                    <a:cubicBezTo>
                      <a:pt x="64" y="0"/>
                      <a:pt x="80" y="32"/>
                      <a:pt x="96" y="48"/>
                    </a:cubicBezTo>
                    <a:cubicBezTo>
                      <a:pt x="112" y="64"/>
                      <a:pt x="128" y="96"/>
                      <a:pt x="144" y="96"/>
                    </a:cubicBezTo>
                    <a:cubicBezTo>
                      <a:pt x="160" y="96"/>
                      <a:pt x="184" y="56"/>
                      <a:pt x="192" y="48"/>
                    </a:cubicBez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grpSp>
          <p:nvGrpSpPr>
            <p:cNvPr id="42019" name="Group 25"/>
            <p:cNvGrpSpPr/>
            <p:nvPr/>
          </p:nvGrpSpPr>
          <p:grpSpPr bwMode="auto">
            <a:xfrm>
              <a:off x="3696" y="3312"/>
              <a:ext cx="96" cy="336"/>
              <a:chOff x="1104" y="3264"/>
              <a:chExt cx="96" cy="336"/>
            </a:xfrm>
          </p:grpSpPr>
          <p:sp>
            <p:nvSpPr>
              <p:cNvPr id="42052" name="Line 26"/>
              <p:cNvSpPr>
                <a:spLocks noChangeShapeType="1"/>
              </p:cNvSpPr>
              <p:nvPr/>
            </p:nvSpPr>
            <p:spPr bwMode="auto">
              <a:xfrm>
                <a:off x="1152" y="3264"/>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3" name="Line 27"/>
              <p:cNvSpPr>
                <a:spLocks noChangeShapeType="1"/>
              </p:cNvSpPr>
              <p:nvPr/>
            </p:nvSpPr>
            <p:spPr bwMode="auto">
              <a:xfrm flipH="1">
                <a:off x="1104" y="3312"/>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4" name="Line 28"/>
              <p:cNvSpPr>
                <a:spLocks noChangeShapeType="1"/>
              </p:cNvSpPr>
              <p:nvPr/>
            </p:nvSpPr>
            <p:spPr bwMode="auto">
              <a:xfrm>
                <a:off x="1104" y="3360"/>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5" name="Line 29"/>
              <p:cNvSpPr>
                <a:spLocks noChangeShapeType="1"/>
              </p:cNvSpPr>
              <p:nvPr/>
            </p:nvSpPr>
            <p:spPr bwMode="auto">
              <a:xfrm flipH="1">
                <a:off x="1104" y="3408"/>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6" name="Line 30"/>
              <p:cNvSpPr>
                <a:spLocks noChangeShapeType="1"/>
              </p:cNvSpPr>
              <p:nvPr/>
            </p:nvSpPr>
            <p:spPr bwMode="auto">
              <a:xfrm>
                <a:off x="1104" y="3456"/>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7" name="Line 31"/>
              <p:cNvSpPr>
                <a:spLocks noChangeShapeType="1"/>
              </p:cNvSpPr>
              <p:nvPr/>
            </p:nvSpPr>
            <p:spPr bwMode="auto">
              <a:xfrm flipH="1">
                <a:off x="1104" y="3504"/>
                <a:ext cx="96"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8" name="Line 32"/>
              <p:cNvSpPr>
                <a:spLocks noChangeShapeType="1"/>
              </p:cNvSpPr>
              <p:nvPr/>
            </p:nvSpPr>
            <p:spPr bwMode="auto">
              <a:xfrm>
                <a:off x="1104" y="3552"/>
                <a:ext cx="48" cy="4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2020" name="Line 33"/>
            <p:cNvSpPr>
              <a:spLocks noChangeShapeType="1"/>
            </p:cNvSpPr>
            <p:nvPr/>
          </p:nvSpPr>
          <p:spPr bwMode="auto">
            <a:xfrm flipV="1">
              <a:off x="3744" y="3120"/>
              <a:ext cx="0" cy="19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21" name="Line 34"/>
            <p:cNvSpPr>
              <a:spLocks noChangeShapeType="1"/>
            </p:cNvSpPr>
            <p:nvPr/>
          </p:nvSpPr>
          <p:spPr bwMode="auto">
            <a:xfrm>
              <a:off x="3744" y="3648"/>
              <a:ext cx="0" cy="192"/>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nvGrpSpPr>
            <p:cNvPr id="42022" name="Group 35"/>
            <p:cNvGrpSpPr/>
            <p:nvPr/>
          </p:nvGrpSpPr>
          <p:grpSpPr bwMode="auto">
            <a:xfrm rot="2695030">
              <a:off x="2112" y="3311"/>
              <a:ext cx="768" cy="145"/>
              <a:chOff x="912" y="3023"/>
              <a:chExt cx="768" cy="145"/>
            </a:xfrm>
          </p:grpSpPr>
          <p:sp>
            <p:nvSpPr>
              <p:cNvPr id="42049" name="Line 36"/>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50" name="AutoShape 37"/>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51" name="Line 38"/>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42023" name="Group 39"/>
            <p:cNvGrpSpPr/>
            <p:nvPr/>
          </p:nvGrpSpPr>
          <p:grpSpPr bwMode="auto">
            <a:xfrm rot="18904970" flipV="1">
              <a:off x="2112" y="2784"/>
              <a:ext cx="768" cy="145"/>
              <a:chOff x="912" y="3023"/>
              <a:chExt cx="768" cy="145"/>
            </a:xfrm>
          </p:grpSpPr>
          <p:sp>
            <p:nvSpPr>
              <p:cNvPr id="42046" name="Line 40"/>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47" name="AutoShape 41"/>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48" name="Line 42"/>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42024" name="Group 43"/>
            <p:cNvGrpSpPr/>
            <p:nvPr/>
          </p:nvGrpSpPr>
          <p:grpSpPr bwMode="auto">
            <a:xfrm rot="2695030">
              <a:off x="2640" y="2784"/>
              <a:ext cx="768" cy="145"/>
              <a:chOff x="912" y="3023"/>
              <a:chExt cx="768" cy="145"/>
            </a:xfrm>
          </p:grpSpPr>
          <p:sp>
            <p:nvSpPr>
              <p:cNvPr id="42043" name="Line 44"/>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44" name="AutoShape 45"/>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45" name="Line 46"/>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nvGrpSpPr>
            <p:cNvPr id="42025" name="Group 47"/>
            <p:cNvGrpSpPr/>
            <p:nvPr/>
          </p:nvGrpSpPr>
          <p:grpSpPr bwMode="auto">
            <a:xfrm rot="18904970" flipV="1">
              <a:off x="2640" y="3311"/>
              <a:ext cx="768" cy="145"/>
              <a:chOff x="912" y="3023"/>
              <a:chExt cx="768" cy="145"/>
            </a:xfrm>
          </p:grpSpPr>
          <p:sp>
            <p:nvSpPr>
              <p:cNvPr id="42040" name="Line 48"/>
              <p:cNvSpPr>
                <a:spLocks noChangeShapeType="1"/>
              </p:cNvSpPr>
              <p:nvPr/>
            </p:nvSpPr>
            <p:spPr bwMode="auto">
              <a:xfrm rot="16200000" flipV="1">
                <a:off x="1296" y="2712"/>
                <a:ext cx="0" cy="76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41" name="AutoShape 49"/>
              <p:cNvSpPr>
                <a:spLocks noChangeArrowheads="1"/>
              </p:cNvSpPr>
              <p:nvPr/>
            </p:nvSpPr>
            <p:spPr bwMode="auto">
              <a:xfrm rot="16200000" flipV="1">
                <a:off x="1224" y="3048"/>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42" name="Line 50"/>
              <p:cNvSpPr>
                <a:spLocks noChangeShapeType="1"/>
              </p:cNvSpPr>
              <p:nvPr/>
            </p:nvSpPr>
            <p:spPr bwMode="auto">
              <a:xfrm rot="16200000" flipV="1">
                <a:off x="1271" y="3095"/>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2026" name="Oval 51"/>
            <p:cNvSpPr>
              <a:spLocks noChangeArrowheads="1"/>
            </p:cNvSpPr>
            <p:nvPr/>
          </p:nvSpPr>
          <p:spPr bwMode="auto">
            <a:xfrm>
              <a:off x="2736" y="2573"/>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27" name="Oval 52"/>
            <p:cNvSpPr>
              <a:spLocks noChangeArrowheads="1"/>
            </p:cNvSpPr>
            <p:nvPr/>
          </p:nvSpPr>
          <p:spPr bwMode="auto">
            <a:xfrm>
              <a:off x="2736" y="3616"/>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28" name="Oval 53"/>
            <p:cNvSpPr>
              <a:spLocks noChangeArrowheads="1"/>
            </p:cNvSpPr>
            <p:nvPr/>
          </p:nvSpPr>
          <p:spPr bwMode="auto">
            <a:xfrm>
              <a:off x="2208" y="3092"/>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29" name="Oval 54"/>
            <p:cNvSpPr>
              <a:spLocks noChangeArrowheads="1"/>
            </p:cNvSpPr>
            <p:nvPr/>
          </p:nvSpPr>
          <p:spPr bwMode="auto">
            <a:xfrm>
              <a:off x="3264" y="3092"/>
              <a:ext cx="48" cy="48"/>
            </a:xfrm>
            <a:prstGeom prst="ellipse">
              <a:avLst/>
            </a:prstGeom>
            <a:solidFill>
              <a:srgbClr val="000000"/>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2030" name="Line 55"/>
            <p:cNvSpPr>
              <a:spLocks noChangeShapeType="1"/>
            </p:cNvSpPr>
            <p:nvPr/>
          </p:nvSpPr>
          <p:spPr bwMode="auto">
            <a:xfrm flipV="1">
              <a:off x="2736" y="2496"/>
              <a:ext cx="0" cy="96"/>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1" name="Line 56"/>
            <p:cNvSpPr>
              <a:spLocks noChangeShapeType="1"/>
            </p:cNvSpPr>
            <p:nvPr/>
          </p:nvSpPr>
          <p:spPr bwMode="auto">
            <a:xfrm flipH="1">
              <a:off x="1680" y="2496"/>
              <a:ext cx="1056"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2" name="Line 57"/>
            <p:cNvSpPr>
              <a:spLocks noChangeShapeType="1"/>
            </p:cNvSpPr>
            <p:nvPr/>
          </p:nvSpPr>
          <p:spPr bwMode="auto">
            <a:xfrm>
              <a:off x="1680" y="2496"/>
              <a:ext cx="0" cy="48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3" name="Line 58"/>
            <p:cNvSpPr>
              <a:spLocks noChangeShapeType="1"/>
            </p:cNvSpPr>
            <p:nvPr/>
          </p:nvSpPr>
          <p:spPr bwMode="auto">
            <a:xfrm>
              <a:off x="1680" y="3216"/>
              <a:ext cx="0" cy="528"/>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4" name="Line 59"/>
            <p:cNvSpPr>
              <a:spLocks noChangeShapeType="1"/>
            </p:cNvSpPr>
            <p:nvPr/>
          </p:nvSpPr>
          <p:spPr bwMode="auto">
            <a:xfrm>
              <a:off x="2736" y="3648"/>
              <a:ext cx="0" cy="96"/>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5" name="Line 60"/>
            <p:cNvSpPr>
              <a:spLocks noChangeShapeType="1"/>
            </p:cNvSpPr>
            <p:nvPr/>
          </p:nvSpPr>
          <p:spPr bwMode="auto">
            <a:xfrm flipH="1">
              <a:off x="1680" y="3744"/>
              <a:ext cx="1056"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6" name="Line 61"/>
            <p:cNvSpPr>
              <a:spLocks noChangeShapeType="1"/>
            </p:cNvSpPr>
            <p:nvPr/>
          </p:nvSpPr>
          <p:spPr bwMode="auto">
            <a:xfrm flipH="1">
              <a:off x="2064" y="3120"/>
              <a:ext cx="144"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7" name="Line 62"/>
            <p:cNvSpPr>
              <a:spLocks noChangeShapeType="1"/>
            </p:cNvSpPr>
            <p:nvPr/>
          </p:nvSpPr>
          <p:spPr bwMode="auto">
            <a:xfrm>
              <a:off x="2064" y="3120"/>
              <a:ext cx="0" cy="72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8" name="Line 63"/>
            <p:cNvSpPr>
              <a:spLocks noChangeShapeType="1"/>
            </p:cNvSpPr>
            <p:nvPr/>
          </p:nvSpPr>
          <p:spPr bwMode="auto">
            <a:xfrm>
              <a:off x="2064" y="3840"/>
              <a:ext cx="1680"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39" name="Line 64"/>
            <p:cNvSpPr>
              <a:spLocks noChangeShapeType="1"/>
            </p:cNvSpPr>
            <p:nvPr/>
          </p:nvSpPr>
          <p:spPr bwMode="auto">
            <a:xfrm>
              <a:off x="3312" y="3120"/>
              <a:ext cx="432" cy="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2004" name="Text Box 65"/>
          <p:cNvSpPr txBox="1">
            <a:spLocks noChangeArrowheads="1"/>
          </p:cNvSpPr>
          <p:nvPr/>
        </p:nvSpPr>
        <p:spPr bwMode="auto">
          <a:xfrm flipH="1">
            <a:off x="2242820" y="4627245"/>
            <a:ext cx="41465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A</a:t>
            </a:r>
            <a:endParaRPr lang="en-US" altLang="en-US" sz="1800">
              <a:solidFill>
                <a:srgbClr val="1B28F6"/>
              </a:solidFill>
            </a:endParaRPr>
          </a:p>
        </p:txBody>
      </p:sp>
      <p:sp>
        <p:nvSpPr>
          <p:cNvPr id="42005" name="Text Box 66"/>
          <p:cNvSpPr txBox="1">
            <a:spLocks noChangeArrowheads="1"/>
          </p:cNvSpPr>
          <p:nvPr/>
        </p:nvSpPr>
        <p:spPr bwMode="auto">
          <a:xfrm>
            <a:off x="2242820" y="588137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C</a:t>
            </a:r>
            <a:endParaRPr lang="en-US" altLang="en-US" sz="1800">
              <a:solidFill>
                <a:srgbClr val="1B28F6"/>
              </a:solidFill>
            </a:endParaRPr>
          </a:p>
        </p:txBody>
      </p:sp>
      <p:sp>
        <p:nvSpPr>
          <p:cNvPr id="42006" name="Text Box 67"/>
          <p:cNvSpPr txBox="1">
            <a:spLocks noChangeArrowheads="1"/>
          </p:cNvSpPr>
          <p:nvPr/>
        </p:nvSpPr>
        <p:spPr bwMode="auto">
          <a:xfrm>
            <a:off x="3872230" y="453485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B</a:t>
            </a:r>
            <a:endParaRPr lang="en-US" altLang="en-US" sz="1800">
              <a:solidFill>
                <a:srgbClr val="1B28F6"/>
              </a:solidFill>
            </a:endParaRPr>
          </a:p>
        </p:txBody>
      </p:sp>
      <p:sp>
        <p:nvSpPr>
          <p:cNvPr id="42007" name="Text Box 68"/>
          <p:cNvSpPr txBox="1">
            <a:spLocks noChangeArrowheads="1"/>
          </p:cNvSpPr>
          <p:nvPr/>
        </p:nvSpPr>
        <p:spPr bwMode="auto">
          <a:xfrm>
            <a:off x="3859530" y="584581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algn="ctr" eaLnBrk="0" fontAlgn="base" hangingPunct="0">
              <a:spcBef>
                <a:spcPct val="0"/>
              </a:spcBef>
              <a:spcAft>
                <a:spcPct val="0"/>
              </a:spcAft>
            </a:pPr>
            <a:r>
              <a:rPr lang="en-US" altLang="en-US" sz="1800">
                <a:solidFill>
                  <a:srgbClr val="000000"/>
                </a:solidFill>
              </a:rPr>
              <a:t>D</a:t>
            </a:r>
            <a:endParaRPr lang="en-US" altLang="en-US" sz="1800">
              <a:solidFill>
                <a:srgbClr val="1B28F6"/>
              </a:solidFill>
            </a:endParaRPr>
          </a:p>
        </p:txBody>
      </p:sp>
      <p:sp>
        <p:nvSpPr>
          <p:cNvPr id="42008" name="Text Box 69"/>
          <p:cNvSpPr txBox="1">
            <a:spLocks noChangeArrowheads="1"/>
          </p:cNvSpPr>
          <p:nvPr/>
        </p:nvSpPr>
        <p:spPr bwMode="auto">
          <a:xfrm rot="16200000">
            <a:off x="72390" y="5165726"/>
            <a:ext cx="1250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rgbClr val="0B871F"/>
                </a:solidFill>
              </a:rPr>
              <a:t>AC source</a:t>
            </a:r>
          </a:p>
        </p:txBody>
      </p:sp>
      <p:sp>
        <p:nvSpPr>
          <p:cNvPr id="42009" name="Text Box 70"/>
          <p:cNvSpPr txBox="1">
            <a:spLocks noChangeArrowheads="1"/>
          </p:cNvSpPr>
          <p:nvPr/>
        </p:nvSpPr>
        <p:spPr bwMode="auto">
          <a:xfrm>
            <a:off x="5457825" y="6248400"/>
            <a:ext cx="6299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rPr>
              <a:t>load</a:t>
            </a:r>
          </a:p>
        </p:txBody>
      </p:sp>
      <p:sp>
        <p:nvSpPr>
          <p:cNvPr id="42010" name="Line 71"/>
          <p:cNvSpPr>
            <a:spLocks noChangeShapeType="1"/>
          </p:cNvSpPr>
          <p:nvPr/>
        </p:nvSpPr>
        <p:spPr bwMode="auto">
          <a:xfrm>
            <a:off x="4766310" y="5407660"/>
            <a:ext cx="0" cy="45720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11" name="Line 72"/>
          <p:cNvSpPr>
            <a:spLocks noChangeShapeType="1"/>
          </p:cNvSpPr>
          <p:nvPr/>
        </p:nvSpPr>
        <p:spPr bwMode="auto">
          <a:xfrm flipV="1">
            <a:off x="4565015" y="5851525"/>
            <a:ext cx="403225" cy="1333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12" name="Line 73"/>
          <p:cNvSpPr>
            <a:spLocks noChangeShapeType="1"/>
          </p:cNvSpPr>
          <p:nvPr/>
        </p:nvSpPr>
        <p:spPr bwMode="auto">
          <a:xfrm>
            <a:off x="4565015" y="6059805"/>
            <a:ext cx="403860" cy="635"/>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13" name="Line 74"/>
          <p:cNvSpPr>
            <a:spLocks noChangeShapeType="1"/>
          </p:cNvSpPr>
          <p:nvPr/>
        </p:nvSpPr>
        <p:spPr bwMode="auto">
          <a:xfrm>
            <a:off x="4766310" y="6060440"/>
            <a:ext cx="635" cy="661670"/>
          </a:xfrm>
          <a:prstGeom prst="line">
            <a:avLst/>
          </a:prstGeom>
          <a:noFill/>
          <a:ln w="1587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14" name="Line 75"/>
          <p:cNvSpPr>
            <a:spLocks noChangeShapeType="1"/>
          </p:cNvSpPr>
          <p:nvPr/>
        </p:nvSpPr>
        <p:spPr bwMode="auto">
          <a:xfrm flipH="1">
            <a:off x="4876800" y="4899025"/>
            <a:ext cx="304800" cy="914400"/>
          </a:xfrm>
          <a:prstGeom prst="line">
            <a:avLst/>
          </a:prstGeom>
          <a:noFill/>
          <a:ln w="158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2015" name="Text Box 76"/>
          <p:cNvSpPr txBox="1">
            <a:spLocks noChangeArrowheads="1"/>
          </p:cNvSpPr>
          <p:nvPr/>
        </p:nvSpPr>
        <p:spPr bwMode="auto">
          <a:xfrm>
            <a:off x="5181600" y="4534853"/>
            <a:ext cx="1111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a:solidFill>
                  <a:schemeClr val="accent1">
                    <a:lumMod val="10000"/>
                  </a:schemeClr>
                </a:solidFill>
              </a:rPr>
              <a:t>capacitor</a:t>
            </a:r>
          </a:p>
        </p:txBody>
      </p:sp>
      <p:pic>
        <p:nvPicPr>
          <p:cNvPr id="42016" name="Picture 77" descr="cap"/>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36125" y="1349376"/>
            <a:ext cx="18034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17" name="Picture 78" descr="caps2"/>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85326" y="3227388"/>
            <a:ext cx="1997075" cy="149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2"/>
          <p:cNvSpPr txBox="1"/>
          <p:nvPr/>
        </p:nvSpPr>
        <p:spPr>
          <a:xfrm>
            <a:off x="9314815" y="4675505"/>
            <a:ext cx="2124710" cy="368300"/>
          </a:xfrm>
          <a:prstGeom prst="rect">
            <a:avLst/>
          </a:prstGeom>
          <a:noFill/>
        </p:spPr>
        <p:txBody>
          <a:bodyPr wrap="square" rtlCol="0" anchor="t">
            <a:spAutoFit/>
          </a:bodyPr>
          <a:lstStyle/>
          <a:p>
            <a:pPr eaLnBrk="0" fontAlgn="base" hangingPunct="0">
              <a:spcBef>
                <a:spcPct val="0"/>
              </a:spcBef>
              <a:spcAft>
                <a:spcPct val="0"/>
              </a:spcAft>
            </a:pPr>
            <a:r>
              <a:rPr lang="en-US" altLang="en-US">
                <a:solidFill>
                  <a:schemeClr val="accent1">
                    <a:lumMod val="10000"/>
                  </a:schemeClr>
                </a:solidFill>
                <a:sym typeface="+mn-ea"/>
              </a:rPr>
              <a:t>ceremaic capacitor</a:t>
            </a:r>
            <a:endParaRPr lang="en-US"/>
          </a:p>
        </p:txBody>
      </p:sp>
      <p:sp>
        <p:nvSpPr>
          <p:cNvPr id="4" name="Text Box 3"/>
          <p:cNvSpPr txBox="1"/>
          <p:nvPr/>
        </p:nvSpPr>
        <p:spPr>
          <a:xfrm>
            <a:off x="9296400" y="2711450"/>
            <a:ext cx="2475865" cy="368300"/>
          </a:xfrm>
          <a:prstGeom prst="rect">
            <a:avLst/>
          </a:prstGeom>
          <a:noFill/>
        </p:spPr>
        <p:txBody>
          <a:bodyPr wrap="square" rtlCol="0" anchor="t">
            <a:spAutoFit/>
          </a:bodyPr>
          <a:lstStyle/>
          <a:p>
            <a:pPr eaLnBrk="0" fontAlgn="base" hangingPunct="0">
              <a:spcBef>
                <a:spcPct val="0"/>
              </a:spcBef>
              <a:spcAft>
                <a:spcPct val="0"/>
              </a:spcAft>
            </a:pPr>
            <a:r>
              <a:rPr lang="en-US" altLang="en-US">
                <a:solidFill>
                  <a:schemeClr val="accent1">
                    <a:lumMod val="10000"/>
                  </a:schemeClr>
                </a:solidFill>
                <a:sym typeface="+mn-ea"/>
              </a:rPr>
              <a:t>electrolytic capacitor</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fld id="{C2D188F5-65B2-46C3-A07C-C17B05265D5B}" type="slidenum">
              <a:rPr lang="en-US" altLang="en-US" sz="1400">
                <a:solidFill>
                  <a:srgbClr val="1B28F6"/>
                </a:solidFill>
              </a:rPr>
              <a:t>21</a:t>
            </a:fld>
            <a:endParaRPr lang="en-US" altLang="en-US" sz="1400">
              <a:solidFill>
                <a:srgbClr val="1B28F6"/>
              </a:solidFill>
            </a:endParaRPr>
          </a:p>
        </p:txBody>
      </p:sp>
      <p:sp>
        <p:nvSpPr>
          <p:cNvPr id="98306" name="Rectangle 2"/>
          <p:cNvSpPr>
            <a:spLocks noGrp="1" noChangeArrowheads="1"/>
          </p:cNvSpPr>
          <p:nvPr>
            <p:ph type="title"/>
          </p:nvPr>
        </p:nvSpPr>
        <p:spPr/>
        <p:txBody>
          <a:bodyPr/>
          <a:lstStyle/>
          <a:p>
            <a:pPr algn="ctr" eaLnBrk="1" hangingPunct="1">
              <a:defRPr/>
            </a:pPr>
            <a:r>
              <a:rPr lang="en-US" b="1"/>
              <a:t>How smooth is smooth?</a:t>
            </a:r>
          </a:p>
        </p:txBody>
      </p:sp>
      <p:sp>
        <p:nvSpPr>
          <p:cNvPr id="98307" name="Rectangle 3"/>
          <p:cNvSpPr>
            <a:spLocks noGrp="1" noChangeArrowheads="1"/>
          </p:cNvSpPr>
          <p:nvPr>
            <p:ph type="body" idx="1"/>
          </p:nvPr>
        </p:nvSpPr>
        <p:spPr>
          <a:xfrm>
            <a:off x="398145" y="773430"/>
            <a:ext cx="10972800" cy="4953000"/>
          </a:xfrm>
        </p:spPr>
        <p:txBody>
          <a:bodyPr/>
          <a:lstStyle/>
          <a:p>
            <a:pPr algn="just" eaLnBrk="1" hangingPunct="1"/>
            <a:r>
              <a:rPr lang="en-US" altLang="en-US" sz="2800">
                <a:solidFill>
                  <a:schemeClr val="accent1">
                    <a:lumMod val="10000"/>
                  </a:schemeClr>
                </a:solidFill>
                <a:effectLst/>
              </a:rPr>
              <a:t>An RC circuit has a time constant </a:t>
            </a:r>
            <a:r>
              <a:rPr lang="en-US" altLang="en-US" sz="2800" i="1">
                <a:solidFill>
                  <a:schemeClr val="accent1">
                    <a:lumMod val="10000"/>
                  </a:schemeClr>
                </a:solidFill>
                <a:effectLst/>
                <a:sym typeface="Symbol" panose="05050102010706020507" pitchFamily="18" charset="2"/>
              </a:rPr>
              <a:t></a:t>
            </a:r>
            <a:r>
              <a:rPr lang="en-US" altLang="en-US" sz="2800">
                <a:solidFill>
                  <a:schemeClr val="accent1">
                    <a:lumMod val="10000"/>
                  </a:schemeClr>
                </a:solidFill>
                <a:effectLst/>
                <a:sym typeface="Symbol" panose="05050102010706020507" pitchFamily="18" charset="2"/>
              </a:rPr>
              <a:t> = </a:t>
            </a:r>
            <a:r>
              <a:rPr lang="en-US" altLang="en-US" sz="2800" i="1">
                <a:solidFill>
                  <a:schemeClr val="accent1">
                    <a:lumMod val="10000"/>
                  </a:schemeClr>
                </a:solidFill>
                <a:effectLst/>
                <a:sym typeface="Symbol" panose="05050102010706020507" pitchFamily="18" charset="2"/>
              </a:rPr>
              <a:t>RC</a:t>
            </a:r>
            <a:endParaRPr lang="en-US" altLang="en-US" sz="2800">
              <a:solidFill>
                <a:schemeClr val="accent1">
                  <a:lumMod val="10000"/>
                </a:schemeClr>
              </a:solidFill>
              <a:effectLst/>
              <a:sym typeface="Symbol" panose="05050102010706020507" pitchFamily="18" charset="2"/>
            </a:endParaRPr>
          </a:p>
          <a:p>
            <a:pPr lvl="1" algn="just" eaLnBrk="1" hangingPunct="1"/>
            <a:r>
              <a:rPr lang="en-US" altLang="en-US" sz="2800">
                <a:solidFill>
                  <a:schemeClr val="accent1">
                    <a:lumMod val="10000"/>
                  </a:schemeClr>
                </a:solidFill>
                <a:effectLst/>
              </a:rPr>
              <a:t>because </a:t>
            </a:r>
            <a:r>
              <a:rPr lang="en-US" altLang="en-US" sz="2800" i="1">
                <a:solidFill>
                  <a:schemeClr val="accent1">
                    <a:lumMod val="10000"/>
                  </a:schemeClr>
                </a:solidFill>
                <a:effectLst/>
              </a:rPr>
              <a:t>dV</a:t>
            </a:r>
            <a:r>
              <a:rPr lang="en-US" altLang="en-US" sz="2800">
                <a:solidFill>
                  <a:schemeClr val="accent1">
                    <a:lumMod val="10000"/>
                  </a:schemeClr>
                </a:solidFill>
                <a:effectLst/>
              </a:rPr>
              <a:t>/</a:t>
            </a:r>
            <a:r>
              <a:rPr lang="en-US" altLang="en-US" sz="2800" i="1">
                <a:solidFill>
                  <a:schemeClr val="accent1">
                    <a:lumMod val="10000"/>
                  </a:schemeClr>
                </a:solidFill>
                <a:effectLst/>
              </a:rPr>
              <a:t>dt</a:t>
            </a:r>
            <a:r>
              <a:rPr lang="en-US" altLang="en-US" sz="2800">
                <a:solidFill>
                  <a:schemeClr val="accent1">
                    <a:lumMod val="10000"/>
                  </a:schemeClr>
                </a:solidFill>
                <a:effectLst/>
              </a:rPr>
              <a:t> = </a:t>
            </a:r>
            <a:r>
              <a:rPr lang="en-US" altLang="en-US" sz="2800" i="1">
                <a:solidFill>
                  <a:schemeClr val="accent1">
                    <a:lumMod val="10000"/>
                  </a:schemeClr>
                </a:solidFill>
                <a:effectLst/>
              </a:rPr>
              <a:t>I</a:t>
            </a:r>
            <a:r>
              <a:rPr lang="en-US" altLang="en-US" sz="2800">
                <a:solidFill>
                  <a:schemeClr val="accent1">
                    <a:lumMod val="10000"/>
                  </a:schemeClr>
                </a:solidFill>
                <a:effectLst/>
              </a:rPr>
              <a:t>/</a:t>
            </a:r>
            <a:r>
              <a:rPr lang="en-US" altLang="en-US" sz="2800" i="1">
                <a:solidFill>
                  <a:schemeClr val="accent1">
                    <a:lumMod val="10000"/>
                  </a:schemeClr>
                </a:solidFill>
                <a:effectLst/>
              </a:rPr>
              <a:t>C</a:t>
            </a:r>
            <a:r>
              <a:rPr lang="en-US" altLang="en-US" sz="2800">
                <a:solidFill>
                  <a:schemeClr val="accent1">
                    <a:lumMod val="10000"/>
                  </a:schemeClr>
                </a:solidFill>
                <a:effectLst/>
              </a:rPr>
              <a:t>, and </a:t>
            </a:r>
            <a:r>
              <a:rPr lang="en-US" altLang="en-US" sz="2800" i="1">
                <a:solidFill>
                  <a:schemeClr val="accent1">
                    <a:lumMod val="10000"/>
                  </a:schemeClr>
                </a:solidFill>
                <a:effectLst/>
              </a:rPr>
              <a:t>I = V</a:t>
            </a:r>
            <a:r>
              <a:rPr lang="en-US" altLang="en-US" sz="2800">
                <a:solidFill>
                  <a:schemeClr val="accent1">
                    <a:lumMod val="10000"/>
                  </a:schemeClr>
                </a:solidFill>
                <a:effectLst/>
              </a:rPr>
              <a:t>/</a:t>
            </a:r>
            <a:r>
              <a:rPr lang="en-US" altLang="en-US" sz="2800" i="1">
                <a:solidFill>
                  <a:schemeClr val="accent1">
                    <a:lumMod val="10000"/>
                  </a:schemeClr>
                </a:solidFill>
                <a:effectLst/>
              </a:rPr>
              <a:t>R</a:t>
            </a:r>
            <a:r>
              <a:rPr lang="en-US" altLang="en-US" sz="2800">
                <a:solidFill>
                  <a:schemeClr val="accent1">
                    <a:lumMod val="10000"/>
                  </a:schemeClr>
                </a:solidFill>
                <a:effectLst/>
              </a:rPr>
              <a:t> </a:t>
            </a:r>
            <a:r>
              <a:rPr lang="en-US" altLang="en-US" sz="2800">
                <a:solidFill>
                  <a:schemeClr val="accent1">
                    <a:lumMod val="10000"/>
                  </a:schemeClr>
                </a:solidFill>
                <a:effectLst/>
                <a:sym typeface="Symbol" panose="05050102010706020507" pitchFamily="18" charset="2"/>
              </a:rPr>
              <a:t> </a:t>
            </a:r>
            <a:r>
              <a:rPr lang="en-US" altLang="en-US" sz="2800" i="1">
                <a:solidFill>
                  <a:schemeClr val="accent1">
                    <a:lumMod val="10000"/>
                  </a:schemeClr>
                </a:solidFill>
                <a:effectLst/>
                <a:sym typeface="Symbol" panose="05050102010706020507" pitchFamily="18" charset="2"/>
              </a:rPr>
              <a:t>dV</a:t>
            </a:r>
            <a:r>
              <a:rPr lang="en-US" altLang="en-US" sz="2800">
                <a:solidFill>
                  <a:schemeClr val="accent1">
                    <a:lumMod val="10000"/>
                  </a:schemeClr>
                </a:solidFill>
                <a:effectLst/>
                <a:sym typeface="Symbol" panose="05050102010706020507" pitchFamily="18" charset="2"/>
              </a:rPr>
              <a:t>/</a:t>
            </a:r>
            <a:r>
              <a:rPr lang="en-US" altLang="en-US" sz="2800" i="1">
                <a:solidFill>
                  <a:schemeClr val="accent1">
                    <a:lumMod val="10000"/>
                  </a:schemeClr>
                </a:solidFill>
                <a:effectLst/>
                <a:sym typeface="Symbol" panose="05050102010706020507" pitchFamily="18" charset="2"/>
              </a:rPr>
              <a:t>dt</a:t>
            </a:r>
            <a:r>
              <a:rPr lang="en-US" altLang="en-US" sz="2800">
                <a:solidFill>
                  <a:schemeClr val="accent1">
                    <a:lumMod val="10000"/>
                  </a:schemeClr>
                </a:solidFill>
                <a:effectLst/>
                <a:sym typeface="Symbol" panose="05050102010706020507" pitchFamily="18" charset="2"/>
              </a:rPr>
              <a:t> = </a:t>
            </a:r>
            <a:r>
              <a:rPr lang="en-US" altLang="en-US" sz="2800" i="1">
                <a:solidFill>
                  <a:schemeClr val="accent1">
                    <a:lumMod val="10000"/>
                  </a:schemeClr>
                </a:solidFill>
                <a:effectLst/>
                <a:sym typeface="Symbol" panose="05050102010706020507" pitchFamily="18" charset="2"/>
              </a:rPr>
              <a:t>V</a:t>
            </a:r>
            <a:r>
              <a:rPr lang="en-US" altLang="en-US" sz="2800">
                <a:solidFill>
                  <a:schemeClr val="accent1">
                    <a:lumMod val="10000"/>
                  </a:schemeClr>
                </a:solidFill>
                <a:effectLst/>
                <a:sym typeface="Symbol" panose="05050102010706020507" pitchFamily="18" charset="2"/>
              </a:rPr>
              <a:t>/</a:t>
            </a:r>
            <a:r>
              <a:rPr lang="en-US" altLang="en-US" sz="2800" i="1">
                <a:solidFill>
                  <a:schemeClr val="accent1">
                    <a:lumMod val="10000"/>
                  </a:schemeClr>
                </a:solidFill>
                <a:effectLst/>
                <a:sym typeface="Symbol" panose="05050102010706020507" pitchFamily="18" charset="2"/>
              </a:rPr>
              <a:t>RC</a:t>
            </a:r>
            <a:endParaRPr lang="en-US" altLang="en-US" sz="2800">
              <a:solidFill>
                <a:schemeClr val="accent1">
                  <a:lumMod val="10000"/>
                </a:schemeClr>
              </a:solidFill>
              <a:effectLst/>
              <a:sym typeface="Symbol" panose="05050102010706020507" pitchFamily="18" charset="2"/>
            </a:endParaRPr>
          </a:p>
          <a:p>
            <a:pPr lvl="1" algn="just" eaLnBrk="1" hangingPunct="1"/>
            <a:r>
              <a:rPr lang="en-US" altLang="en-US" sz="2800">
                <a:solidFill>
                  <a:schemeClr val="accent1">
                    <a:lumMod val="10000"/>
                  </a:schemeClr>
                </a:solidFill>
                <a:effectLst/>
                <a:sym typeface="Symbol" panose="05050102010706020507" pitchFamily="18" charset="2"/>
              </a:rPr>
              <a:t>so </a:t>
            </a:r>
            <a:r>
              <a:rPr lang="en-US" altLang="en-US" sz="2800" i="1">
                <a:solidFill>
                  <a:schemeClr val="accent1">
                    <a:lumMod val="10000"/>
                  </a:schemeClr>
                </a:solidFill>
                <a:effectLst/>
                <a:sym typeface="Symbol" panose="05050102010706020507" pitchFamily="18" charset="2"/>
              </a:rPr>
              <a:t>V</a:t>
            </a:r>
            <a:r>
              <a:rPr lang="en-US" altLang="en-US" sz="2800">
                <a:solidFill>
                  <a:schemeClr val="accent1">
                    <a:lumMod val="10000"/>
                  </a:schemeClr>
                </a:solidFill>
                <a:effectLst/>
                <a:sym typeface="Symbol" panose="05050102010706020507" pitchFamily="18" charset="2"/>
              </a:rPr>
              <a:t> is </a:t>
            </a:r>
            <a:r>
              <a:rPr lang="en-US" altLang="en-US" sz="2800" i="1">
                <a:solidFill>
                  <a:schemeClr val="accent1">
                    <a:lumMod val="10000"/>
                  </a:schemeClr>
                </a:solidFill>
                <a:effectLst/>
                <a:sym typeface="Symbol" panose="05050102010706020507" pitchFamily="18" charset="2"/>
              </a:rPr>
              <a:t>V</a:t>
            </a:r>
            <a:r>
              <a:rPr lang="en-US" altLang="en-US" sz="2800" baseline="-25000">
                <a:solidFill>
                  <a:schemeClr val="accent1">
                    <a:lumMod val="10000"/>
                  </a:schemeClr>
                </a:solidFill>
                <a:effectLst/>
                <a:sym typeface="Symbol" panose="05050102010706020507" pitchFamily="18" charset="2"/>
              </a:rPr>
              <a:t>0</a:t>
            </a:r>
            <a:r>
              <a:rPr lang="en-US" altLang="en-US" sz="2800">
                <a:solidFill>
                  <a:schemeClr val="accent1">
                    <a:lumMod val="10000"/>
                  </a:schemeClr>
                </a:solidFill>
                <a:effectLst/>
                <a:sym typeface="Symbol" panose="05050102010706020507" pitchFamily="18" charset="2"/>
              </a:rPr>
              <a:t>exp(</a:t>
            </a:r>
            <a:r>
              <a:rPr lang="en-US" altLang="en-US" sz="2800" i="1">
                <a:solidFill>
                  <a:schemeClr val="accent1">
                    <a:lumMod val="10000"/>
                  </a:schemeClr>
                </a:solidFill>
                <a:effectLst/>
                <a:sym typeface="Symbol" panose="05050102010706020507" pitchFamily="18" charset="2"/>
              </a:rPr>
              <a:t>t</a:t>
            </a:r>
            <a:r>
              <a:rPr lang="en-US" altLang="en-US" sz="2800">
                <a:solidFill>
                  <a:schemeClr val="accent1">
                    <a:lumMod val="10000"/>
                  </a:schemeClr>
                </a:solidFill>
                <a:effectLst/>
                <a:sym typeface="Symbol" panose="05050102010706020507" pitchFamily="18" charset="2"/>
              </a:rPr>
              <a:t>/</a:t>
            </a:r>
            <a:r>
              <a:rPr lang="en-US" altLang="en-US" sz="2800" i="1">
                <a:solidFill>
                  <a:schemeClr val="accent1">
                    <a:lumMod val="10000"/>
                  </a:schemeClr>
                </a:solidFill>
                <a:effectLst/>
                <a:sym typeface="Symbol" panose="05050102010706020507" pitchFamily="18" charset="2"/>
              </a:rPr>
              <a:t></a:t>
            </a:r>
            <a:r>
              <a:rPr lang="en-US" altLang="en-US" sz="2800">
                <a:solidFill>
                  <a:schemeClr val="accent1">
                    <a:lumMod val="10000"/>
                  </a:schemeClr>
                </a:solidFill>
                <a:effectLst/>
                <a:sym typeface="Symbol" panose="05050102010706020507" pitchFamily="18" charset="2"/>
              </a:rPr>
              <a:t>)</a:t>
            </a:r>
          </a:p>
          <a:p>
            <a:pPr algn="just" eaLnBrk="1" hangingPunct="1"/>
            <a:r>
              <a:rPr lang="en-US" altLang="en-US" sz="2800">
                <a:solidFill>
                  <a:schemeClr val="accent1">
                    <a:lumMod val="10000"/>
                  </a:schemeClr>
                </a:solidFill>
                <a:effectLst/>
                <a:sym typeface="Symbol" panose="05050102010706020507" pitchFamily="18" charset="2"/>
              </a:rPr>
              <a:t>Any exponential function starts out with slope = Amplitude/</a:t>
            </a:r>
            <a:r>
              <a:rPr lang="en-US" altLang="en-US" sz="2800" i="1">
                <a:solidFill>
                  <a:schemeClr val="accent1">
                    <a:lumMod val="10000"/>
                  </a:schemeClr>
                </a:solidFill>
                <a:effectLst/>
                <a:sym typeface="Symbol" panose="05050102010706020507" pitchFamily="18" charset="2"/>
              </a:rPr>
              <a:t></a:t>
            </a:r>
          </a:p>
          <a:p>
            <a:pPr algn="just" eaLnBrk="1" hangingPunct="1"/>
            <a:r>
              <a:rPr lang="en-US" altLang="en-US" sz="2800">
                <a:solidFill>
                  <a:schemeClr val="accent1">
                    <a:lumMod val="10000"/>
                  </a:schemeClr>
                </a:solidFill>
                <a:effectLst/>
                <a:sym typeface="Symbol" panose="05050102010706020507" pitchFamily="18" charset="2"/>
              </a:rPr>
              <a:t>So if you want &lt; 10% ripple over 120 Hz (8.3 ms) timescale</a:t>
            </a:r>
          </a:p>
          <a:p>
            <a:pPr lvl="1" algn="just" eaLnBrk="1" hangingPunct="1"/>
            <a:r>
              <a:rPr lang="en-US" altLang="en-US" sz="2800">
                <a:solidFill>
                  <a:schemeClr val="accent1">
                    <a:lumMod val="10000"/>
                  </a:schemeClr>
                </a:solidFill>
                <a:effectLst/>
                <a:sym typeface="Symbol" panose="05050102010706020507" pitchFamily="18" charset="2"/>
              </a:rPr>
              <a:t>must have </a:t>
            </a:r>
            <a:r>
              <a:rPr lang="en-US" altLang="en-US" sz="2800" i="1">
                <a:solidFill>
                  <a:schemeClr val="accent1">
                    <a:lumMod val="10000"/>
                  </a:schemeClr>
                </a:solidFill>
                <a:effectLst/>
                <a:sym typeface="Symbol" panose="05050102010706020507" pitchFamily="18" charset="2"/>
              </a:rPr>
              <a:t></a:t>
            </a:r>
            <a:r>
              <a:rPr lang="en-US" altLang="en-US" sz="2800">
                <a:solidFill>
                  <a:schemeClr val="accent1">
                    <a:lumMod val="10000"/>
                  </a:schemeClr>
                </a:solidFill>
                <a:effectLst/>
                <a:sym typeface="Symbol" panose="05050102010706020507" pitchFamily="18" charset="2"/>
              </a:rPr>
              <a:t> = </a:t>
            </a:r>
            <a:r>
              <a:rPr lang="en-US" altLang="en-US" sz="2800" i="1">
                <a:solidFill>
                  <a:schemeClr val="accent1">
                    <a:lumMod val="10000"/>
                  </a:schemeClr>
                </a:solidFill>
                <a:effectLst/>
                <a:sym typeface="Symbol" panose="05050102010706020507" pitchFamily="18" charset="2"/>
              </a:rPr>
              <a:t>RC</a:t>
            </a:r>
            <a:r>
              <a:rPr lang="en-US" altLang="en-US" sz="2800">
                <a:solidFill>
                  <a:schemeClr val="accent1">
                    <a:lumMod val="10000"/>
                  </a:schemeClr>
                </a:solidFill>
                <a:effectLst/>
                <a:sym typeface="Symbol" panose="05050102010706020507" pitchFamily="18" charset="2"/>
              </a:rPr>
              <a:t> &gt; 83 ms</a:t>
            </a:r>
          </a:p>
          <a:p>
            <a:pPr lvl="1" algn="just" eaLnBrk="1" hangingPunct="1"/>
            <a:r>
              <a:rPr lang="en-US" altLang="en-US" sz="2800">
                <a:solidFill>
                  <a:schemeClr val="accent1">
                    <a:lumMod val="10000"/>
                  </a:schemeClr>
                </a:solidFill>
                <a:effectLst/>
                <a:sym typeface="Symbol" panose="05050102010706020507" pitchFamily="18" charset="2"/>
              </a:rPr>
              <a:t>if </a:t>
            </a:r>
            <a:r>
              <a:rPr lang="en-US" altLang="en-US" sz="2800" i="1">
                <a:solidFill>
                  <a:schemeClr val="accent1">
                    <a:lumMod val="10000"/>
                  </a:schemeClr>
                </a:solidFill>
                <a:effectLst/>
                <a:sym typeface="Symbol" panose="05050102010706020507" pitchFamily="18" charset="2"/>
              </a:rPr>
              <a:t>R</a:t>
            </a:r>
            <a:r>
              <a:rPr lang="en-US" altLang="en-US" sz="2800">
                <a:solidFill>
                  <a:schemeClr val="accent1">
                    <a:lumMod val="10000"/>
                  </a:schemeClr>
                </a:solidFill>
                <a:effectLst/>
                <a:sym typeface="Symbol" panose="05050102010706020507" pitchFamily="18" charset="2"/>
              </a:rPr>
              <a:t> = 100 , </a:t>
            </a:r>
            <a:r>
              <a:rPr lang="en-US" altLang="en-US" sz="2800" i="1">
                <a:solidFill>
                  <a:schemeClr val="accent1">
                    <a:lumMod val="10000"/>
                  </a:schemeClr>
                </a:solidFill>
                <a:effectLst/>
                <a:sym typeface="Symbol" panose="05050102010706020507" pitchFamily="18" charset="2"/>
              </a:rPr>
              <a:t>C</a:t>
            </a:r>
            <a:r>
              <a:rPr lang="en-US" altLang="en-US" sz="2800">
                <a:solidFill>
                  <a:schemeClr val="accent1">
                    <a:lumMod val="10000"/>
                  </a:schemeClr>
                </a:solidFill>
                <a:effectLst/>
                <a:sym typeface="Symbol" panose="05050102010706020507" pitchFamily="18" charset="2"/>
              </a:rPr>
              <a:t> &gt; 830 F</a:t>
            </a:r>
          </a:p>
        </p:txBody>
      </p:sp>
      <p:sp>
        <p:nvSpPr>
          <p:cNvPr id="44040" name="Line 25"/>
          <p:cNvSpPr>
            <a:spLocks noChangeShapeType="1"/>
          </p:cNvSpPr>
          <p:nvPr/>
        </p:nvSpPr>
        <p:spPr bwMode="auto">
          <a:xfrm>
            <a:off x="7336155" y="4278630"/>
            <a:ext cx="0" cy="1447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4041" name="Line 26"/>
          <p:cNvSpPr>
            <a:spLocks noChangeShapeType="1"/>
          </p:cNvSpPr>
          <p:nvPr/>
        </p:nvSpPr>
        <p:spPr bwMode="auto">
          <a:xfrm>
            <a:off x="7336155" y="5726430"/>
            <a:ext cx="3200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4042" name="Line 27"/>
          <p:cNvSpPr>
            <a:spLocks noChangeShapeType="1"/>
          </p:cNvSpPr>
          <p:nvPr/>
        </p:nvSpPr>
        <p:spPr bwMode="auto">
          <a:xfrm>
            <a:off x="7336155" y="4431030"/>
            <a:ext cx="1295400" cy="1295400"/>
          </a:xfrm>
          <a:prstGeom prst="line">
            <a:avLst/>
          </a:prstGeom>
          <a:noFill/>
          <a:ln w="9525">
            <a:solidFill>
              <a:schemeClr val="accent2"/>
            </a:solidFill>
            <a:prstDash val="dash"/>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4043" name="Freeform 29"/>
          <p:cNvSpPr/>
          <p:nvPr/>
        </p:nvSpPr>
        <p:spPr bwMode="auto">
          <a:xfrm>
            <a:off x="7336156" y="4392931"/>
            <a:ext cx="2722563" cy="1135063"/>
          </a:xfrm>
          <a:custGeom>
            <a:avLst/>
            <a:gdLst>
              <a:gd name="T0" fmla="*/ 0 w 1715"/>
              <a:gd name="T1" fmla="*/ 0 h 715"/>
              <a:gd name="T2" fmla="*/ 173891607 w 1715"/>
              <a:gd name="T3" fmla="*/ 173891652 h 715"/>
              <a:gd name="T4" fmla="*/ 322580059 w 1715"/>
              <a:gd name="T5" fmla="*/ 322580142 h 715"/>
              <a:gd name="T6" fmla="*/ 483870089 w 1715"/>
              <a:gd name="T7" fmla="*/ 451108961 h 715"/>
              <a:gd name="T8" fmla="*/ 745966387 w 1715"/>
              <a:gd name="T9" fmla="*/ 672882809 h 715"/>
              <a:gd name="T10" fmla="*/ 1108868954 w 1715"/>
              <a:gd name="T11" fmla="*/ 927417909 h 715"/>
              <a:gd name="T12" fmla="*/ 1565018112 w 1715"/>
              <a:gd name="T13" fmla="*/ 1176914281 h 715"/>
              <a:gd name="T14" fmla="*/ 2147483647 w 1715"/>
              <a:gd name="T15" fmla="*/ 1403728443 h 715"/>
              <a:gd name="T16" fmla="*/ 2147483647 w 1715"/>
              <a:gd name="T17" fmla="*/ 1565018514 h 715"/>
              <a:gd name="T18" fmla="*/ 2147483647 w 1715"/>
              <a:gd name="T19" fmla="*/ 1701107012 h 715"/>
              <a:gd name="T20" fmla="*/ 2147483647 w 1715"/>
              <a:gd name="T21" fmla="*/ 1801913306 h 7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15"/>
              <a:gd name="T34" fmla="*/ 0 h 715"/>
              <a:gd name="T35" fmla="*/ 1715 w 1715"/>
              <a:gd name="T36" fmla="*/ 715 h 7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15" h="715">
                <a:moveTo>
                  <a:pt x="0" y="0"/>
                </a:moveTo>
                <a:cubicBezTo>
                  <a:pt x="24" y="24"/>
                  <a:pt x="48" y="48"/>
                  <a:pt x="69" y="69"/>
                </a:cubicBezTo>
                <a:cubicBezTo>
                  <a:pt x="90" y="90"/>
                  <a:pt x="108" y="110"/>
                  <a:pt x="128" y="128"/>
                </a:cubicBezTo>
                <a:cubicBezTo>
                  <a:pt x="148" y="146"/>
                  <a:pt x="164" y="156"/>
                  <a:pt x="192" y="179"/>
                </a:cubicBezTo>
                <a:cubicBezTo>
                  <a:pt x="220" y="202"/>
                  <a:pt x="255" y="235"/>
                  <a:pt x="296" y="267"/>
                </a:cubicBezTo>
                <a:cubicBezTo>
                  <a:pt x="337" y="299"/>
                  <a:pt x="386" y="335"/>
                  <a:pt x="440" y="368"/>
                </a:cubicBezTo>
                <a:cubicBezTo>
                  <a:pt x="494" y="401"/>
                  <a:pt x="551" y="436"/>
                  <a:pt x="621" y="467"/>
                </a:cubicBezTo>
                <a:cubicBezTo>
                  <a:pt x="691" y="498"/>
                  <a:pt x="775" y="531"/>
                  <a:pt x="861" y="557"/>
                </a:cubicBezTo>
                <a:cubicBezTo>
                  <a:pt x="947" y="583"/>
                  <a:pt x="1040" y="601"/>
                  <a:pt x="1136" y="621"/>
                </a:cubicBezTo>
                <a:cubicBezTo>
                  <a:pt x="1232" y="641"/>
                  <a:pt x="1341" y="659"/>
                  <a:pt x="1437" y="675"/>
                </a:cubicBezTo>
                <a:cubicBezTo>
                  <a:pt x="1533" y="691"/>
                  <a:pt x="1624" y="703"/>
                  <a:pt x="1715" y="715"/>
                </a:cubicBezTo>
              </a:path>
            </a:pathLst>
          </a:custGeom>
          <a:noFill/>
          <a:ln w="9525">
            <a:solidFill>
              <a:schemeClr val="accent2"/>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4044" name="Line 30"/>
          <p:cNvSpPr>
            <a:spLocks noChangeShapeType="1"/>
          </p:cNvSpPr>
          <p:nvPr/>
        </p:nvSpPr>
        <p:spPr bwMode="auto">
          <a:xfrm flipH="1">
            <a:off x="7850189" y="5985193"/>
            <a:ext cx="1298575" cy="0"/>
          </a:xfrm>
          <a:prstGeom prst="line">
            <a:avLst/>
          </a:prstGeom>
          <a:noFill/>
          <a:ln w="952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98335" name="Text Box 31"/>
          <p:cNvSpPr txBox="1">
            <a:spLocks noChangeArrowheads="1"/>
          </p:cNvSpPr>
          <p:nvPr/>
        </p:nvSpPr>
        <p:spPr bwMode="auto">
          <a:xfrm>
            <a:off x="8347393" y="5878196"/>
            <a:ext cx="284162" cy="366713"/>
          </a:xfrm>
          <a:prstGeom prst="rect">
            <a:avLst/>
          </a:prstGeom>
          <a:noFill/>
          <a:ln w="9525">
            <a:noFill/>
            <a:miter lim="800000"/>
          </a:ln>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FF2C2C"/>
                </a:solidFill>
                <a:sym typeface="Symbol" panose="05050102010706020507" pitchFamily="18" charset="2"/>
              </a:rPr>
              <a:t></a:t>
            </a:r>
            <a:endParaRPr lang="en-US" altLang="en-US" i="1">
              <a:solidFill>
                <a:srgbClr val="1B28F6"/>
              </a:solidFill>
              <a:effectLst>
                <a:outerShdw blurRad="38100" dist="38100" dir="2700000" algn="tl">
                  <a:srgbClr val="C0C0C0"/>
                </a:outerShdw>
              </a:effectLst>
              <a:sym typeface="Symbol" panose="05050102010706020507" pitchFamily="18" charset="2"/>
            </a:endParaRPr>
          </a:p>
        </p:txBody>
      </p:sp>
      <p:pic>
        <p:nvPicPr>
          <p:cNvPr id="2" name="Picture 1"/>
          <p:cNvPicPr>
            <a:picLocks noChangeAspect="1"/>
          </p:cNvPicPr>
          <p:nvPr/>
        </p:nvPicPr>
        <p:blipFill>
          <a:blip r:embed="rId3"/>
          <a:stretch>
            <a:fillRect/>
          </a:stretch>
        </p:blipFill>
        <p:spPr>
          <a:xfrm>
            <a:off x="10059035" y="1576070"/>
            <a:ext cx="1645285" cy="11722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fld id="{35B8B463-7BD6-46C8-9E18-8E3FD9D905C4}" type="slidenum">
              <a:rPr lang="en-US" altLang="en-US" sz="1400">
                <a:solidFill>
                  <a:srgbClr val="1B28F6"/>
                </a:solidFill>
              </a:rPr>
              <a:t>22</a:t>
            </a:fld>
            <a:endParaRPr lang="en-US" altLang="en-US" sz="1400">
              <a:solidFill>
                <a:srgbClr val="1B28F6"/>
              </a:solidFill>
            </a:endParaRPr>
          </a:p>
        </p:txBody>
      </p:sp>
      <p:sp>
        <p:nvSpPr>
          <p:cNvPr id="142338" name="Rectangle 2"/>
          <p:cNvSpPr>
            <a:spLocks noGrp="1" noChangeArrowheads="1"/>
          </p:cNvSpPr>
          <p:nvPr>
            <p:ph type="title"/>
          </p:nvPr>
        </p:nvSpPr>
        <p:spPr>
          <a:xfrm>
            <a:off x="489585" y="190500"/>
            <a:ext cx="11092815" cy="582930"/>
          </a:xfrm>
        </p:spPr>
        <p:txBody>
          <a:bodyPr/>
          <a:lstStyle/>
          <a:p>
            <a:pPr algn="ctr" eaLnBrk="1" hangingPunct="1">
              <a:defRPr/>
            </a:pPr>
            <a:r>
              <a:rPr lang="en-US" b="1"/>
              <a:t>Regulating the Voltage</a:t>
            </a:r>
          </a:p>
        </p:txBody>
      </p:sp>
      <p:sp>
        <p:nvSpPr>
          <p:cNvPr id="142339" name="Rectangle 3"/>
          <p:cNvSpPr>
            <a:spLocks noGrp="1" noChangeArrowheads="1"/>
          </p:cNvSpPr>
          <p:nvPr>
            <p:ph type="body" idx="1"/>
          </p:nvPr>
        </p:nvSpPr>
        <p:spPr>
          <a:xfrm>
            <a:off x="788670" y="962025"/>
            <a:ext cx="9161145" cy="5759450"/>
          </a:xfrm>
        </p:spPr>
        <p:txBody>
          <a:bodyPr/>
          <a:lstStyle/>
          <a:p>
            <a:pPr eaLnBrk="1" hangingPunct="1">
              <a:lnSpc>
                <a:spcPct val="90000"/>
              </a:lnSpc>
            </a:pPr>
            <a:r>
              <a:rPr lang="en-US" altLang="en-US" sz="2500">
                <a:solidFill>
                  <a:schemeClr val="accent1">
                    <a:lumMod val="10000"/>
                  </a:schemeClr>
                </a:solidFill>
                <a:effectLst>
                  <a:outerShdw blurRad="38100" dist="38100" dir="2700000" algn="tl">
                    <a:srgbClr val="C0C0C0"/>
                  </a:outerShdw>
                </a:effectLst>
              </a:rPr>
              <a:t>The unregulated, supply voltage may not be at the value you want</a:t>
            </a:r>
          </a:p>
          <a:p>
            <a:pPr lvl="1" eaLnBrk="1" hangingPunct="1">
              <a:lnSpc>
                <a:spcPct val="90000"/>
              </a:lnSpc>
            </a:pPr>
            <a:r>
              <a:rPr lang="en-US" altLang="en-US" sz="2500">
                <a:solidFill>
                  <a:schemeClr val="accent1">
                    <a:lumMod val="10000"/>
                  </a:schemeClr>
                </a:solidFill>
              </a:rPr>
              <a:t>depends on transformer, etc.</a:t>
            </a:r>
          </a:p>
          <a:p>
            <a:pPr lvl="1" eaLnBrk="1" hangingPunct="1">
              <a:lnSpc>
                <a:spcPct val="90000"/>
              </a:lnSpc>
            </a:pPr>
            <a:r>
              <a:rPr lang="en-US" altLang="en-US" sz="2500">
                <a:solidFill>
                  <a:schemeClr val="accent1">
                    <a:lumMod val="10000"/>
                  </a:schemeClr>
                </a:solidFill>
              </a:rPr>
              <a:t>suppose you want 5.0 V</a:t>
            </a:r>
          </a:p>
          <a:p>
            <a:pPr eaLnBrk="1" hangingPunct="1">
              <a:lnSpc>
                <a:spcPct val="90000"/>
              </a:lnSpc>
            </a:pPr>
            <a:r>
              <a:rPr lang="en-US" altLang="en-US" sz="2500">
                <a:solidFill>
                  <a:schemeClr val="accent1">
                    <a:lumMod val="10000"/>
                  </a:schemeClr>
                </a:solidFill>
                <a:effectLst>
                  <a:outerShdw blurRad="38100" dist="38100" dir="2700000" algn="tl">
                    <a:srgbClr val="C0C0C0"/>
                  </a:outerShdw>
                </a:effectLst>
              </a:rPr>
              <a:t>You </a:t>
            </a:r>
            <a:r>
              <a:rPr lang="en-US" altLang="en-US" sz="2500" i="1">
                <a:solidFill>
                  <a:schemeClr val="accent1">
                    <a:lumMod val="10000"/>
                  </a:schemeClr>
                </a:solidFill>
                <a:effectLst>
                  <a:outerShdw blurRad="38100" dist="38100" dir="2700000" algn="tl">
                    <a:srgbClr val="C0C0C0"/>
                  </a:outerShdw>
                </a:effectLst>
              </a:rPr>
              <a:t>could</a:t>
            </a:r>
            <a:r>
              <a:rPr lang="en-US" altLang="en-US" sz="2500">
                <a:solidFill>
                  <a:schemeClr val="accent1">
                    <a:lumMod val="10000"/>
                  </a:schemeClr>
                </a:solidFill>
                <a:effectLst>
                  <a:outerShdw blurRad="38100" dist="38100" dir="2700000" algn="tl">
                    <a:srgbClr val="C0C0C0"/>
                  </a:outerShdw>
                </a:effectLst>
              </a:rPr>
              <a:t> use a voltage divider to set the voltage </a:t>
            </a:r>
          </a:p>
          <a:p>
            <a:pPr eaLnBrk="1" hangingPunct="1">
              <a:lnSpc>
                <a:spcPct val="90000"/>
              </a:lnSpc>
            </a:pPr>
            <a:r>
              <a:rPr lang="en-US" altLang="en-US" sz="2500">
                <a:solidFill>
                  <a:schemeClr val="accent1">
                    <a:lumMod val="10000"/>
                  </a:schemeClr>
                </a:solidFill>
                <a:effectLst>
                  <a:outerShdw blurRad="38100" dist="38100" dir="2700000" algn="tl">
                    <a:srgbClr val="C0C0C0"/>
                  </a:outerShdw>
                </a:effectLst>
              </a:rPr>
              <a:t>But it would droop under load</a:t>
            </a:r>
          </a:p>
          <a:p>
            <a:pPr lvl="1" eaLnBrk="1" hangingPunct="1">
              <a:lnSpc>
                <a:spcPct val="90000"/>
              </a:lnSpc>
            </a:pPr>
            <a:r>
              <a:rPr lang="en-US" altLang="en-US" sz="2500">
                <a:solidFill>
                  <a:schemeClr val="accent1">
                    <a:lumMod val="10000"/>
                  </a:schemeClr>
                </a:solidFill>
              </a:rPr>
              <a:t>output impedance </a:t>
            </a:r>
            <a:r>
              <a:rPr lang="en-US" altLang="en-US" sz="2500">
                <a:solidFill>
                  <a:schemeClr val="accent1">
                    <a:lumMod val="10000"/>
                  </a:schemeClr>
                </a:solidFill>
                <a:sym typeface="Symbol" panose="05050102010706020507" pitchFamily="18" charset="2"/>
              </a:rPr>
              <a:t> </a:t>
            </a:r>
            <a:r>
              <a:rPr lang="en-US" altLang="en-US" sz="2500" i="1">
                <a:solidFill>
                  <a:schemeClr val="accent1">
                    <a:lumMod val="10000"/>
                  </a:schemeClr>
                </a:solidFill>
                <a:sym typeface="Symbol" panose="05050102010706020507" pitchFamily="18" charset="2"/>
              </a:rPr>
              <a:t>R</a:t>
            </a:r>
            <a:r>
              <a:rPr lang="en-US" altLang="en-US" sz="2500" baseline="-25000">
                <a:solidFill>
                  <a:schemeClr val="accent1">
                    <a:lumMod val="10000"/>
                  </a:schemeClr>
                </a:solidFill>
                <a:sym typeface="Symbol" panose="05050102010706020507" pitchFamily="18" charset="2"/>
              </a:rPr>
              <a:t>1</a:t>
            </a:r>
            <a:r>
              <a:rPr lang="en-US" altLang="en-US" sz="2500">
                <a:solidFill>
                  <a:schemeClr val="accent1">
                    <a:lumMod val="10000"/>
                  </a:schemeClr>
                </a:solidFill>
                <a:sym typeface="Symbol" panose="05050102010706020507" pitchFamily="18" charset="2"/>
              </a:rPr>
              <a:t> || </a:t>
            </a:r>
            <a:r>
              <a:rPr lang="en-US" altLang="en-US" sz="2500" i="1">
                <a:solidFill>
                  <a:schemeClr val="accent1">
                    <a:lumMod val="10000"/>
                  </a:schemeClr>
                </a:solidFill>
                <a:sym typeface="Symbol" panose="05050102010706020507" pitchFamily="18" charset="2"/>
              </a:rPr>
              <a:t>R</a:t>
            </a:r>
            <a:r>
              <a:rPr lang="en-US" altLang="en-US" sz="2500" baseline="-25000">
                <a:solidFill>
                  <a:schemeClr val="accent1">
                    <a:lumMod val="10000"/>
                  </a:schemeClr>
                </a:solidFill>
                <a:sym typeface="Symbol" panose="05050102010706020507" pitchFamily="18" charset="2"/>
              </a:rPr>
              <a:t>2</a:t>
            </a:r>
            <a:endParaRPr lang="en-US" altLang="en-US" sz="2500">
              <a:solidFill>
                <a:schemeClr val="accent1">
                  <a:lumMod val="10000"/>
                </a:schemeClr>
              </a:solidFill>
              <a:sym typeface="Symbol" panose="05050102010706020507" pitchFamily="18" charset="2"/>
            </a:endParaRPr>
          </a:p>
          <a:p>
            <a:pPr lvl="1" eaLnBrk="1" hangingPunct="1">
              <a:lnSpc>
                <a:spcPct val="90000"/>
              </a:lnSpc>
            </a:pPr>
            <a:r>
              <a:rPr lang="en-US" altLang="en-US" sz="2500">
                <a:solidFill>
                  <a:schemeClr val="accent1">
                    <a:lumMod val="10000"/>
                  </a:schemeClr>
                </a:solidFill>
                <a:sym typeface="Symbol" panose="05050102010706020507" pitchFamily="18" charset="2"/>
              </a:rPr>
              <a:t>need to have very small </a:t>
            </a:r>
            <a:r>
              <a:rPr lang="en-US" altLang="en-US" sz="2500" i="1">
                <a:solidFill>
                  <a:schemeClr val="accent1">
                    <a:lumMod val="10000"/>
                  </a:schemeClr>
                </a:solidFill>
                <a:sym typeface="Symbol" panose="05050102010706020507" pitchFamily="18" charset="2"/>
              </a:rPr>
              <a:t>R</a:t>
            </a:r>
            <a:r>
              <a:rPr lang="en-US" altLang="en-US" sz="2500" baseline="-25000">
                <a:solidFill>
                  <a:schemeClr val="accent1">
                    <a:lumMod val="10000"/>
                  </a:schemeClr>
                </a:solidFill>
                <a:sym typeface="Symbol" panose="05050102010706020507" pitchFamily="18" charset="2"/>
              </a:rPr>
              <a:t>1</a:t>
            </a:r>
            <a:r>
              <a:rPr lang="en-US" altLang="en-US" sz="2500">
                <a:solidFill>
                  <a:schemeClr val="accent1">
                    <a:lumMod val="10000"/>
                  </a:schemeClr>
                </a:solidFill>
                <a:sym typeface="Symbol" panose="05050102010706020507" pitchFamily="18" charset="2"/>
              </a:rPr>
              <a:t>, </a:t>
            </a:r>
            <a:r>
              <a:rPr lang="en-US" altLang="en-US" sz="2500" i="1">
                <a:solidFill>
                  <a:schemeClr val="accent1">
                    <a:lumMod val="10000"/>
                  </a:schemeClr>
                </a:solidFill>
                <a:sym typeface="Symbol" panose="05050102010706020507" pitchFamily="18" charset="2"/>
              </a:rPr>
              <a:t>R</a:t>
            </a:r>
            <a:r>
              <a:rPr lang="en-US" altLang="en-US" sz="2500" baseline="-25000">
                <a:solidFill>
                  <a:schemeClr val="accent1">
                    <a:lumMod val="10000"/>
                  </a:schemeClr>
                </a:solidFill>
                <a:sym typeface="Symbol" panose="05050102010706020507" pitchFamily="18" charset="2"/>
              </a:rPr>
              <a:t>2</a:t>
            </a:r>
            <a:r>
              <a:rPr lang="en-US" altLang="en-US" sz="2500">
                <a:solidFill>
                  <a:schemeClr val="accent1">
                    <a:lumMod val="10000"/>
                  </a:schemeClr>
                </a:solidFill>
                <a:sym typeface="Symbol" panose="05050102010706020507" pitchFamily="18" charset="2"/>
              </a:rPr>
              <a:t> to make “stiff”</a:t>
            </a:r>
          </a:p>
          <a:p>
            <a:pPr lvl="1" eaLnBrk="1" hangingPunct="1">
              <a:lnSpc>
                <a:spcPct val="90000"/>
              </a:lnSpc>
            </a:pPr>
            <a:r>
              <a:rPr lang="en-US" altLang="en-US" sz="2500">
                <a:solidFill>
                  <a:schemeClr val="accent1">
                    <a:lumMod val="10000"/>
                  </a:schemeClr>
                </a:solidFill>
                <a:sym typeface="Symbol" panose="05050102010706020507" pitchFamily="18" charset="2"/>
              </a:rPr>
              <a:t>the divider will draw a lot of current</a:t>
            </a:r>
          </a:p>
          <a:p>
            <a:pPr lvl="1" eaLnBrk="1" hangingPunct="1">
              <a:lnSpc>
                <a:spcPct val="90000"/>
              </a:lnSpc>
            </a:pPr>
            <a:r>
              <a:rPr lang="en-US" altLang="en-US" sz="2500">
                <a:solidFill>
                  <a:schemeClr val="accent1">
                    <a:lumMod val="10000"/>
                  </a:schemeClr>
                </a:solidFill>
                <a:sym typeface="Symbol" panose="05050102010706020507" pitchFamily="18" charset="2"/>
              </a:rPr>
              <a:t>perhaps straining the source</a:t>
            </a:r>
          </a:p>
          <a:p>
            <a:pPr lvl="1" eaLnBrk="1" hangingPunct="1">
              <a:lnSpc>
                <a:spcPct val="90000"/>
              </a:lnSpc>
            </a:pPr>
            <a:r>
              <a:rPr lang="en-US" altLang="en-US" sz="2500">
                <a:solidFill>
                  <a:schemeClr val="accent1">
                    <a:lumMod val="10000"/>
                  </a:schemeClr>
                </a:solidFill>
                <a:sym typeface="Symbol" panose="05050102010706020507" pitchFamily="18" charset="2"/>
              </a:rPr>
              <a:t>power expended in divider &gt;&gt; power in load</a:t>
            </a:r>
          </a:p>
          <a:p>
            <a:pPr eaLnBrk="1" hangingPunct="1">
              <a:lnSpc>
                <a:spcPct val="90000"/>
              </a:lnSpc>
            </a:pPr>
            <a:r>
              <a:rPr lang="en-US" altLang="en-US" sz="2500">
                <a:solidFill>
                  <a:schemeClr val="accent1">
                    <a:lumMod val="10000"/>
                  </a:schemeClr>
                </a:solidFill>
                <a:effectLst>
                  <a:outerShdw blurRad="38100" dist="38100" dir="2700000" algn="tl">
                    <a:srgbClr val="C0C0C0"/>
                  </a:outerShdw>
                </a:effectLst>
              </a:rPr>
              <a:t>Not a “real” solution</a:t>
            </a:r>
          </a:p>
          <a:p>
            <a:pPr eaLnBrk="1" hangingPunct="1">
              <a:lnSpc>
                <a:spcPct val="90000"/>
              </a:lnSpc>
            </a:pPr>
            <a:r>
              <a:rPr lang="en-US" altLang="en-US" sz="2500">
                <a:solidFill>
                  <a:schemeClr val="accent1">
                    <a:lumMod val="10000"/>
                  </a:schemeClr>
                </a:solidFill>
                <a:effectLst>
                  <a:outerShdw blurRad="38100" dist="38100" dir="2700000" algn="tl">
                    <a:srgbClr val="C0C0C0"/>
                  </a:outerShdw>
                </a:effectLst>
              </a:rPr>
              <a:t>Important note: a “big load” means a small resistor value: 1 </a:t>
            </a:r>
            <a:r>
              <a:rPr lang="en-US" altLang="en-US" sz="2500">
                <a:solidFill>
                  <a:schemeClr val="accent1">
                    <a:lumMod val="10000"/>
                  </a:schemeClr>
                </a:solidFill>
                <a:effectLst>
                  <a:outerShdw blurRad="38100" dist="38100" dir="2700000" algn="tl">
                    <a:srgbClr val="C0C0C0"/>
                  </a:outerShdw>
                </a:effectLst>
                <a:sym typeface="Symbol" panose="05050102010706020507" pitchFamily="18" charset="2"/>
              </a:rPr>
              <a:t> demands more current than 1 M</a:t>
            </a:r>
          </a:p>
        </p:txBody>
      </p:sp>
      <p:grpSp>
        <p:nvGrpSpPr>
          <p:cNvPr id="46087" name="Group 44"/>
          <p:cNvGrpSpPr/>
          <p:nvPr/>
        </p:nvGrpSpPr>
        <p:grpSpPr bwMode="auto">
          <a:xfrm>
            <a:off x="9859645" y="2170430"/>
            <a:ext cx="2108200" cy="2590800"/>
            <a:chOff x="4272" y="1872"/>
            <a:chExt cx="1328" cy="1632"/>
          </a:xfrm>
        </p:grpSpPr>
        <p:sp>
          <p:nvSpPr>
            <p:cNvPr id="46088" name="Freeform 4"/>
            <p:cNvSpPr/>
            <p:nvPr/>
          </p:nvSpPr>
          <p:spPr bwMode="auto">
            <a:xfrm>
              <a:off x="4608" y="2064"/>
              <a:ext cx="96" cy="480"/>
            </a:xfrm>
            <a:custGeom>
              <a:avLst/>
              <a:gdLst>
                <a:gd name="T0" fmla="*/ 48 w 96"/>
                <a:gd name="T1" fmla="*/ 0 h 480"/>
                <a:gd name="T2" fmla="*/ 48 w 96"/>
                <a:gd name="T3" fmla="*/ 96 h 480"/>
                <a:gd name="T4" fmla="*/ 96 w 96"/>
                <a:gd name="T5" fmla="*/ 144 h 480"/>
                <a:gd name="T6" fmla="*/ 0 w 96"/>
                <a:gd name="T7" fmla="*/ 192 h 480"/>
                <a:gd name="T8" fmla="*/ 96 w 96"/>
                <a:gd name="T9" fmla="*/ 240 h 480"/>
                <a:gd name="T10" fmla="*/ 0 w 96"/>
                <a:gd name="T11" fmla="*/ 288 h 480"/>
                <a:gd name="T12" fmla="*/ 96 w 96"/>
                <a:gd name="T13" fmla="*/ 336 h 480"/>
                <a:gd name="T14" fmla="*/ 0 w 96"/>
                <a:gd name="T15" fmla="*/ 384 h 480"/>
                <a:gd name="T16" fmla="*/ 48 w 96"/>
                <a:gd name="T17" fmla="*/ 432 h 480"/>
                <a:gd name="T18" fmla="*/ 48 w 96"/>
                <a:gd name="T19" fmla="*/ 48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480"/>
                <a:gd name="T32" fmla="*/ 96 w 9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480">
                  <a:moveTo>
                    <a:pt x="48" y="0"/>
                  </a:moveTo>
                  <a:lnTo>
                    <a:pt x="48" y="96"/>
                  </a:lnTo>
                  <a:lnTo>
                    <a:pt x="96" y="144"/>
                  </a:lnTo>
                  <a:lnTo>
                    <a:pt x="0" y="192"/>
                  </a:lnTo>
                  <a:lnTo>
                    <a:pt x="96" y="240"/>
                  </a:lnTo>
                  <a:lnTo>
                    <a:pt x="0" y="288"/>
                  </a:lnTo>
                  <a:lnTo>
                    <a:pt x="96" y="336"/>
                  </a:lnTo>
                  <a:lnTo>
                    <a:pt x="0" y="384"/>
                  </a:lnTo>
                  <a:lnTo>
                    <a:pt x="48" y="432"/>
                  </a:lnTo>
                  <a:lnTo>
                    <a:pt x="48" y="4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nvGrpSpPr>
            <p:cNvPr id="46089" name="Group 5"/>
            <p:cNvGrpSpPr/>
            <p:nvPr/>
          </p:nvGrpSpPr>
          <p:grpSpPr bwMode="auto">
            <a:xfrm>
              <a:off x="4487" y="2784"/>
              <a:ext cx="505" cy="576"/>
              <a:chOff x="4487" y="2064"/>
              <a:chExt cx="505" cy="576"/>
            </a:xfrm>
          </p:grpSpPr>
          <p:sp>
            <p:nvSpPr>
              <p:cNvPr id="46109" name="Freeform 6"/>
              <p:cNvSpPr/>
              <p:nvPr/>
            </p:nvSpPr>
            <p:spPr bwMode="auto">
              <a:xfrm>
                <a:off x="4608" y="2064"/>
                <a:ext cx="96" cy="480"/>
              </a:xfrm>
              <a:custGeom>
                <a:avLst/>
                <a:gdLst>
                  <a:gd name="T0" fmla="*/ 48 w 96"/>
                  <a:gd name="T1" fmla="*/ 0 h 480"/>
                  <a:gd name="T2" fmla="*/ 48 w 96"/>
                  <a:gd name="T3" fmla="*/ 96 h 480"/>
                  <a:gd name="T4" fmla="*/ 96 w 96"/>
                  <a:gd name="T5" fmla="*/ 144 h 480"/>
                  <a:gd name="T6" fmla="*/ 0 w 96"/>
                  <a:gd name="T7" fmla="*/ 192 h 480"/>
                  <a:gd name="T8" fmla="*/ 96 w 96"/>
                  <a:gd name="T9" fmla="*/ 240 h 480"/>
                  <a:gd name="T10" fmla="*/ 0 w 96"/>
                  <a:gd name="T11" fmla="*/ 288 h 480"/>
                  <a:gd name="T12" fmla="*/ 96 w 96"/>
                  <a:gd name="T13" fmla="*/ 336 h 480"/>
                  <a:gd name="T14" fmla="*/ 0 w 96"/>
                  <a:gd name="T15" fmla="*/ 384 h 480"/>
                  <a:gd name="T16" fmla="*/ 48 w 96"/>
                  <a:gd name="T17" fmla="*/ 432 h 480"/>
                  <a:gd name="T18" fmla="*/ 48 w 96"/>
                  <a:gd name="T19" fmla="*/ 48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480"/>
                  <a:gd name="T32" fmla="*/ 96 w 9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480">
                    <a:moveTo>
                      <a:pt x="48" y="0"/>
                    </a:moveTo>
                    <a:lnTo>
                      <a:pt x="48" y="96"/>
                    </a:lnTo>
                    <a:lnTo>
                      <a:pt x="96" y="144"/>
                    </a:lnTo>
                    <a:lnTo>
                      <a:pt x="0" y="192"/>
                    </a:lnTo>
                    <a:lnTo>
                      <a:pt x="96" y="240"/>
                    </a:lnTo>
                    <a:lnTo>
                      <a:pt x="0" y="288"/>
                    </a:lnTo>
                    <a:lnTo>
                      <a:pt x="96" y="336"/>
                    </a:lnTo>
                    <a:lnTo>
                      <a:pt x="0" y="384"/>
                    </a:lnTo>
                    <a:lnTo>
                      <a:pt x="48" y="432"/>
                    </a:lnTo>
                    <a:lnTo>
                      <a:pt x="48" y="4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6110" name="Line 7"/>
              <p:cNvSpPr>
                <a:spLocks noChangeShapeType="1"/>
              </p:cNvSpPr>
              <p:nvPr/>
            </p:nvSpPr>
            <p:spPr bwMode="auto">
              <a:xfrm flipH="1">
                <a:off x="4704" y="2304"/>
                <a:ext cx="144"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11" name="Line 8"/>
              <p:cNvSpPr>
                <a:spLocks noChangeShapeType="1"/>
              </p:cNvSpPr>
              <p:nvPr/>
            </p:nvSpPr>
            <p:spPr bwMode="auto">
              <a:xfrm>
                <a:off x="4848" y="2304"/>
                <a:ext cx="0" cy="2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12" name="Line 9"/>
              <p:cNvSpPr>
                <a:spLocks noChangeShapeType="1"/>
              </p:cNvSpPr>
              <p:nvPr/>
            </p:nvSpPr>
            <p:spPr bwMode="auto">
              <a:xfrm flipH="1">
                <a:off x="4656" y="254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13" name="Line 10"/>
              <p:cNvSpPr>
                <a:spLocks noChangeShapeType="1"/>
              </p:cNvSpPr>
              <p:nvPr/>
            </p:nvSpPr>
            <p:spPr bwMode="auto">
              <a:xfrm>
                <a:off x="4656" y="2544"/>
                <a:ext cx="0" cy="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14" name="Text Box 11"/>
              <p:cNvSpPr txBox="1">
                <a:spLocks noChangeArrowheads="1"/>
              </p:cNvSpPr>
              <p:nvPr/>
            </p:nvSpPr>
            <p:spPr bwMode="auto">
              <a:xfrm>
                <a:off x="4487" y="2083"/>
                <a:ext cx="1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200">
                    <a:solidFill>
                      <a:srgbClr val="000000"/>
                    </a:solidFill>
                  </a:rPr>
                  <a:t>1</a:t>
                </a:r>
                <a:endParaRPr lang="en-US" altLang="en-US" sz="1200">
                  <a:solidFill>
                    <a:srgbClr val="1B28F6"/>
                  </a:solidFill>
                </a:endParaRPr>
              </a:p>
            </p:txBody>
          </p:sp>
          <p:sp>
            <p:nvSpPr>
              <p:cNvPr id="46115" name="Text Box 12"/>
              <p:cNvSpPr txBox="1">
                <a:spLocks noChangeArrowheads="1"/>
              </p:cNvSpPr>
              <p:nvPr/>
            </p:nvSpPr>
            <p:spPr bwMode="auto">
              <a:xfrm>
                <a:off x="4487" y="2467"/>
                <a:ext cx="1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200">
                    <a:solidFill>
                      <a:srgbClr val="000000"/>
                    </a:solidFill>
                  </a:rPr>
                  <a:t>2</a:t>
                </a:r>
                <a:endParaRPr lang="en-US" altLang="en-US" sz="1200">
                  <a:solidFill>
                    <a:srgbClr val="1B28F6"/>
                  </a:solidFill>
                </a:endParaRPr>
              </a:p>
            </p:txBody>
          </p:sp>
          <p:sp>
            <p:nvSpPr>
              <p:cNvPr id="46116" name="Text Box 13"/>
              <p:cNvSpPr txBox="1">
                <a:spLocks noChangeArrowheads="1"/>
              </p:cNvSpPr>
              <p:nvPr/>
            </p:nvSpPr>
            <p:spPr bwMode="auto">
              <a:xfrm>
                <a:off x="4823" y="2227"/>
                <a:ext cx="1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200">
                    <a:solidFill>
                      <a:srgbClr val="000000"/>
                    </a:solidFill>
                  </a:rPr>
                  <a:t>3</a:t>
                </a:r>
                <a:endParaRPr lang="en-US" altLang="en-US" sz="1200">
                  <a:solidFill>
                    <a:srgbClr val="1B28F6"/>
                  </a:solidFill>
                </a:endParaRPr>
              </a:p>
            </p:txBody>
          </p:sp>
          <p:sp>
            <p:nvSpPr>
              <p:cNvPr id="46117" name="Oval 14"/>
              <p:cNvSpPr>
                <a:spLocks noChangeArrowheads="1"/>
              </p:cNvSpPr>
              <p:nvPr/>
            </p:nvSpPr>
            <p:spPr bwMode="auto">
              <a:xfrm>
                <a:off x="4647" y="2535"/>
                <a:ext cx="23" cy="23"/>
              </a:xfrm>
              <a:prstGeom prst="ellipse">
                <a:avLst/>
              </a:prstGeom>
              <a:solidFill>
                <a:schemeClr val="tx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sp>
          <p:nvSpPr>
            <p:cNvPr id="46090" name="Line 15"/>
            <p:cNvSpPr>
              <a:spLocks noChangeShapeType="1"/>
            </p:cNvSpPr>
            <p:nvPr/>
          </p:nvSpPr>
          <p:spPr bwMode="auto">
            <a:xfrm>
              <a:off x="4656" y="2544"/>
              <a:ext cx="0" cy="2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091" name="Line 16"/>
            <p:cNvSpPr>
              <a:spLocks noChangeShapeType="1"/>
            </p:cNvSpPr>
            <p:nvPr/>
          </p:nvSpPr>
          <p:spPr bwMode="auto">
            <a:xfrm>
              <a:off x="4656" y="2640"/>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092" name="Oval 17"/>
            <p:cNvSpPr>
              <a:spLocks noChangeArrowheads="1"/>
            </p:cNvSpPr>
            <p:nvPr/>
          </p:nvSpPr>
          <p:spPr bwMode="auto">
            <a:xfrm>
              <a:off x="4646" y="2625"/>
              <a:ext cx="23" cy="23"/>
            </a:xfrm>
            <a:prstGeom prst="ellipse">
              <a:avLst/>
            </a:prstGeom>
            <a:solidFill>
              <a:schemeClr val="tx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nvGrpSpPr>
            <p:cNvPr id="46093" name="Group 18"/>
            <p:cNvGrpSpPr/>
            <p:nvPr/>
          </p:nvGrpSpPr>
          <p:grpSpPr bwMode="auto">
            <a:xfrm>
              <a:off x="4560" y="3312"/>
              <a:ext cx="192" cy="192"/>
              <a:chOff x="4032" y="1968"/>
              <a:chExt cx="192" cy="192"/>
            </a:xfrm>
          </p:grpSpPr>
          <p:sp>
            <p:nvSpPr>
              <p:cNvPr id="46105" name="Line 19"/>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06" name="Line 20"/>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07" name="Line 21"/>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08" name="Line 22"/>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6094" name="Text Box 23"/>
            <p:cNvSpPr txBox="1">
              <a:spLocks noChangeArrowheads="1"/>
            </p:cNvSpPr>
            <p:nvPr/>
          </p:nvSpPr>
          <p:spPr bwMode="auto">
            <a:xfrm>
              <a:off x="4719" y="2187"/>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R</a:t>
              </a:r>
              <a:r>
                <a:rPr lang="en-US" altLang="en-US" sz="1800" baseline="-25000">
                  <a:solidFill>
                    <a:srgbClr val="000000"/>
                  </a:solidFill>
                </a:rPr>
                <a:t>1</a:t>
              </a:r>
              <a:endParaRPr lang="en-US" altLang="en-US" sz="1800">
                <a:solidFill>
                  <a:srgbClr val="1B28F6"/>
                </a:solidFill>
              </a:endParaRPr>
            </a:p>
          </p:txBody>
        </p:sp>
        <p:sp>
          <p:nvSpPr>
            <p:cNvPr id="46095" name="Text Box 24"/>
            <p:cNvSpPr txBox="1">
              <a:spLocks noChangeArrowheads="1"/>
            </p:cNvSpPr>
            <p:nvPr/>
          </p:nvSpPr>
          <p:spPr bwMode="auto">
            <a:xfrm>
              <a:off x="4272" y="2937"/>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R</a:t>
              </a:r>
              <a:r>
                <a:rPr lang="en-US" altLang="en-US" sz="1800" baseline="-25000">
                  <a:solidFill>
                    <a:srgbClr val="000000"/>
                  </a:solidFill>
                </a:rPr>
                <a:t>2</a:t>
              </a:r>
              <a:endParaRPr lang="en-US" altLang="en-US" sz="1800">
                <a:solidFill>
                  <a:srgbClr val="1B28F6"/>
                </a:solidFill>
              </a:endParaRPr>
            </a:p>
          </p:txBody>
        </p:sp>
        <p:sp>
          <p:nvSpPr>
            <p:cNvPr id="46096" name="Text Box 35"/>
            <p:cNvSpPr txBox="1">
              <a:spLocks noChangeArrowheads="1"/>
            </p:cNvSpPr>
            <p:nvPr/>
          </p:nvSpPr>
          <p:spPr bwMode="auto">
            <a:xfrm>
              <a:off x="4560" y="1872"/>
              <a:ext cx="2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V</a:t>
              </a:r>
              <a:r>
                <a:rPr lang="en-US" altLang="en-US" sz="1800" baseline="-25000">
                  <a:solidFill>
                    <a:srgbClr val="000000"/>
                  </a:solidFill>
                </a:rPr>
                <a:t>in</a:t>
              </a:r>
              <a:endParaRPr lang="en-US" altLang="en-US" sz="1800">
                <a:solidFill>
                  <a:srgbClr val="1B28F6"/>
                </a:solidFill>
              </a:endParaRPr>
            </a:p>
          </p:txBody>
        </p:sp>
        <p:sp>
          <p:nvSpPr>
            <p:cNvPr id="46097" name="Text Box 36"/>
            <p:cNvSpPr txBox="1">
              <a:spLocks noChangeArrowheads="1"/>
            </p:cNvSpPr>
            <p:nvPr/>
          </p:nvSpPr>
          <p:spPr bwMode="auto">
            <a:xfrm>
              <a:off x="5184" y="2505"/>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V</a:t>
              </a:r>
              <a:r>
                <a:rPr lang="en-US" altLang="en-US" sz="1800" baseline="-25000">
                  <a:solidFill>
                    <a:srgbClr val="000000"/>
                  </a:solidFill>
                </a:rPr>
                <a:t>out</a:t>
              </a:r>
              <a:endParaRPr lang="en-US" altLang="en-US" sz="1800">
                <a:solidFill>
                  <a:srgbClr val="1B28F6"/>
                </a:solidFill>
              </a:endParaRPr>
            </a:p>
          </p:txBody>
        </p:sp>
        <p:sp>
          <p:nvSpPr>
            <p:cNvPr id="46098" name="Freeform 37"/>
            <p:cNvSpPr/>
            <p:nvPr/>
          </p:nvSpPr>
          <p:spPr bwMode="auto">
            <a:xfrm>
              <a:off x="5136" y="2640"/>
              <a:ext cx="96" cy="480"/>
            </a:xfrm>
            <a:custGeom>
              <a:avLst/>
              <a:gdLst>
                <a:gd name="T0" fmla="*/ 48 w 96"/>
                <a:gd name="T1" fmla="*/ 0 h 480"/>
                <a:gd name="T2" fmla="*/ 48 w 96"/>
                <a:gd name="T3" fmla="*/ 96 h 480"/>
                <a:gd name="T4" fmla="*/ 96 w 96"/>
                <a:gd name="T5" fmla="*/ 144 h 480"/>
                <a:gd name="T6" fmla="*/ 0 w 96"/>
                <a:gd name="T7" fmla="*/ 192 h 480"/>
                <a:gd name="T8" fmla="*/ 96 w 96"/>
                <a:gd name="T9" fmla="*/ 240 h 480"/>
                <a:gd name="T10" fmla="*/ 0 w 96"/>
                <a:gd name="T11" fmla="*/ 288 h 480"/>
                <a:gd name="T12" fmla="*/ 96 w 96"/>
                <a:gd name="T13" fmla="*/ 336 h 480"/>
                <a:gd name="T14" fmla="*/ 0 w 96"/>
                <a:gd name="T15" fmla="*/ 384 h 480"/>
                <a:gd name="T16" fmla="*/ 48 w 96"/>
                <a:gd name="T17" fmla="*/ 432 h 480"/>
                <a:gd name="T18" fmla="*/ 48 w 96"/>
                <a:gd name="T19" fmla="*/ 48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480"/>
                <a:gd name="T32" fmla="*/ 96 w 9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480">
                  <a:moveTo>
                    <a:pt x="48" y="0"/>
                  </a:moveTo>
                  <a:lnTo>
                    <a:pt x="48" y="96"/>
                  </a:lnTo>
                  <a:lnTo>
                    <a:pt x="96" y="144"/>
                  </a:lnTo>
                  <a:lnTo>
                    <a:pt x="0" y="192"/>
                  </a:lnTo>
                  <a:lnTo>
                    <a:pt x="96" y="240"/>
                  </a:lnTo>
                  <a:lnTo>
                    <a:pt x="0" y="288"/>
                  </a:lnTo>
                  <a:lnTo>
                    <a:pt x="96" y="336"/>
                  </a:lnTo>
                  <a:lnTo>
                    <a:pt x="0" y="384"/>
                  </a:lnTo>
                  <a:lnTo>
                    <a:pt x="48" y="432"/>
                  </a:lnTo>
                  <a:lnTo>
                    <a:pt x="48" y="4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nvGrpSpPr>
            <p:cNvPr id="46099" name="Group 38"/>
            <p:cNvGrpSpPr/>
            <p:nvPr/>
          </p:nvGrpSpPr>
          <p:grpSpPr bwMode="auto">
            <a:xfrm>
              <a:off x="5088" y="3120"/>
              <a:ext cx="192" cy="192"/>
              <a:chOff x="4032" y="1968"/>
              <a:chExt cx="192" cy="192"/>
            </a:xfrm>
          </p:grpSpPr>
          <p:sp>
            <p:nvSpPr>
              <p:cNvPr id="46101" name="Line 39"/>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02" name="Line 40"/>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03" name="Line 41"/>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6104" name="Line 42"/>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6100" name="Text Box 43"/>
            <p:cNvSpPr txBox="1">
              <a:spLocks noChangeArrowheads="1"/>
            </p:cNvSpPr>
            <p:nvPr/>
          </p:nvSpPr>
          <p:spPr bwMode="auto">
            <a:xfrm>
              <a:off x="5199" y="2793"/>
              <a:ext cx="4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R</a:t>
              </a:r>
              <a:r>
                <a:rPr lang="en-US" altLang="en-US" sz="1800" baseline="-25000">
                  <a:solidFill>
                    <a:srgbClr val="000000"/>
                  </a:solidFill>
                </a:rPr>
                <a:t>load</a:t>
              </a:r>
              <a:endParaRPr lang="en-US" altLang="en-US" sz="1800">
                <a:solidFill>
                  <a:srgbClr val="1B28F6"/>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609600" y="175260"/>
            <a:ext cx="10972800" cy="582613"/>
          </a:xfrm>
        </p:spPr>
        <p:txBody>
          <a:bodyPr/>
          <a:lstStyle/>
          <a:p>
            <a:pPr algn="ctr" eaLnBrk="1" hangingPunct="1">
              <a:defRPr/>
            </a:pPr>
            <a:r>
              <a:rPr lang="en-US" b="1" dirty="0"/>
              <a:t>The Zener Regulator</a:t>
            </a:r>
          </a:p>
        </p:txBody>
      </p:sp>
      <p:sp>
        <p:nvSpPr>
          <p:cNvPr id="143363" name="Rectangle 3"/>
          <p:cNvSpPr>
            <a:spLocks noGrp="1" noChangeArrowheads="1"/>
          </p:cNvSpPr>
          <p:nvPr>
            <p:ph type="body" sz="half" idx="1"/>
          </p:nvPr>
        </p:nvSpPr>
        <p:spPr>
          <a:xfrm>
            <a:off x="318135" y="870585"/>
            <a:ext cx="8000365" cy="5850890"/>
          </a:xfrm>
        </p:spPr>
        <p:txBody>
          <a:bodyPr/>
          <a:lstStyle/>
          <a:p>
            <a:pPr algn="just" eaLnBrk="1" hangingPunct="1"/>
            <a:r>
              <a:rPr lang="en-US" altLang="en-US" sz="2400">
                <a:solidFill>
                  <a:schemeClr val="accent1">
                    <a:lumMod val="10000"/>
                  </a:schemeClr>
                </a:solidFill>
                <a:effectLst>
                  <a:outerShdw blurRad="38100" dist="38100" dir="2700000" algn="tl">
                    <a:srgbClr val="C0C0C0"/>
                  </a:outerShdw>
                </a:effectLst>
              </a:rPr>
              <a:t>Zener diodes break down at some reverse voltage</a:t>
            </a:r>
          </a:p>
          <a:p>
            <a:pPr lvl="1" algn="just" eaLnBrk="1" hangingPunct="1"/>
            <a:r>
              <a:rPr lang="en-US" altLang="en-US" sz="2400">
                <a:solidFill>
                  <a:schemeClr val="accent1">
                    <a:lumMod val="10000"/>
                  </a:schemeClr>
                </a:solidFill>
              </a:rPr>
              <a:t>can buy at specific breakdown voltages</a:t>
            </a:r>
          </a:p>
          <a:p>
            <a:pPr lvl="1" algn="just" eaLnBrk="1" hangingPunct="1"/>
            <a:r>
              <a:rPr lang="en-US" altLang="en-US" sz="2400">
                <a:solidFill>
                  <a:schemeClr val="accent1">
                    <a:lumMod val="10000"/>
                  </a:schemeClr>
                </a:solidFill>
              </a:rPr>
              <a:t>as long as </a:t>
            </a:r>
            <a:r>
              <a:rPr lang="en-US" altLang="en-US" sz="2400" i="1">
                <a:solidFill>
                  <a:schemeClr val="accent1">
                    <a:lumMod val="10000"/>
                  </a:schemeClr>
                </a:solidFill>
              </a:rPr>
              <a:t>some </a:t>
            </a:r>
            <a:r>
              <a:rPr lang="en-US" altLang="en-US" sz="2400">
                <a:solidFill>
                  <a:schemeClr val="accent1">
                    <a:lumMod val="10000"/>
                  </a:schemeClr>
                </a:solidFill>
              </a:rPr>
              <a:t>current goes through zener, it’ll work</a:t>
            </a:r>
          </a:p>
          <a:p>
            <a:pPr lvl="1" algn="just" eaLnBrk="1" hangingPunct="1"/>
            <a:r>
              <a:rPr lang="en-US" altLang="en-US" sz="2400">
                <a:solidFill>
                  <a:schemeClr val="accent1">
                    <a:lumMod val="10000"/>
                  </a:schemeClr>
                </a:solidFill>
              </a:rPr>
              <a:t>good for rough regulation</a:t>
            </a:r>
          </a:p>
          <a:p>
            <a:pPr algn="just" eaLnBrk="1" hangingPunct="1"/>
            <a:r>
              <a:rPr lang="en-US" altLang="en-US" sz="2400">
                <a:solidFill>
                  <a:schemeClr val="accent1">
                    <a:lumMod val="10000"/>
                  </a:schemeClr>
                </a:solidFill>
                <a:effectLst>
                  <a:outerShdw blurRad="38100" dist="38100" dir="2700000" algn="tl">
                    <a:srgbClr val="C0C0C0"/>
                  </a:outerShdw>
                </a:effectLst>
              </a:rPr>
              <a:t>Conditions for working:</a:t>
            </a:r>
          </a:p>
          <a:p>
            <a:pPr lvl="1" algn="just" eaLnBrk="1" hangingPunct="1"/>
            <a:r>
              <a:rPr lang="en-US" altLang="en-US" sz="2400">
                <a:solidFill>
                  <a:schemeClr val="accent1">
                    <a:lumMod val="10000"/>
                  </a:schemeClr>
                </a:solidFill>
              </a:rPr>
              <a:t>let’s maintain some minimal current, </a:t>
            </a:r>
            <a:r>
              <a:rPr lang="en-US" altLang="en-US" sz="2400" i="1">
                <a:solidFill>
                  <a:schemeClr val="accent1">
                    <a:lumMod val="10000"/>
                  </a:schemeClr>
                </a:solidFill>
              </a:rPr>
              <a:t>I</a:t>
            </a:r>
            <a:r>
              <a:rPr lang="en-US" altLang="en-US" sz="2400" baseline="-25000">
                <a:solidFill>
                  <a:schemeClr val="accent1">
                    <a:lumMod val="10000"/>
                  </a:schemeClr>
                </a:solidFill>
              </a:rPr>
              <a:t>z</a:t>
            </a:r>
            <a:r>
              <a:rPr lang="en-US" altLang="en-US" sz="2400">
                <a:solidFill>
                  <a:schemeClr val="accent1">
                    <a:lumMod val="10000"/>
                  </a:schemeClr>
                </a:solidFill>
              </a:rPr>
              <a:t> through zener (say a few mA)</a:t>
            </a:r>
          </a:p>
          <a:p>
            <a:pPr lvl="1" algn="just" eaLnBrk="1" hangingPunct="1"/>
            <a:r>
              <a:rPr lang="en-US" altLang="en-US" sz="2400">
                <a:solidFill>
                  <a:schemeClr val="accent1">
                    <a:lumMod val="10000"/>
                  </a:schemeClr>
                </a:solidFill>
              </a:rPr>
              <a:t>then (</a:t>
            </a:r>
            <a:r>
              <a:rPr lang="en-US" altLang="en-US" sz="2400" i="1">
                <a:solidFill>
                  <a:schemeClr val="accent1">
                    <a:lumMod val="10000"/>
                  </a:schemeClr>
                </a:solidFill>
              </a:rPr>
              <a:t>V</a:t>
            </a:r>
            <a:r>
              <a:rPr lang="en-US" altLang="en-US" sz="2400" baseline="-25000">
                <a:solidFill>
                  <a:schemeClr val="accent1">
                    <a:lumMod val="10000"/>
                  </a:schemeClr>
                </a:solidFill>
              </a:rPr>
              <a:t>in</a:t>
            </a:r>
            <a:r>
              <a:rPr lang="en-US" altLang="en-US" sz="2400">
                <a:solidFill>
                  <a:schemeClr val="accent1">
                    <a:lumMod val="10000"/>
                  </a:schemeClr>
                </a:solidFill>
              </a:rPr>
              <a:t> </a:t>
            </a:r>
            <a:r>
              <a:rPr lang="en-US" altLang="en-US" sz="2400">
                <a:solidFill>
                  <a:schemeClr val="accent1">
                    <a:lumMod val="10000"/>
                  </a:schemeClr>
                </a:solidFill>
                <a:sym typeface="Symbol" panose="05050102010706020507" pitchFamily="18" charset="2"/>
              </a:rPr>
              <a:t> </a:t>
            </a:r>
            <a:r>
              <a:rPr lang="en-US" altLang="en-US" sz="2400" i="1">
                <a:solidFill>
                  <a:schemeClr val="accent1">
                    <a:lumMod val="10000"/>
                  </a:schemeClr>
                </a:solidFill>
                <a:sym typeface="Symbol" panose="05050102010706020507" pitchFamily="18" charset="2"/>
              </a:rPr>
              <a:t>V</a:t>
            </a:r>
            <a:r>
              <a:rPr lang="en-US" altLang="en-US" sz="2400" baseline="-25000">
                <a:solidFill>
                  <a:schemeClr val="accent1">
                    <a:lumMod val="10000"/>
                  </a:schemeClr>
                </a:solidFill>
                <a:sym typeface="Symbol" panose="05050102010706020507" pitchFamily="18" charset="2"/>
              </a:rPr>
              <a:t>out</a:t>
            </a:r>
            <a:r>
              <a:rPr lang="en-US" altLang="en-US" sz="2400">
                <a:solidFill>
                  <a:schemeClr val="accent1">
                    <a:lumMod val="10000"/>
                  </a:schemeClr>
                </a:solidFill>
                <a:sym typeface="Symbol" panose="05050102010706020507" pitchFamily="18" charset="2"/>
              </a:rPr>
              <a:t>)/</a:t>
            </a:r>
            <a:r>
              <a:rPr lang="en-US" altLang="en-US" sz="2400" i="1">
                <a:solidFill>
                  <a:schemeClr val="accent1">
                    <a:lumMod val="10000"/>
                  </a:schemeClr>
                </a:solidFill>
                <a:sym typeface="Symbol" panose="05050102010706020507" pitchFamily="18" charset="2"/>
              </a:rPr>
              <a:t>R</a:t>
            </a:r>
            <a:r>
              <a:rPr lang="en-US" altLang="en-US" sz="2400" baseline="-25000">
                <a:solidFill>
                  <a:schemeClr val="accent1">
                    <a:lumMod val="10000"/>
                  </a:schemeClr>
                </a:solidFill>
                <a:sym typeface="Symbol" panose="05050102010706020507" pitchFamily="18" charset="2"/>
              </a:rPr>
              <a:t>1</a:t>
            </a:r>
            <a:r>
              <a:rPr lang="en-US" altLang="en-US" sz="2400">
                <a:solidFill>
                  <a:schemeClr val="accent1">
                    <a:lumMod val="10000"/>
                  </a:schemeClr>
                </a:solidFill>
                <a:sym typeface="Symbol" panose="05050102010706020507" pitchFamily="18" charset="2"/>
              </a:rPr>
              <a:t> = </a:t>
            </a:r>
            <a:r>
              <a:rPr lang="en-US" altLang="en-US" sz="2400" i="1">
                <a:solidFill>
                  <a:schemeClr val="accent1">
                    <a:lumMod val="10000"/>
                  </a:schemeClr>
                </a:solidFill>
                <a:sym typeface="Symbol" panose="05050102010706020507" pitchFamily="18" charset="2"/>
              </a:rPr>
              <a:t>I</a:t>
            </a:r>
            <a:r>
              <a:rPr lang="en-US" altLang="en-US" sz="2400" baseline="-25000">
                <a:solidFill>
                  <a:schemeClr val="accent1">
                    <a:lumMod val="10000"/>
                  </a:schemeClr>
                </a:solidFill>
                <a:sym typeface="Symbol" panose="05050102010706020507" pitchFamily="18" charset="2"/>
              </a:rPr>
              <a:t>z</a:t>
            </a:r>
            <a:r>
              <a:rPr lang="en-US" altLang="en-US" sz="2400">
                <a:solidFill>
                  <a:schemeClr val="accent1">
                    <a:lumMod val="10000"/>
                  </a:schemeClr>
                </a:solidFill>
                <a:sym typeface="Symbol" panose="05050102010706020507" pitchFamily="18" charset="2"/>
              </a:rPr>
              <a:t> + </a:t>
            </a:r>
            <a:r>
              <a:rPr lang="en-US" altLang="en-US" sz="2400" i="1">
                <a:solidFill>
                  <a:schemeClr val="accent1">
                    <a:lumMod val="10000"/>
                  </a:schemeClr>
                </a:solidFill>
                <a:sym typeface="Symbol" panose="05050102010706020507" pitchFamily="18" charset="2"/>
              </a:rPr>
              <a:t>V</a:t>
            </a:r>
            <a:r>
              <a:rPr lang="en-US" altLang="en-US" sz="2400" baseline="-25000">
                <a:solidFill>
                  <a:schemeClr val="accent1">
                    <a:lumMod val="10000"/>
                  </a:schemeClr>
                </a:solidFill>
                <a:sym typeface="Symbol" panose="05050102010706020507" pitchFamily="18" charset="2"/>
              </a:rPr>
              <a:t>out</a:t>
            </a:r>
            <a:r>
              <a:rPr lang="en-US" altLang="en-US" sz="2400">
                <a:solidFill>
                  <a:schemeClr val="accent1">
                    <a:lumMod val="10000"/>
                  </a:schemeClr>
                </a:solidFill>
                <a:sym typeface="Symbol" panose="05050102010706020507" pitchFamily="18" charset="2"/>
              </a:rPr>
              <a:t>/</a:t>
            </a:r>
            <a:r>
              <a:rPr lang="en-US" altLang="en-US" sz="2400" i="1">
                <a:solidFill>
                  <a:schemeClr val="accent1">
                    <a:lumMod val="10000"/>
                  </a:schemeClr>
                </a:solidFill>
                <a:sym typeface="Symbol" panose="05050102010706020507" pitchFamily="18" charset="2"/>
              </a:rPr>
              <a:t>R</a:t>
            </a:r>
            <a:r>
              <a:rPr lang="en-US" altLang="en-US" sz="2400" baseline="-25000">
                <a:solidFill>
                  <a:schemeClr val="accent1">
                    <a:lumMod val="10000"/>
                  </a:schemeClr>
                </a:solidFill>
                <a:sym typeface="Symbol" panose="05050102010706020507" pitchFamily="18" charset="2"/>
              </a:rPr>
              <a:t>load</a:t>
            </a:r>
            <a:r>
              <a:rPr lang="en-US" altLang="en-US" sz="2400">
                <a:solidFill>
                  <a:schemeClr val="accent1">
                    <a:lumMod val="10000"/>
                  </a:schemeClr>
                </a:solidFill>
                <a:sym typeface="Symbol" panose="05050102010706020507" pitchFamily="18" charset="2"/>
              </a:rPr>
              <a:t> sets the requirement on </a:t>
            </a:r>
            <a:r>
              <a:rPr lang="en-US" altLang="en-US" sz="2400" i="1">
                <a:solidFill>
                  <a:schemeClr val="accent1">
                    <a:lumMod val="10000"/>
                  </a:schemeClr>
                </a:solidFill>
                <a:sym typeface="Symbol" panose="05050102010706020507" pitchFamily="18" charset="2"/>
              </a:rPr>
              <a:t>R</a:t>
            </a:r>
            <a:r>
              <a:rPr lang="en-US" altLang="en-US" sz="2400" baseline="-25000">
                <a:solidFill>
                  <a:schemeClr val="accent1">
                    <a:lumMod val="10000"/>
                  </a:schemeClr>
                </a:solidFill>
                <a:sym typeface="Symbol" panose="05050102010706020507" pitchFamily="18" charset="2"/>
              </a:rPr>
              <a:t>1</a:t>
            </a:r>
            <a:r>
              <a:rPr lang="en-US" altLang="en-US" sz="2400">
                <a:solidFill>
                  <a:schemeClr val="accent1">
                    <a:lumMod val="10000"/>
                  </a:schemeClr>
                </a:solidFill>
                <a:sym typeface="Symbol" panose="05050102010706020507" pitchFamily="18" charset="2"/>
              </a:rPr>
              <a:t> </a:t>
            </a:r>
          </a:p>
          <a:p>
            <a:pPr lvl="1" algn="just" eaLnBrk="1" hangingPunct="1"/>
            <a:r>
              <a:rPr lang="en-US" altLang="en-US" sz="2400">
                <a:solidFill>
                  <a:schemeClr val="accent1">
                    <a:lumMod val="10000"/>
                  </a:schemeClr>
                </a:solidFill>
                <a:sym typeface="Symbol" panose="05050102010706020507" pitchFamily="18" charset="2"/>
              </a:rPr>
              <a:t>because presumably all else is known</a:t>
            </a:r>
          </a:p>
          <a:p>
            <a:pPr lvl="1" algn="just" eaLnBrk="1" hangingPunct="1"/>
            <a:r>
              <a:rPr lang="en-US" altLang="en-US" sz="2400">
                <a:solidFill>
                  <a:schemeClr val="accent1">
                    <a:lumMod val="10000"/>
                  </a:schemeClr>
                </a:solidFill>
                <a:sym typeface="Symbol" panose="05050102010706020507" pitchFamily="18" charset="2"/>
              </a:rPr>
              <a:t>if load current increases too much, zener shuts off (node drops below breakdown) and you just have a voltage divider with the load</a:t>
            </a:r>
          </a:p>
        </p:txBody>
      </p:sp>
      <p:grpSp>
        <p:nvGrpSpPr>
          <p:cNvPr id="48135" name="Group 42"/>
          <p:cNvGrpSpPr/>
          <p:nvPr/>
        </p:nvGrpSpPr>
        <p:grpSpPr bwMode="auto">
          <a:xfrm>
            <a:off x="9471026" y="3963035"/>
            <a:ext cx="2066925" cy="2590800"/>
            <a:chOff x="4248" y="1488"/>
            <a:chExt cx="1302" cy="1632"/>
          </a:xfrm>
        </p:grpSpPr>
        <p:sp>
          <p:nvSpPr>
            <p:cNvPr id="48141" name="Freeform 5"/>
            <p:cNvSpPr/>
            <p:nvPr/>
          </p:nvSpPr>
          <p:spPr bwMode="auto">
            <a:xfrm>
              <a:off x="4320" y="1680"/>
              <a:ext cx="96" cy="480"/>
            </a:xfrm>
            <a:custGeom>
              <a:avLst/>
              <a:gdLst>
                <a:gd name="T0" fmla="*/ 48 w 96"/>
                <a:gd name="T1" fmla="*/ 0 h 480"/>
                <a:gd name="T2" fmla="*/ 48 w 96"/>
                <a:gd name="T3" fmla="*/ 96 h 480"/>
                <a:gd name="T4" fmla="*/ 96 w 96"/>
                <a:gd name="T5" fmla="*/ 144 h 480"/>
                <a:gd name="T6" fmla="*/ 0 w 96"/>
                <a:gd name="T7" fmla="*/ 192 h 480"/>
                <a:gd name="T8" fmla="*/ 96 w 96"/>
                <a:gd name="T9" fmla="*/ 240 h 480"/>
                <a:gd name="T10" fmla="*/ 0 w 96"/>
                <a:gd name="T11" fmla="*/ 288 h 480"/>
                <a:gd name="T12" fmla="*/ 96 w 96"/>
                <a:gd name="T13" fmla="*/ 336 h 480"/>
                <a:gd name="T14" fmla="*/ 0 w 96"/>
                <a:gd name="T15" fmla="*/ 384 h 480"/>
                <a:gd name="T16" fmla="*/ 48 w 96"/>
                <a:gd name="T17" fmla="*/ 432 h 480"/>
                <a:gd name="T18" fmla="*/ 48 w 96"/>
                <a:gd name="T19" fmla="*/ 48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480"/>
                <a:gd name="T32" fmla="*/ 96 w 9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480">
                  <a:moveTo>
                    <a:pt x="48" y="0"/>
                  </a:moveTo>
                  <a:lnTo>
                    <a:pt x="48" y="96"/>
                  </a:lnTo>
                  <a:lnTo>
                    <a:pt x="96" y="144"/>
                  </a:lnTo>
                  <a:lnTo>
                    <a:pt x="0" y="192"/>
                  </a:lnTo>
                  <a:lnTo>
                    <a:pt x="96" y="240"/>
                  </a:lnTo>
                  <a:lnTo>
                    <a:pt x="0" y="288"/>
                  </a:lnTo>
                  <a:lnTo>
                    <a:pt x="96" y="336"/>
                  </a:lnTo>
                  <a:lnTo>
                    <a:pt x="0" y="384"/>
                  </a:lnTo>
                  <a:lnTo>
                    <a:pt x="48" y="432"/>
                  </a:lnTo>
                  <a:lnTo>
                    <a:pt x="48" y="4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8142" name="Line 16"/>
            <p:cNvSpPr>
              <a:spLocks noChangeShapeType="1"/>
            </p:cNvSpPr>
            <p:nvPr/>
          </p:nvSpPr>
          <p:spPr bwMode="auto">
            <a:xfrm>
              <a:off x="4368" y="2160"/>
              <a:ext cx="0" cy="2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43" name="Line 17"/>
            <p:cNvSpPr>
              <a:spLocks noChangeShapeType="1"/>
            </p:cNvSpPr>
            <p:nvPr/>
          </p:nvSpPr>
          <p:spPr bwMode="auto">
            <a:xfrm>
              <a:off x="4368" y="2256"/>
              <a:ext cx="528"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44" name="Oval 18"/>
            <p:cNvSpPr>
              <a:spLocks noChangeArrowheads="1"/>
            </p:cNvSpPr>
            <p:nvPr/>
          </p:nvSpPr>
          <p:spPr bwMode="auto">
            <a:xfrm>
              <a:off x="4358" y="2241"/>
              <a:ext cx="23" cy="23"/>
            </a:xfrm>
            <a:prstGeom prst="ellipse">
              <a:avLst/>
            </a:prstGeom>
            <a:solidFill>
              <a:schemeClr val="tx1"/>
            </a:solidFill>
            <a:ln w="9525">
              <a:solidFill>
                <a:srgbClr val="000000"/>
              </a:solidFill>
              <a:round/>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nvGrpSpPr>
            <p:cNvPr id="48145" name="Group 19"/>
            <p:cNvGrpSpPr/>
            <p:nvPr/>
          </p:nvGrpSpPr>
          <p:grpSpPr bwMode="auto">
            <a:xfrm>
              <a:off x="4272" y="2928"/>
              <a:ext cx="192" cy="192"/>
              <a:chOff x="4032" y="1968"/>
              <a:chExt cx="192" cy="192"/>
            </a:xfrm>
          </p:grpSpPr>
          <p:sp>
            <p:nvSpPr>
              <p:cNvPr id="48163" name="Line 20"/>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64" name="Line 21"/>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65" name="Line 22"/>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66" name="Line 23"/>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8146" name="Text Box 24"/>
            <p:cNvSpPr txBox="1">
              <a:spLocks noChangeArrowheads="1"/>
            </p:cNvSpPr>
            <p:nvPr/>
          </p:nvSpPr>
          <p:spPr bwMode="auto">
            <a:xfrm>
              <a:off x="4431" y="1803"/>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R</a:t>
              </a:r>
              <a:r>
                <a:rPr lang="en-US" altLang="en-US" sz="1800" baseline="-25000">
                  <a:solidFill>
                    <a:srgbClr val="000000"/>
                  </a:solidFill>
                </a:rPr>
                <a:t>1</a:t>
              </a:r>
              <a:endParaRPr lang="en-US" altLang="en-US" sz="1800">
                <a:solidFill>
                  <a:srgbClr val="1B28F6"/>
                </a:solidFill>
              </a:endParaRPr>
            </a:p>
          </p:txBody>
        </p:sp>
        <p:sp>
          <p:nvSpPr>
            <p:cNvPr id="48147" name="Text Box 25"/>
            <p:cNvSpPr txBox="1">
              <a:spLocks noChangeArrowheads="1"/>
            </p:cNvSpPr>
            <p:nvPr/>
          </p:nvSpPr>
          <p:spPr bwMode="auto">
            <a:xfrm>
              <a:off x="4452" y="249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Z</a:t>
              </a:r>
              <a:endParaRPr lang="en-US" altLang="en-US" sz="1800">
                <a:solidFill>
                  <a:srgbClr val="1B28F6"/>
                </a:solidFill>
              </a:endParaRPr>
            </a:p>
          </p:txBody>
        </p:sp>
        <p:sp>
          <p:nvSpPr>
            <p:cNvPr id="48148" name="Text Box 26"/>
            <p:cNvSpPr txBox="1">
              <a:spLocks noChangeArrowheads="1"/>
            </p:cNvSpPr>
            <p:nvPr/>
          </p:nvSpPr>
          <p:spPr bwMode="auto">
            <a:xfrm>
              <a:off x="4272" y="1488"/>
              <a:ext cx="2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V</a:t>
              </a:r>
              <a:r>
                <a:rPr lang="en-US" altLang="en-US" sz="1800" baseline="-25000">
                  <a:solidFill>
                    <a:srgbClr val="000000"/>
                  </a:solidFill>
                </a:rPr>
                <a:t>in</a:t>
              </a:r>
              <a:endParaRPr lang="en-US" altLang="en-US" sz="1800">
                <a:solidFill>
                  <a:srgbClr val="1B28F6"/>
                </a:solidFill>
              </a:endParaRPr>
            </a:p>
          </p:txBody>
        </p:sp>
        <p:sp>
          <p:nvSpPr>
            <p:cNvPr id="48149" name="Text Box 27"/>
            <p:cNvSpPr txBox="1">
              <a:spLocks noChangeArrowheads="1"/>
            </p:cNvSpPr>
            <p:nvPr/>
          </p:nvSpPr>
          <p:spPr bwMode="auto">
            <a:xfrm>
              <a:off x="4896" y="2121"/>
              <a:ext cx="6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V</a:t>
              </a:r>
              <a:r>
                <a:rPr lang="en-US" altLang="en-US" sz="1800" baseline="-25000">
                  <a:solidFill>
                    <a:srgbClr val="000000"/>
                  </a:solidFill>
                </a:rPr>
                <a:t>out</a:t>
              </a:r>
              <a:r>
                <a:rPr lang="en-US" altLang="en-US" sz="1800">
                  <a:solidFill>
                    <a:srgbClr val="000000"/>
                  </a:solidFill>
                </a:rPr>
                <a:t> = </a:t>
              </a:r>
              <a:r>
                <a:rPr lang="en-US" altLang="en-US" sz="1800" i="1">
                  <a:solidFill>
                    <a:srgbClr val="000000"/>
                  </a:solidFill>
                </a:rPr>
                <a:t>V</a:t>
              </a:r>
              <a:r>
                <a:rPr lang="en-US" altLang="en-US" sz="1800" baseline="-25000">
                  <a:solidFill>
                    <a:srgbClr val="000000"/>
                  </a:solidFill>
                </a:rPr>
                <a:t>z</a:t>
              </a:r>
              <a:endParaRPr lang="en-US" altLang="en-US" sz="1800">
                <a:solidFill>
                  <a:srgbClr val="1B28F6"/>
                </a:solidFill>
              </a:endParaRPr>
            </a:p>
          </p:txBody>
        </p:sp>
        <p:sp>
          <p:nvSpPr>
            <p:cNvPr id="48150" name="Freeform 28"/>
            <p:cNvSpPr/>
            <p:nvPr/>
          </p:nvSpPr>
          <p:spPr bwMode="auto">
            <a:xfrm>
              <a:off x="4848" y="2256"/>
              <a:ext cx="96" cy="480"/>
            </a:xfrm>
            <a:custGeom>
              <a:avLst/>
              <a:gdLst>
                <a:gd name="T0" fmla="*/ 48 w 96"/>
                <a:gd name="T1" fmla="*/ 0 h 480"/>
                <a:gd name="T2" fmla="*/ 48 w 96"/>
                <a:gd name="T3" fmla="*/ 96 h 480"/>
                <a:gd name="T4" fmla="*/ 96 w 96"/>
                <a:gd name="T5" fmla="*/ 144 h 480"/>
                <a:gd name="T6" fmla="*/ 0 w 96"/>
                <a:gd name="T7" fmla="*/ 192 h 480"/>
                <a:gd name="T8" fmla="*/ 96 w 96"/>
                <a:gd name="T9" fmla="*/ 240 h 480"/>
                <a:gd name="T10" fmla="*/ 0 w 96"/>
                <a:gd name="T11" fmla="*/ 288 h 480"/>
                <a:gd name="T12" fmla="*/ 96 w 96"/>
                <a:gd name="T13" fmla="*/ 336 h 480"/>
                <a:gd name="T14" fmla="*/ 0 w 96"/>
                <a:gd name="T15" fmla="*/ 384 h 480"/>
                <a:gd name="T16" fmla="*/ 48 w 96"/>
                <a:gd name="T17" fmla="*/ 432 h 480"/>
                <a:gd name="T18" fmla="*/ 48 w 96"/>
                <a:gd name="T19" fmla="*/ 48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480"/>
                <a:gd name="T32" fmla="*/ 96 w 96"/>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480">
                  <a:moveTo>
                    <a:pt x="48" y="0"/>
                  </a:moveTo>
                  <a:lnTo>
                    <a:pt x="48" y="96"/>
                  </a:lnTo>
                  <a:lnTo>
                    <a:pt x="96" y="144"/>
                  </a:lnTo>
                  <a:lnTo>
                    <a:pt x="0" y="192"/>
                  </a:lnTo>
                  <a:lnTo>
                    <a:pt x="96" y="240"/>
                  </a:lnTo>
                  <a:lnTo>
                    <a:pt x="0" y="288"/>
                  </a:lnTo>
                  <a:lnTo>
                    <a:pt x="96" y="336"/>
                  </a:lnTo>
                  <a:lnTo>
                    <a:pt x="0" y="384"/>
                  </a:lnTo>
                  <a:lnTo>
                    <a:pt x="48" y="432"/>
                  </a:lnTo>
                  <a:lnTo>
                    <a:pt x="48" y="480"/>
                  </a:lnTo>
                </a:path>
              </a:pathLst>
            </a:cu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grpSp>
          <p:nvGrpSpPr>
            <p:cNvPr id="48151" name="Group 29"/>
            <p:cNvGrpSpPr/>
            <p:nvPr/>
          </p:nvGrpSpPr>
          <p:grpSpPr bwMode="auto">
            <a:xfrm>
              <a:off x="4800" y="2736"/>
              <a:ext cx="192" cy="192"/>
              <a:chOff x="4032" y="1968"/>
              <a:chExt cx="192" cy="192"/>
            </a:xfrm>
          </p:grpSpPr>
          <p:sp>
            <p:nvSpPr>
              <p:cNvPr id="48159" name="Line 30"/>
              <p:cNvSpPr>
                <a:spLocks noChangeShapeType="1"/>
              </p:cNvSpPr>
              <p:nvPr/>
            </p:nvSpPr>
            <p:spPr bwMode="auto">
              <a:xfrm>
                <a:off x="4128" y="1968"/>
                <a:ext cx="0" cy="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60" name="Line 31"/>
              <p:cNvSpPr>
                <a:spLocks noChangeShapeType="1"/>
              </p:cNvSpPr>
              <p:nvPr/>
            </p:nvSpPr>
            <p:spPr bwMode="auto">
              <a:xfrm>
                <a:off x="4117" y="2160"/>
                <a:ext cx="2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61" name="Line 32"/>
              <p:cNvSpPr>
                <a:spLocks noChangeShapeType="1"/>
              </p:cNvSpPr>
              <p:nvPr/>
            </p:nvSpPr>
            <p:spPr bwMode="auto">
              <a:xfrm>
                <a:off x="4080" y="2112"/>
                <a:ext cx="96"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62" name="Line 33"/>
              <p:cNvSpPr>
                <a:spLocks noChangeShapeType="1"/>
              </p:cNvSpPr>
              <p:nvPr/>
            </p:nvSpPr>
            <p:spPr bwMode="auto">
              <a:xfrm>
                <a:off x="4032" y="2064"/>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sp>
          <p:nvSpPr>
            <p:cNvPr id="48152" name="Text Box 34"/>
            <p:cNvSpPr txBox="1">
              <a:spLocks noChangeArrowheads="1"/>
            </p:cNvSpPr>
            <p:nvPr/>
          </p:nvSpPr>
          <p:spPr bwMode="auto">
            <a:xfrm>
              <a:off x="4911" y="2409"/>
              <a:ext cx="4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i="1">
                  <a:solidFill>
                    <a:srgbClr val="000000"/>
                  </a:solidFill>
                </a:rPr>
                <a:t>R</a:t>
              </a:r>
              <a:r>
                <a:rPr lang="en-US" altLang="en-US" sz="1800" baseline="-25000">
                  <a:solidFill>
                    <a:srgbClr val="000000"/>
                  </a:solidFill>
                </a:rPr>
                <a:t>load</a:t>
              </a:r>
              <a:endParaRPr lang="en-US" altLang="en-US" sz="1800">
                <a:solidFill>
                  <a:srgbClr val="1B28F6"/>
                </a:solidFill>
              </a:endParaRPr>
            </a:p>
          </p:txBody>
        </p:sp>
        <p:grpSp>
          <p:nvGrpSpPr>
            <p:cNvPr id="48153" name="Group 41"/>
            <p:cNvGrpSpPr/>
            <p:nvPr/>
          </p:nvGrpSpPr>
          <p:grpSpPr bwMode="auto">
            <a:xfrm rot="-5400000">
              <a:off x="3984" y="2472"/>
              <a:ext cx="768" cy="240"/>
              <a:chOff x="2304" y="2592"/>
              <a:chExt cx="768" cy="240"/>
            </a:xfrm>
          </p:grpSpPr>
          <p:sp>
            <p:nvSpPr>
              <p:cNvPr id="48154" name="Line 36"/>
              <p:cNvSpPr>
                <a:spLocks noChangeShapeType="1"/>
              </p:cNvSpPr>
              <p:nvPr/>
            </p:nvSpPr>
            <p:spPr bwMode="auto">
              <a:xfrm rot="16200000" flipV="1">
                <a:off x="2688" y="2328"/>
                <a:ext cx="0" cy="76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55" name="AutoShape 37"/>
              <p:cNvSpPr>
                <a:spLocks noChangeArrowheads="1"/>
              </p:cNvSpPr>
              <p:nvPr/>
            </p:nvSpPr>
            <p:spPr bwMode="auto">
              <a:xfrm rot="16200000" flipV="1">
                <a:off x="2616" y="2664"/>
                <a:ext cx="144" cy="96"/>
              </a:xfrm>
              <a:prstGeom prst="triangle">
                <a:avLst>
                  <a:gd name="adj" fmla="val 50000"/>
                </a:avLst>
              </a:prstGeom>
              <a:solidFill>
                <a:srgbClr val="000000"/>
              </a:solidFill>
              <a:ln w="31750">
                <a:solidFill>
                  <a:srgbClr val="000000"/>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
            <p:nvSpPr>
              <p:cNvPr id="48156" name="Line 38"/>
              <p:cNvSpPr>
                <a:spLocks noChangeShapeType="1"/>
              </p:cNvSpPr>
              <p:nvPr/>
            </p:nvSpPr>
            <p:spPr bwMode="auto">
              <a:xfrm rot="16200000" flipV="1">
                <a:off x="2663" y="2711"/>
                <a:ext cx="144" cy="0"/>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57" name="Line 39"/>
              <p:cNvSpPr>
                <a:spLocks noChangeShapeType="1"/>
              </p:cNvSpPr>
              <p:nvPr/>
            </p:nvSpPr>
            <p:spPr bwMode="auto">
              <a:xfrm flipH="1" flipV="1">
                <a:off x="2688" y="2592"/>
                <a:ext cx="48" cy="48"/>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58" name="Line 40"/>
              <p:cNvSpPr>
                <a:spLocks noChangeShapeType="1"/>
              </p:cNvSpPr>
              <p:nvPr/>
            </p:nvSpPr>
            <p:spPr bwMode="auto">
              <a:xfrm flipH="1" flipV="1">
                <a:off x="2736" y="2784"/>
                <a:ext cx="48" cy="48"/>
              </a:xfrm>
              <a:prstGeom prst="line">
                <a:avLst/>
              </a:prstGeom>
              <a:noFill/>
              <a:ln w="31750">
                <a:solidFill>
                  <a:srgbClr val="000000"/>
                </a:solidFill>
                <a:rou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grpSp>
      </p:grpSp>
      <p:pic>
        <p:nvPicPr>
          <p:cNvPr id="48136" name="Picture 43" descr="zen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2700" y="1219201"/>
            <a:ext cx="251460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Line 44"/>
          <p:cNvSpPr>
            <a:spLocks noChangeShapeType="1"/>
          </p:cNvSpPr>
          <p:nvPr/>
        </p:nvSpPr>
        <p:spPr bwMode="auto">
          <a:xfrm>
            <a:off x="9204325" y="2611120"/>
            <a:ext cx="914400" cy="0"/>
          </a:xfrm>
          <a:prstGeom prst="line">
            <a:avLst/>
          </a:prstGeom>
          <a:noFill/>
          <a:ln w="9525">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48138" name="Text Box 45"/>
          <p:cNvSpPr txBox="1">
            <a:spLocks noChangeArrowheads="1"/>
          </p:cNvSpPr>
          <p:nvPr/>
        </p:nvSpPr>
        <p:spPr bwMode="auto">
          <a:xfrm>
            <a:off x="10163810" y="2406650"/>
            <a:ext cx="14049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600">
                <a:solidFill>
                  <a:srgbClr val="0B871F"/>
                </a:solidFill>
              </a:rPr>
              <a:t>zener voltage</a:t>
            </a:r>
          </a:p>
        </p:txBody>
      </p:sp>
      <p:sp>
        <p:nvSpPr>
          <p:cNvPr id="48139" name="Text Box 46"/>
          <p:cNvSpPr txBox="1">
            <a:spLocks noChangeArrowheads="1"/>
          </p:cNvSpPr>
          <p:nvPr/>
        </p:nvSpPr>
        <p:spPr bwMode="auto">
          <a:xfrm>
            <a:off x="8318500" y="3305176"/>
            <a:ext cx="3098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600">
                <a:solidFill>
                  <a:srgbClr val="FF2C2C"/>
                </a:solidFill>
              </a:rPr>
              <a:t>high slope is what makes the</a:t>
            </a:r>
          </a:p>
          <a:p>
            <a:pPr eaLnBrk="0" fontAlgn="base" hangingPunct="0">
              <a:spcBef>
                <a:spcPct val="0"/>
              </a:spcBef>
              <a:spcAft>
                <a:spcPct val="0"/>
              </a:spcAft>
            </a:pPr>
            <a:r>
              <a:rPr lang="en-US" altLang="en-US" sz="1600">
                <a:solidFill>
                  <a:srgbClr val="FF2C2C"/>
                </a:solidFill>
              </a:rPr>
              <a:t>zener a decent voltage regulator</a:t>
            </a:r>
          </a:p>
        </p:txBody>
      </p:sp>
      <p:sp>
        <p:nvSpPr>
          <p:cNvPr id="48140" name="Line 47"/>
          <p:cNvSpPr>
            <a:spLocks noChangeShapeType="1"/>
          </p:cNvSpPr>
          <p:nvPr/>
        </p:nvSpPr>
        <p:spPr bwMode="auto">
          <a:xfrm flipV="1">
            <a:off x="8902700" y="2743200"/>
            <a:ext cx="276860" cy="562610"/>
          </a:xfrm>
          <a:prstGeom prst="line">
            <a:avLst/>
          </a:prstGeom>
          <a:noFill/>
          <a:ln w="9525">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97A3A-D131-491F-9580-4F303F237895}"/>
              </a:ext>
            </a:extLst>
          </p:cNvPr>
          <p:cNvSpPr>
            <a:spLocks noGrp="1"/>
          </p:cNvSpPr>
          <p:nvPr>
            <p:ph type="title"/>
          </p:nvPr>
        </p:nvSpPr>
        <p:spPr/>
        <p:txBody>
          <a:bodyPr/>
          <a:lstStyle/>
          <a:p>
            <a:r>
              <a:rPr lang="en-US" dirty="0"/>
              <a:t>Zener diodes as voltage regulators</a:t>
            </a:r>
            <a:endParaRPr lang="en-GH" dirty="0"/>
          </a:p>
        </p:txBody>
      </p:sp>
      <p:sp>
        <p:nvSpPr>
          <p:cNvPr id="3" name="Content Placeholder 2">
            <a:extLst>
              <a:ext uri="{FF2B5EF4-FFF2-40B4-BE49-F238E27FC236}">
                <a16:creationId xmlns:a16="http://schemas.microsoft.com/office/drawing/2014/main" id="{F27BF072-4A82-4B6C-AF4E-0543A6091C9C}"/>
              </a:ext>
            </a:extLst>
          </p:cNvPr>
          <p:cNvSpPr>
            <a:spLocks noGrp="1"/>
          </p:cNvSpPr>
          <p:nvPr>
            <p:ph idx="1"/>
          </p:nvPr>
        </p:nvSpPr>
        <p:spPr>
          <a:xfrm>
            <a:off x="289560" y="1174750"/>
            <a:ext cx="11612880" cy="5492750"/>
          </a:xfrm>
        </p:spPr>
        <p:txBody>
          <a:bodyPr/>
          <a:lstStyle/>
          <a:p>
            <a:pPr algn="just"/>
            <a:r>
              <a:rPr lang="en-US" sz="2800" dirty="0"/>
              <a:t>A Circuit diagram symbol for a </a:t>
            </a:r>
            <a:r>
              <a:rPr lang="en-US" sz="2800" dirty="0" err="1"/>
              <a:t>zener</a:t>
            </a:r>
            <a:r>
              <a:rPr lang="en-US" sz="2800" dirty="0"/>
              <a:t> diode.</a:t>
            </a:r>
          </a:p>
          <a:p>
            <a:pPr algn="just"/>
            <a:endParaRPr lang="en-US" sz="2800" dirty="0"/>
          </a:p>
          <a:p>
            <a:pPr algn="just"/>
            <a:endParaRPr lang="en-US" sz="2800" dirty="0"/>
          </a:p>
          <a:p>
            <a:pPr algn="just"/>
            <a:r>
              <a:rPr lang="en-US" sz="2800" dirty="0"/>
              <a:t>Zener diodes are used in circuits to maintain a fixed voltage across a load. A </a:t>
            </a:r>
            <a:r>
              <a:rPr lang="en-US" sz="2800" dirty="0" err="1"/>
              <a:t>zener</a:t>
            </a:r>
            <a:r>
              <a:rPr lang="en-US" sz="2800" dirty="0"/>
              <a:t> diode is a diode that breaks down at a specific voltage when it is reverse biased. </a:t>
            </a:r>
          </a:p>
          <a:p>
            <a:pPr algn="just"/>
            <a:r>
              <a:rPr lang="en-US" sz="2800" dirty="0"/>
              <a:t>This means that a </a:t>
            </a:r>
            <a:r>
              <a:rPr lang="en-US" sz="2800" dirty="0" err="1"/>
              <a:t>zener</a:t>
            </a:r>
            <a:r>
              <a:rPr lang="en-US" sz="2800" dirty="0"/>
              <a:t> diode will stop a reverse current from flowing through it until the reverse voltage applied across it reaches a fixed value known as the breakdown voltage (VZ). </a:t>
            </a:r>
          </a:p>
          <a:p>
            <a:pPr algn="just"/>
            <a:r>
              <a:rPr lang="en-US" sz="2800" dirty="0"/>
              <a:t>They are designed to ‘breakdown’ in a reliable and non-destructive way so that they can be used in reverse to maintain a fixed voltage across their terminals.</a:t>
            </a:r>
          </a:p>
          <a:p>
            <a:pPr algn="just"/>
            <a:endParaRPr lang="en-GH" sz="2800" dirty="0"/>
          </a:p>
        </p:txBody>
      </p:sp>
      <p:sp>
        <p:nvSpPr>
          <p:cNvPr id="6" name="Slide Number Placeholder 5">
            <a:extLst>
              <a:ext uri="{FF2B5EF4-FFF2-40B4-BE49-F238E27FC236}">
                <a16:creationId xmlns:a16="http://schemas.microsoft.com/office/drawing/2014/main" id="{1FD922E5-7F37-4D6E-9CB0-4A52FC8BF57E}"/>
              </a:ext>
            </a:extLst>
          </p:cNvPr>
          <p:cNvSpPr>
            <a:spLocks noGrp="1"/>
          </p:cNvSpPr>
          <p:nvPr>
            <p:ph type="sldNum" sz="quarter" idx="12"/>
          </p:nvPr>
        </p:nvSpPr>
        <p:spPr/>
        <p:txBody>
          <a:bodyPr/>
          <a:lstStyle/>
          <a:p>
            <a:fld id="{56B950AF-1E29-4457-8775-32F51CE1BEDC}" type="slidenum">
              <a:rPr lang="en-US" altLang="en-US" smtClean="0"/>
              <a:t>24</a:t>
            </a:fld>
            <a:endParaRPr lang="en-US" altLang="en-US"/>
          </a:p>
        </p:txBody>
      </p:sp>
      <p:pic>
        <p:nvPicPr>
          <p:cNvPr id="1029" name="Picture 5">
            <a:extLst>
              <a:ext uri="{FF2B5EF4-FFF2-40B4-BE49-F238E27FC236}">
                <a16:creationId xmlns:a16="http://schemas.microsoft.com/office/drawing/2014/main" id="{110D5BFA-F2A5-4F11-B50B-42A2E2573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094" y="1725294"/>
            <a:ext cx="1962785" cy="84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2137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40F0B-CF10-4F4F-AB82-7FEDA24CE403}"/>
              </a:ext>
            </a:extLst>
          </p:cNvPr>
          <p:cNvSpPr>
            <a:spLocks noGrp="1"/>
          </p:cNvSpPr>
          <p:nvPr>
            <p:ph idx="1"/>
          </p:nvPr>
        </p:nvSpPr>
        <p:spPr>
          <a:xfrm>
            <a:off x="609600" y="1036320"/>
            <a:ext cx="11369040" cy="5091430"/>
          </a:xfrm>
        </p:spPr>
        <p:txBody>
          <a:bodyPr/>
          <a:lstStyle/>
          <a:p>
            <a:pPr algn="just"/>
            <a:r>
              <a:rPr lang="en-US" dirty="0"/>
              <a:t>Zener diodes can be distinguished from ordinary diodes by their code and breakdown voltage which are printed on them. </a:t>
            </a:r>
          </a:p>
          <a:p>
            <a:pPr algn="just"/>
            <a:r>
              <a:rPr lang="en-US" dirty="0"/>
              <a:t>Zener diode codes begin BZX ... or BZY ... Their breakdown voltage is printed with V in place of a decimal point, so 4V7 means 4.7V.  </a:t>
            </a:r>
            <a:endParaRPr lang="en-GH" dirty="0"/>
          </a:p>
          <a:p>
            <a:pPr algn="just"/>
            <a:r>
              <a:rPr lang="en-US" dirty="0"/>
              <a:t>The diagram below shows the voltage versus current characteristic for a </a:t>
            </a:r>
            <a:r>
              <a:rPr lang="en-US" dirty="0" err="1"/>
              <a:t>zener</a:t>
            </a:r>
            <a:r>
              <a:rPr lang="en-US" dirty="0"/>
              <a:t> diode and how they are connected, with a resistor in series to limit the current.</a:t>
            </a:r>
            <a:endParaRPr lang="en-GH" dirty="0"/>
          </a:p>
          <a:p>
            <a:pPr algn="just"/>
            <a:endParaRPr lang="en-GH" dirty="0"/>
          </a:p>
        </p:txBody>
      </p:sp>
      <p:sp>
        <p:nvSpPr>
          <p:cNvPr id="6" name="Slide Number Placeholder 5">
            <a:extLst>
              <a:ext uri="{FF2B5EF4-FFF2-40B4-BE49-F238E27FC236}">
                <a16:creationId xmlns:a16="http://schemas.microsoft.com/office/drawing/2014/main" id="{83D78B86-A752-4B08-BD53-EA2FCC4E4AA0}"/>
              </a:ext>
            </a:extLst>
          </p:cNvPr>
          <p:cNvSpPr>
            <a:spLocks noGrp="1"/>
          </p:cNvSpPr>
          <p:nvPr>
            <p:ph type="sldNum" sz="quarter" idx="12"/>
          </p:nvPr>
        </p:nvSpPr>
        <p:spPr/>
        <p:txBody>
          <a:bodyPr/>
          <a:lstStyle/>
          <a:p>
            <a:fld id="{56B950AF-1E29-4457-8775-32F51CE1BEDC}" type="slidenum">
              <a:rPr lang="en-US" altLang="en-US" smtClean="0"/>
              <a:t>25</a:t>
            </a:fld>
            <a:endParaRPr lang="en-US" altLang="en-US"/>
          </a:p>
        </p:txBody>
      </p:sp>
    </p:spTree>
    <p:extLst>
      <p:ext uri="{BB962C8B-B14F-4D97-AF65-F5344CB8AC3E}">
        <p14:creationId xmlns:p14="http://schemas.microsoft.com/office/powerpoint/2010/main" val="3288335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5EDC-6F8C-4AB2-A161-963CDF815813}"/>
              </a:ext>
            </a:extLst>
          </p:cNvPr>
          <p:cNvSpPr>
            <a:spLocks noGrp="1"/>
          </p:cNvSpPr>
          <p:nvPr>
            <p:ph type="title"/>
          </p:nvPr>
        </p:nvSpPr>
        <p:spPr/>
        <p:txBody>
          <a:bodyPr/>
          <a:lstStyle/>
          <a:p>
            <a:r>
              <a:rPr lang="en-US" dirty="0"/>
              <a:t>Diagram</a:t>
            </a:r>
            <a:endParaRPr lang="en-GH" dirty="0"/>
          </a:p>
        </p:txBody>
      </p:sp>
      <p:sp>
        <p:nvSpPr>
          <p:cNvPr id="3" name="Content Placeholder 2">
            <a:extLst>
              <a:ext uri="{FF2B5EF4-FFF2-40B4-BE49-F238E27FC236}">
                <a16:creationId xmlns:a16="http://schemas.microsoft.com/office/drawing/2014/main" id="{9A42C25F-1E91-4091-9D52-6034AA4E92B3}"/>
              </a:ext>
            </a:extLst>
          </p:cNvPr>
          <p:cNvSpPr>
            <a:spLocks noGrp="1"/>
          </p:cNvSpPr>
          <p:nvPr>
            <p:ph sz="half" idx="1"/>
          </p:nvPr>
        </p:nvSpPr>
        <p:spPr>
          <a:xfrm>
            <a:off x="274320" y="1005840"/>
            <a:ext cx="5923280" cy="5121910"/>
          </a:xfrm>
        </p:spPr>
        <p:txBody>
          <a:bodyPr/>
          <a:lstStyle/>
          <a:p>
            <a:r>
              <a:rPr lang="en-US" sz="2800" i="1" dirty="0"/>
              <a:t>The transfer characteristic of a </a:t>
            </a:r>
            <a:r>
              <a:rPr lang="en-US" sz="2800" i="1" dirty="0" err="1"/>
              <a:t>zener</a:t>
            </a:r>
            <a:r>
              <a:rPr lang="en-US" sz="2800" i="1" dirty="0"/>
              <a:t> diode</a:t>
            </a:r>
            <a:endParaRPr lang="en-GH" sz="2800" dirty="0"/>
          </a:p>
        </p:txBody>
      </p:sp>
      <p:sp>
        <p:nvSpPr>
          <p:cNvPr id="4" name="Content Placeholder 3">
            <a:extLst>
              <a:ext uri="{FF2B5EF4-FFF2-40B4-BE49-F238E27FC236}">
                <a16:creationId xmlns:a16="http://schemas.microsoft.com/office/drawing/2014/main" id="{0FEF93BA-ECC0-4C22-9669-2185D1A889B2}"/>
              </a:ext>
            </a:extLst>
          </p:cNvPr>
          <p:cNvSpPr>
            <a:spLocks noGrp="1"/>
          </p:cNvSpPr>
          <p:nvPr>
            <p:ph sz="half" idx="2"/>
          </p:nvPr>
        </p:nvSpPr>
        <p:spPr>
          <a:xfrm>
            <a:off x="6197600" y="1174750"/>
            <a:ext cx="5720080" cy="4953000"/>
          </a:xfrm>
        </p:spPr>
        <p:txBody>
          <a:bodyPr/>
          <a:lstStyle/>
          <a:p>
            <a:r>
              <a:rPr lang="en-US" sz="2800" i="1" dirty="0"/>
              <a:t>A </a:t>
            </a:r>
            <a:r>
              <a:rPr lang="en-US" sz="2800" i="1" dirty="0" err="1"/>
              <a:t>zener</a:t>
            </a:r>
            <a:r>
              <a:rPr lang="en-US" sz="2800" i="1" dirty="0"/>
              <a:t> diode in series with a current limiting resistor.</a:t>
            </a:r>
            <a:endParaRPr lang="en-GH" sz="2800" dirty="0"/>
          </a:p>
        </p:txBody>
      </p:sp>
      <p:sp>
        <p:nvSpPr>
          <p:cNvPr id="7" name="Slide Number Placeholder 6">
            <a:extLst>
              <a:ext uri="{FF2B5EF4-FFF2-40B4-BE49-F238E27FC236}">
                <a16:creationId xmlns:a16="http://schemas.microsoft.com/office/drawing/2014/main" id="{6DF8C091-E269-4FE9-92F5-B002FF7403AD}"/>
              </a:ext>
            </a:extLst>
          </p:cNvPr>
          <p:cNvSpPr>
            <a:spLocks noGrp="1"/>
          </p:cNvSpPr>
          <p:nvPr>
            <p:ph type="sldNum" sz="quarter" idx="12"/>
          </p:nvPr>
        </p:nvSpPr>
        <p:spPr/>
        <p:txBody>
          <a:bodyPr/>
          <a:lstStyle/>
          <a:p>
            <a:fld id="{4250F750-FD2E-4DE1-9C15-390F4D3A030E}" type="slidenum">
              <a:rPr lang="en-US" altLang="en-US" smtClean="0"/>
              <a:t>26</a:t>
            </a:fld>
            <a:endParaRPr lang="en-US" altLang="en-US"/>
          </a:p>
        </p:txBody>
      </p:sp>
      <p:pic>
        <p:nvPicPr>
          <p:cNvPr id="2050" name="Picture 2">
            <a:extLst>
              <a:ext uri="{FF2B5EF4-FFF2-40B4-BE49-F238E27FC236}">
                <a16:creationId xmlns:a16="http://schemas.microsoft.com/office/drawing/2014/main" id="{2EFAF18E-5766-4397-9973-A083A1359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50896"/>
            <a:ext cx="4953000" cy="490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a:extLst>
              <a:ext uri="{FF2B5EF4-FFF2-40B4-BE49-F238E27FC236}">
                <a16:creationId xmlns:a16="http://schemas.microsoft.com/office/drawing/2014/main" id="{468716A3-E8B6-49D1-85B0-84294FECD6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5720" y="2541587"/>
            <a:ext cx="2087880" cy="3814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8539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791C-6773-4417-B338-FF057D94C76F}"/>
              </a:ext>
            </a:extLst>
          </p:cNvPr>
          <p:cNvSpPr>
            <a:spLocks noGrp="1"/>
          </p:cNvSpPr>
          <p:nvPr>
            <p:ph type="title"/>
          </p:nvPr>
        </p:nvSpPr>
        <p:spPr/>
        <p:txBody>
          <a:bodyPr/>
          <a:lstStyle/>
          <a:p>
            <a:r>
              <a:rPr lang="en-US" dirty="0"/>
              <a:t>Key points</a:t>
            </a:r>
            <a:endParaRPr lang="en-GH" dirty="0"/>
          </a:p>
        </p:txBody>
      </p:sp>
      <p:sp>
        <p:nvSpPr>
          <p:cNvPr id="3" name="Content Placeholder 2">
            <a:extLst>
              <a:ext uri="{FF2B5EF4-FFF2-40B4-BE49-F238E27FC236}">
                <a16:creationId xmlns:a16="http://schemas.microsoft.com/office/drawing/2014/main" id="{A729E75E-0909-45AB-BA32-79AB534B126E}"/>
              </a:ext>
            </a:extLst>
          </p:cNvPr>
          <p:cNvSpPr>
            <a:spLocks noGrp="1"/>
          </p:cNvSpPr>
          <p:nvPr>
            <p:ph idx="1"/>
          </p:nvPr>
        </p:nvSpPr>
        <p:spPr/>
        <p:txBody>
          <a:bodyPr/>
          <a:lstStyle/>
          <a:p>
            <a:pPr algn="just"/>
            <a:r>
              <a:rPr lang="en-US" sz="2800" dirty="0"/>
              <a:t>A </a:t>
            </a:r>
            <a:r>
              <a:rPr lang="en-US" sz="2800" b="1" dirty="0" err="1"/>
              <a:t>zener</a:t>
            </a:r>
            <a:r>
              <a:rPr lang="en-US" sz="2800" b="1" dirty="0"/>
              <a:t> diode </a:t>
            </a:r>
            <a:r>
              <a:rPr lang="en-US" sz="2800" dirty="0"/>
              <a:t>is a diode that breaks down at a specific voltage when it is reverse biased. A </a:t>
            </a:r>
            <a:r>
              <a:rPr lang="en-US" sz="2800" dirty="0" err="1"/>
              <a:t>zener</a:t>
            </a:r>
            <a:r>
              <a:rPr lang="en-US" sz="2800" dirty="0"/>
              <a:t> diode can maintain the voltage at its breakdown voltage as long as the supply voltage is above this value.</a:t>
            </a:r>
            <a:endParaRPr lang="en-GH" sz="2800" dirty="0"/>
          </a:p>
          <a:p>
            <a:pPr algn="just"/>
            <a:r>
              <a:rPr lang="en-US" sz="2800" dirty="0"/>
              <a:t>When a </a:t>
            </a:r>
            <a:r>
              <a:rPr lang="en-US" sz="2800" dirty="0" err="1"/>
              <a:t>zener</a:t>
            </a:r>
            <a:r>
              <a:rPr lang="en-US" sz="2800" dirty="0"/>
              <a:t> diode is forward biased it behaves like an ordinary silicon diode.</a:t>
            </a:r>
            <a:endParaRPr lang="en-GH" sz="2800" dirty="0"/>
          </a:p>
          <a:p>
            <a:pPr algn="just"/>
            <a:r>
              <a:rPr lang="en-US" sz="2800" dirty="0"/>
              <a:t>When the </a:t>
            </a:r>
            <a:r>
              <a:rPr lang="en-US" sz="2800" dirty="0" err="1"/>
              <a:t>zener</a:t>
            </a:r>
            <a:r>
              <a:rPr lang="en-US" sz="2800" dirty="0"/>
              <a:t> diode is reverse biased with a voltage less than </a:t>
            </a:r>
            <a:r>
              <a:rPr lang="en-US" sz="2800" i="1" dirty="0"/>
              <a:t>VZ </a:t>
            </a:r>
            <a:r>
              <a:rPr lang="en-US" sz="2800" dirty="0"/>
              <a:t>it blocks the current, like an ordinary silicon diode.</a:t>
            </a:r>
            <a:endParaRPr lang="en-GH" sz="2800" dirty="0"/>
          </a:p>
          <a:p>
            <a:pPr algn="just"/>
            <a:r>
              <a:rPr lang="en-US" sz="2800" dirty="0"/>
              <a:t>When the reverse bias voltage reaches </a:t>
            </a:r>
            <a:r>
              <a:rPr lang="en-US" sz="2800" i="1" dirty="0"/>
              <a:t>VZ </a:t>
            </a:r>
            <a:r>
              <a:rPr lang="en-US" sz="2800" dirty="0"/>
              <a:t>the voltage is limited to around this value, but it can conduct very large currents. </a:t>
            </a:r>
            <a:endParaRPr lang="en-GH" sz="2800" dirty="0"/>
          </a:p>
          <a:p>
            <a:pPr algn="just"/>
            <a:endParaRPr lang="en-GH" sz="2800" dirty="0"/>
          </a:p>
        </p:txBody>
      </p:sp>
      <p:sp>
        <p:nvSpPr>
          <p:cNvPr id="6" name="Slide Number Placeholder 5">
            <a:extLst>
              <a:ext uri="{FF2B5EF4-FFF2-40B4-BE49-F238E27FC236}">
                <a16:creationId xmlns:a16="http://schemas.microsoft.com/office/drawing/2014/main" id="{3C834387-2419-4B7E-8BD5-B57243E23F6B}"/>
              </a:ext>
            </a:extLst>
          </p:cNvPr>
          <p:cNvSpPr>
            <a:spLocks noGrp="1"/>
          </p:cNvSpPr>
          <p:nvPr>
            <p:ph type="sldNum" sz="quarter" idx="12"/>
          </p:nvPr>
        </p:nvSpPr>
        <p:spPr/>
        <p:txBody>
          <a:bodyPr/>
          <a:lstStyle/>
          <a:p>
            <a:fld id="{56B950AF-1E29-4457-8775-32F51CE1BEDC}" type="slidenum">
              <a:rPr lang="en-US" altLang="en-US" smtClean="0"/>
              <a:t>27</a:t>
            </a:fld>
            <a:endParaRPr lang="en-US" altLang="en-US"/>
          </a:p>
        </p:txBody>
      </p:sp>
    </p:spTree>
    <p:extLst>
      <p:ext uri="{BB962C8B-B14F-4D97-AF65-F5344CB8AC3E}">
        <p14:creationId xmlns:p14="http://schemas.microsoft.com/office/powerpoint/2010/main" val="2492056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13E1F-BDB0-40CA-BC0D-8AE84BB5F6CD}"/>
              </a:ext>
            </a:extLst>
          </p:cNvPr>
          <p:cNvSpPr>
            <a:spLocks noGrp="1"/>
          </p:cNvSpPr>
          <p:nvPr>
            <p:ph type="title"/>
          </p:nvPr>
        </p:nvSpPr>
        <p:spPr/>
        <p:txBody>
          <a:bodyPr/>
          <a:lstStyle/>
          <a:p>
            <a:r>
              <a:rPr lang="en-US" dirty="0"/>
              <a:t>Key points</a:t>
            </a:r>
            <a:endParaRPr lang="en-GH" dirty="0"/>
          </a:p>
        </p:txBody>
      </p:sp>
      <p:sp>
        <p:nvSpPr>
          <p:cNvPr id="3" name="Content Placeholder 2">
            <a:extLst>
              <a:ext uri="{FF2B5EF4-FFF2-40B4-BE49-F238E27FC236}">
                <a16:creationId xmlns:a16="http://schemas.microsoft.com/office/drawing/2014/main" id="{46140A6B-6F2B-4D3C-8F08-93185859D4C8}"/>
              </a:ext>
            </a:extLst>
          </p:cNvPr>
          <p:cNvSpPr>
            <a:spLocks noGrp="1"/>
          </p:cNvSpPr>
          <p:nvPr>
            <p:ph idx="1"/>
          </p:nvPr>
        </p:nvSpPr>
        <p:spPr>
          <a:xfrm>
            <a:off x="609600" y="1174750"/>
            <a:ext cx="10972800" cy="5256530"/>
          </a:xfrm>
        </p:spPr>
        <p:txBody>
          <a:bodyPr/>
          <a:lstStyle/>
          <a:p>
            <a:pPr algn="just"/>
            <a:r>
              <a:rPr lang="en-US" sz="2800" dirty="0"/>
              <a:t>If a </a:t>
            </a:r>
            <a:r>
              <a:rPr lang="en-US" sz="2800" dirty="0" err="1"/>
              <a:t>zener</a:t>
            </a:r>
            <a:r>
              <a:rPr lang="en-US" sz="2800" dirty="0"/>
              <a:t> diode is placed in parallel with one of the resistors in a voltage divider circuit, no current flows through the </a:t>
            </a:r>
            <a:r>
              <a:rPr lang="en-US" sz="2800" dirty="0" err="1"/>
              <a:t>zener</a:t>
            </a:r>
            <a:r>
              <a:rPr lang="en-US" sz="2800" dirty="0"/>
              <a:t> diode when the voltage across the resistor is less than the breakdown voltage. </a:t>
            </a:r>
          </a:p>
          <a:p>
            <a:pPr algn="just"/>
            <a:r>
              <a:rPr lang="en-US" sz="2800" dirty="0"/>
              <a:t>When the voltage is equal to the breakdown voltage, some current passes through the resistor, the rest passes through the diode. The result is that the voltage across the diode and the resistor remains constant. </a:t>
            </a:r>
          </a:p>
          <a:p>
            <a:pPr algn="just"/>
            <a:r>
              <a:rPr lang="en-US" sz="2800" dirty="0"/>
              <a:t>If the input voltage increases, the current through the voltage divider increases and any increase in voltage happens across the other resistor.</a:t>
            </a:r>
            <a:endParaRPr lang="en-GH" sz="2800" dirty="0"/>
          </a:p>
          <a:p>
            <a:pPr algn="just"/>
            <a:endParaRPr lang="en-GH" sz="2800" dirty="0"/>
          </a:p>
        </p:txBody>
      </p:sp>
      <p:sp>
        <p:nvSpPr>
          <p:cNvPr id="6" name="Slide Number Placeholder 5">
            <a:extLst>
              <a:ext uri="{FF2B5EF4-FFF2-40B4-BE49-F238E27FC236}">
                <a16:creationId xmlns:a16="http://schemas.microsoft.com/office/drawing/2014/main" id="{3CD0F187-E405-4362-AE80-37EC7579A33E}"/>
              </a:ext>
            </a:extLst>
          </p:cNvPr>
          <p:cNvSpPr>
            <a:spLocks noGrp="1"/>
          </p:cNvSpPr>
          <p:nvPr>
            <p:ph type="sldNum" sz="quarter" idx="12"/>
          </p:nvPr>
        </p:nvSpPr>
        <p:spPr/>
        <p:txBody>
          <a:bodyPr/>
          <a:lstStyle/>
          <a:p>
            <a:fld id="{56B950AF-1E29-4457-8775-32F51CE1BEDC}" type="slidenum">
              <a:rPr lang="en-US" altLang="en-US" smtClean="0"/>
              <a:t>28</a:t>
            </a:fld>
            <a:endParaRPr lang="en-US" altLang="en-US"/>
          </a:p>
        </p:txBody>
      </p:sp>
    </p:spTree>
    <p:extLst>
      <p:ext uri="{BB962C8B-B14F-4D97-AF65-F5344CB8AC3E}">
        <p14:creationId xmlns:p14="http://schemas.microsoft.com/office/powerpoint/2010/main" val="1025889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79939F-DB15-4384-A5D9-429F258C39B2}"/>
              </a:ext>
            </a:extLst>
          </p:cNvPr>
          <p:cNvSpPr>
            <a:spLocks noGrp="1"/>
          </p:cNvSpPr>
          <p:nvPr>
            <p:ph idx="1"/>
          </p:nvPr>
        </p:nvSpPr>
        <p:spPr>
          <a:xfrm>
            <a:off x="609600" y="1036320"/>
            <a:ext cx="10972800" cy="5447030"/>
          </a:xfrm>
        </p:spPr>
        <p:txBody>
          <a:bodyPr/>
          <a:lstStyle/>
          <a:p>
            <a:pPr algn="just"/>
            <a:r>
              <a:rPr lang="en-US" i="1" dirty="0"/>
              <a:t>A </a:t>
            </a:r>
            <a:r>
              <a:rPr lang="en-US" i="1" dirty="0" err="1"/>
              <a:t>zener</a:t>
            </a:r>
            <a:r>
              <a:rPr lang="en-US" i="1" dirty="0"/>
              <a:t> diode regulates the voltage drop across a load resistor at 4.7 V as long as Vin is greater than 4.7 V.</a:t>
            </a:r>
            <a:endParaRPr lang="en-GH" dirty="0"/>
          </a:p>
          <a:p>
            <a:pPr marL="0" indent="0" algn="just">
              <a:buNone/>
            </a:pPr>
            <a:r>
              <a:rPr lang="en-US" dirty="0"/>
              <a:t> </a:t>
            </a:r>
            <a:endParaRPr lang="en-GH" dirty="0"/>
          </a:p>
          <a:p>
            <a:pPr algn="just"/>
            <a:endParaRPr lang="en-GH" dirty="0"/>
          </a:p>
        </p:txBody>
      </p:sp>
      <p:sp>
        <p:nvSpPr>
          <p:cNvPr id="6" name="Slide Number Placeholder 5">
            <a:extLst>
              <a:ext uri="{FF2B5EF4-FFF2-40B4-BE49-F238E27FC236}">
                <a16:creationId xmlns:a16="http://schemas.microsoft.com/office/drawing/2014/main" id="{4BB08CA4-9C6B-45A4-8E86-C4C6A18BC50B}"/>
              </a:ext>
            </a:extLst>
          </p:cNvPr>
          <p:cNvSpPr>
            <a:spLocks noGrp="1"/>
          </p:cNvSpPr>
          <p:nvPr>
            <p:ph type="sldNum" sz="quarter" idx="12"/>
          </p:nvPr>
        </p:nvSpPr>
        <p:spPr/>
        <p:txBody>
          <a:bodyPr/>
          <a:lstStyle/>
          <a:p>
            <a:fld id="{56B950AF-1E29-4457-8775-32F51CE1BEDC}" type="slidenum">
              <a:rPr lang="en-US" altLang="en-US" smtClean="0"/>
              <a:t>29</a:t>
            </a:fld>
            <a:endParaRPr lang="en-US" altLang="en-US"/>
          </a:p>
        </p:txBody>
      </p:sp>
      <p:pic>
        <p:nvPicPr>
          <p:cNvPr id="3074" name="Picture 2">
            <a:extLst>
              <a:ext uri="{FF2B5EF4-FFF2-40B4-BE49-F238E27FC236}">
                <a16:creationId xmlns:a16="http://schemas.microsoft.com/office/drawing/2014/main" id="{119B5C53-7CB6-4E1C-9506-932F4E2072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5141" y="2227747"/>
            <a:ext cx="3914140" cy="425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2280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ACA1-62E7-44C8-8282-8A5F1AE7F55A}"/>
              </a:ext>
            </a:extLst>
          </p:cNvPr>
          <p:cNvSpPr>
            <a:spLocks noGrp="1"/>
          </p:cNvSpPr>
          <p:nvPr>
            <p:ph type="title"/>
          </p:nvPr>
        </p:nvSpPr>
        <p:spPr/>
        <p:txBody>
          <a:bodyPr/>
          <a:lstStyle/>
          <a:p>
            <a:r>
              <a:rPr lang="en-US" b="1" dirty="0"/>
              <a:t>Sample problem</a:t>
            </a:r>
            <a:endParaRPr lang="en-GH" b="1" dirty="0"/>
          </a:p>
        </p:txBody>
      </p:sp>
      <p:sp>
        <p:nvSpPr>
          <p:cNvPr id="3" name="Content Placeholder 2">
            <a:extLst>
              <a:ext uri="{FF2B5EF4-FFF2-40B4-BE49-F238E27FC236}">
                <a16:creationId xmlns:a16="http://schemas.microsoft.com/office/drawing/2014/main" id="{AF48F803-E7EC-4360-BEF0-84FF127F43B0}"/>
              </a:ext>
            </a:extLst>
          </p:cNvPr>
          <p:cNvSpPr>
            <a:spLocks noGrp="1"/>
          </p:cNvSpPr>
          <p:nvPr>
            <p:ph idx="1"/>
          </p:nvPr>
        </p:nvSpPr>
        <p:spPr>
          <a:xfrm>
            <a:off x="609600" y="1174750"/>
            <a:ext cx="8128000" cy="5332730"/>
          </a:xfrm>
        </p:spPr>
        <p:txBody>
          <a:bodyPr/>
          <a:lstStyle/>
          <a:p>
            <a:pPr algn="just"/>
            <a:r>
              <a:rPr lang="en-US" sz="2600" dirty="0"/>
              <a:t>A 4V7 </a:t>
            </a:r>
            <a:r>
              <a:rPr lang="en-US" sz="2600" dirty="0" err="1"/>
              <a:t>zener</a:t>
            </a:r>
            <a:r>
              <a:rPr lang="en-US" sz="2600" dirty="0"/>
              <a:t> diode is used as a voltage regulator as shown in the diagram below. The input voltage comes from a rectifier and has a ripple that ranges between 8.5 V and 9.3 V. The resistor R1 has a resistance of 100 Ω.</a:t>
            </a:r>
            <a:endParaRPr lang="en-GH" sz="2600" dirty="0"/>
          </a:p>
          <a:p>
            <a:pPr lvl="0" algn="just"/>
            <a:endParaRPr lang="en-US" sz="2600" b="1" dirty="0"/>
          </a:p>
          <a:p>
            <a:pPr lvl="0" algn="just"/>
            <a:r>
              <a:rPr lang="en-US" sz="2600" dirty="0"/>
              <a:t>Calculate the peak to peak value of the ripple voltage.</a:t>
            </a:r>
            <a:endParaRPr lang="en-GH" sz="2600" dirty="0"/>
          </a:p>
          <a:p>
            <a:pPr lvl="0" algn="just"/>
            <a:r>
              <a:rPr lang="en-US" sz="2600" dirty="0"/>
              <a:t>What is the value of the voltage drop across the load for this input voltage signal?</a:t>
            </a:r>
            <a:endParaRPr lang="en-GH" sz="2600" dirty="0"/>
          </a:p>
          <a:p>
            <a:pPr lvl="0" algn="just"/>
            <a:r>
              <a:rPr lang="en-US" sz="2600" dirty="0"/>
              <a:t>What happens to the magnitude of the current through resistor R1?</a:t>
            </a:r>
            <a:endParaRPr lang="en-GH" sz="2600" dirty="0"/>
          </a:p>
        </p:txBody>
      </p:sp>
      <p:sp>
        <p:nvSpPr>
          <p:cNvPr id="6" name="Slide Number Placeholder 5">
            <a:extLst>
              <a:ext uri="{FF2B5EF4-FFF2-40B4-BE49-F238E27FC236}">
                <a16:creationId xmlns:a16="http://schemas.microsoft.com/office/drawing/2014/main" id="{4E6F9732-52A4-4F19-9F76-F093F4DA2429}"/>
              </a:ext>
            </a:extLst>
          </p:cNvPr>
          <p:cNvSpPr>
            <a:spLocks noGrp="1"/>
          </p:cNvSpPr>
          <p:nvPr>
            <p:ph type="sldNum" sz="quarter" idx="12"/>
          </p:nvPr>
        </p:nvSpPr>
        <p:spPr/>
        <p:txBody>
          <a:bodyPr/>
          <a:lstStyle/>
          <a:p>
            <a:fld id="{56B950AF-1E29-4457-8775-32F51CE1BEDC}" type="slidenum">
              <a:rPr lang="en-US" altLang="en-US" smtClean="0"/>
              <a:t>30</a:t>
            </a:fld>
            <a:endParaRPr lang="en-US" altLang="en-US"/>
          </a:p>
        </p:txBody>
      </p:sp>
      <p:pic>
        <p:nvPicPr>
          <p:cNvPr id="4098" name="Picture 2">
            <a:extLst>
              <a:ext uri="{FF2B5EF4-FFF2-40B4-BE49-F238E27FC236}">
                <a16:creationId xmlns:a16="http://schemas.microsoft.com/office/drawing/2014/main" id="{21A32322-C97B-4B8A-A20A-530A19762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6060" y="1593215"/>
            <a:ext cx="2808884" cy="4233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31314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EB245-65EF-4A28-9F2C-A226D834546F}"/>
              </a:ext>
            </a:extLst>
          </p:cNvPr>
          <p:cNvSpPr>
            <a:spLocks noGrp="1"/>
          </p:cNvSpPr>
          <p:nvPr>
            <p:ph type="title"/>
          </p:nvPr>
        </p:nvSpPr>
        <p:spPr/>
        <p:txBody>
          <a:bodyPr/>
          <a:lstStyle/>
          <a:p>
            <a:r>
              <a:rPr lang="en-US" b="1" i="1" dirty="0"/>
              <a:t>Solution</a:t>
            </a:r>
            <a:endParaRPr lang="en-GH" b="1" dirty="0"/>
          </a:p>
        </p:txBody>
      </p:sp>
      <p:sp>
        <p:nvSpPr>
          <p:cNvPr id="3" name="Content Placeholder 2">
            <a:extLst>
              <a:ext uri="{FF2B5EF4-FFF2-40B4-BE49-F238E27FC236}">
                <a16:creationId xmlns:a16="http://schemas.microsoft.com/office/drawing/2014/main" id="{6C5503F3-EAF5-4A28-A111-A2E0A0B28060}"/>
              </a:ext>
            </a:extLst>
          </p:cNvPr>
          <p:cNvSpPr>
            <a:spLocks noGrp="1"/>
          </p:cNvSpPr>
          <p:nvPr>
            <p:ph idx="1"/>
          </p:nvPr>
        </p:nvSpPr>
        <p:spPr>
          <a:xfrm>
            <a:off x="609600" y="1174750"/>
            <a:ext cx="11247120" cy="5210810"/>
          </a:xfrm>
        </p:spPr>
        <p:txBody>
          <a:bodyPr/>
          <a:lstStyle/>
          <a:p>
            <a:pPr lvl="0"/>
            <a:r>
              <a:rPr lang="en-US" sz="2800" i="1" dirty="0" err="1"/>
              <a:t>V</a:t>
            </a:r>
            <a:r>
              <a:rPr lang="en-US" sz="2800" dirty="0" err="1"/>
              <a:t>r</a:t>
            </a:r>
            <a:r>
              <a:rPr lang="en-US" sz="2800" dirty="0"/>
              <a:t>(p-p) = </a:t>
            </a:r>
            <a:r>
              <a:rPr lang="en-US" sz="2800" i="1" dirty="0"/>
              <a:t>V</a:t>
            </a:r>
            <a:r>
              <a:rPr lang="en-US" sz="2800" dirty="0"/>
              <a:t>max – </a:t>
            </a:r>
            <a:r>
              <a:rPr lang="en-US" sz="2800" i="1" dirty="0" err="1"/>
              <a:t>V</a:t>
            </a:r>
            <a:r>
              <a:rPr lang="en-US" sz="2800" dirty="0" err="1"/>
              <a:t>min</a:t>
            </a:r>
            <a:endParaRPr lang="en-GH" sz="2800" dirty="0"/>
          </a:p>
          <a:p>
            <a:r>
              <a:rPr lang="en-US" sz="2800" dirty="0"/>
              <a:t>= 9.3 V – 8.5 V</a:t>
            </a:r>
            <a:endParaRPr lang="en-GH" sz="2800" dirty="0"/>
          </a:p>
          <a:p>
            <a:r>
              <a:rPr lang="en-US" sz="2800" dirty="0"/>
              <a:t>= 0.8 V</a:t>
            </a:r>
          </a:p>
          <a:p>
            <a:pPr marL="0" indent="0">
              <a:buNone/>
            </a:pPr>
            <a:endParaRPr lang="en-GH" sz="2800" dirty="0"/>
          </a:p>
          <a:p>
            <a:pPr lvl="0"/>
            <a:r>
              <a:rPr lang="en-US" sz="2800" dirty="0"/>
              <a:t>4.7 V</a:t>
            </a:r>
            <a:endParaRPr lang="en-GH" sz="2800" dirty="0"/>
          </a:p>
          <a:p>
            <a:endParaRPr lang="en-GH" sz="2800" dirty="0"/>
          </a:p>
          <a:p>
            <a:pPr lvl="0"/>
            <a:r>
              <a:rPr lang="en-US" sz="2800" dirty="0"/>
              <a:t>The voltage drop across the </a:t>
            </a:r>
            <a:r>
              <a:rPr lang="en-US" sz="2800" dirty="0" err="1"/>
              <a:t>zener</a:t>
            </a:r>
            <a:r>
              <a:rPr lang="en-US" sz="2800" dirty="0"/>
              <a:t> diode and the load remains constant at 4.7 V. The voltage drop across resistor R1 varies between 3.8 V and 4.6 V.</a:t>
            </a:r>
            <a:endParaRPr lang="en-GH" sz="2800" dirty="0"/>
          </a:p>
          <a:p>
            <a:r>
              <a:rPr lang="en-US" sz="2800" i="1" dirty="0"/>
              <a:t>I </a:t>
            </a:r>
            <a:r>
              <a:rPr lang="en-US" sz="2800" dirty="0"/>
              <a:t>=</a:t>
            </a:r>
            <a:r>
              <a:rPr lang="en-US" sz="2800" i="1" dirty="0"/>
              <a:t>V</a:t>
            </a:r>
            <a:r>
              <a:rPr lang="en-US" sz="2800" dirty="0"/>
              <a:t>/</a:t>
            </a:r>
            <a:r>
              <a:rPr lang="en-US" sz="2800" i="1" dirty="0"/>
              <a:t>R</a:t>
            </a:r>
            <a:r>
              <a:rPr lang="en-US" sz="2800" dirty="0"/>
              <a:t>, so the current varies between 0.038 A and 0.046 A.</a:t>
            </a:r>
            <a:endParaRPr lang="en-GH" sz="2800" dirty="0"/>
          </a:p>
          <a:p>
            <a:endParaRPr lang="en-GH" sz="2800" dirty="0"/>
          </a:p>
        </p:txBody>
      </p:sp>
      <p:sp>
        <p:nvSpPr>
          <p:cNvPr id="6" name="Slide Number Placeholder 5">
            <a:extLst>
              <a:ext uri="{FF2B5EF4-FFF2-40B4-BE49-F238E27FC236}">
                <a16:creationId xmlns:a16="http://schemas.microsoft.com/office/drawing/2014/main" id="{5024EC21-A668-48C4-9C2F-4E7EF5A1D265}"/>
              </a:ext>
            </a:extLst>
          </p:cNvPr>
          <p:cNvSpPr>
            <a:spLocks noGrp="1"/>
          </p:cNvSpPr>
          <p:nvPr>
            <p:ph type="sldNum" sz="quarter" idx="12"/>
          </p:nvPr>
        </p:nvSpPr>
        <p:spPr/>
        <p:txBody>
          <a:bodyPr/>
          <a:lstStyle/>
          <a:p>
            <a:fld id="{56B950AF-1E29-4457-8775-32F51CE1BEDC}" type="slidenum">
              <a:rPr lang="en-US" altLang="en-US" smtClean="0"/>
              <a:t>31</a:t>
            </a:fld>
            <a:endParaRPr lang="en-US" altLang="en-US"/>
          </a:p>
        </p:txBody>
      </p:sp>
    </p:spTree>
    <p:extLst>
      <p:ext uri="{BB962C8B-B14F-4D97-AF65-F5344CB8AC3E}">
        <p14:creationId xmlns:p14="http://schemas.microsoft.com/office/powerpoint/2010/main" val="2384806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Slide Number Placeholder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fld id="{8684E23B-290F-4409-9E50-CDAC7AC63240}" type="slidenum">
              <a:rPr lang="en-US" altLang="en-US" sz="1400">
                <a:solidFill>
                  <a:srgbClr val="1B28F6"/>
                </a:solidFill>
              </a:rPr>
              <a:t>32</a:t>
            </a:fld>
            <a:endParaRPr lang="en-US" altLang="en-US" sz="1400">
              <a:solidFill>
                <a:srgbClr val="1B28F6"/>
              </a:solidFill>
            </a:endParaRPr>
          </a:p>
        </p:txBody>
      </p:sp>
      <p:pic>
        <p:nvPicPr>
          <p:cNvPr id="50181" name="Picture 2" descr="TO2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1345" y="4727575"/>
            <a:ext cx="1823085"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Rectangle 4"/>
          <p:cNvSpPr>
            <a:spLocks noGrp="1" noChangeArrowheads="1"/>
          </p:cNvSpPr>
          <p:nvPr>
            <p:ph type="title"/>
          </p:nvPr>
        </p:nvSpPr>
        <p:spPr>
          <a:xfrm>
            <a:off x="2209800" y="-76200"/>
            <a:ext cx="7772400" cy="1143000"/>
          </a:xfrm>
        </p:spPr>
        <p:txBody>
          <a:bodyPr/>
          <a:lstStyle/>
          <a:p>
            <a:pPr algn="ctr" eaLnBrk="1" hangingPunct="1">
              <a:defRPr/>
            </a:pPr>
            <a:r>
              <a:rPr lang="en-US" b="1"/>
              <a:t>Voltage Regulator IC</a:t>
            </a:r>
          </a:p>
        </p:txBody>
      </p:sp>
      <p:sp>
        <p:nvSpPr>
          <p:cNvPr id="87045" name="Rectangle 5"/>
          <p:cNvSpPr>
            <a:spLocks noGrp="1" noChangeArrowheads="1"/>
          </p:cNvSpPr>
          <p:nvPr>
            <p:ph type="body" sz="half" idx="1"/>
          </p:nvPr>
        </p:nvSpPr>
        <p:spPr>
          <a:xfrm>
            <a:off x="469265" y="914400"/>
            <a:ext cx="6769100" cy="5029200"/>
          </a:xfrm>
        </p:spPr>
        <p:txBody>
          <a:bodyPr/>
          <a:lstStyle/>
          <a:p>
            <a:pPr eaLnBrk="1" hangingPunct="1">
              <a:defRPr/>
            </a:pPr>
            <a:r>
              <a:rPr lang="en-US" sz="2700"/>
              <a:t>Can trim down ripply voltage to precise, rock-steady value</a:t>
            </a:r>
          </a:p>
          <a:p>
            <a:pPr eaLnBrk="1" hangingPunct="1">
              <a:defRPr/>
            </a:pPr>
            <a:r>
              <a:rPr lang="en-US" sz="2700"/>
              <a:t>Now things get complicated!</a:t>
            </a:r>
          </a:p>
          <a:p>
            <a:pPr lvl="1" eaLnBrk="1" hangingPunct="1">
              <a:defRPr/>
            </a:pPr>
            <a:r>
              <a:rPr lang="en-US" sz="2700"/>
              <a:t>We are now in the realm of integrated circuits (ICs)</a:t>
            </a:r>
          </a:p>
          <a:p>
            <a:pPr eaLnBrk="1" hangingPunct="1">
              <a:defRPr/>
            </a:pPr>
            <a:r>
              <a:rPr lang="en-US" sz="2700"/>
              <a:t>ICs are whole circuits in small packages</a:t>
            </a:r>
          </a:p>
          <a:p>
            <a:pPr eaLnBrk="1" hangingPunct="1">
              <a:defRPr/>
            </a:pPr>
            <a:r>
              <a:rPr lang="en-US" sz="2700"/>
              <a:t>ICs contain resistors, capacitors, diodes, transistors, etc.</a:t>
            </a:r>
          </a:p>
        </p:txBody>
      </p:sp>
      <p:pic>
        <p:nvPicPr>
          <p:cNvPr id="5018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4585" y="1447800"/>
            <a:ext cx="39751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5" name="Text Box 8"/>
          <p:cNvSpPr txBox="1">
            <a:spLocks noChangeArrowheads="1"/>
          </p:cNvSpPr>
          <p:nvPr/>
        </p:nvSpPr>
        <p:spPr bwMode="auto">
          <a:xfrm>
            <a:off x="9471025" y="1004888"/>
            <a:ext cx="14528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800" b="1">
                <a:solidFill>
                  <a:schemeClr val="accent1">
                    <a:lumMod val="10000"/>
                  </a:schemeClr>
                </a:solidFill>
              </a:rPr>
              <a:t>note zeners</a:t>
            </a:r>
          </a:p>
        </p:txBody>
      </p:sp>
      <p:sp>
        <p:nvSpPr>
          <p:cNvPr id="50186" name="Line 9"/>
          <p:cNvSpPr>
            <a:spLocks noChangeShapeType="1"/>
          </p:cNvSpPr>
          <p:nvPr/>
        </p:nvSpPr>
        <p:spPr bwMode="auto">
          <a:xfrm flipH="1">
            <a:off x="9758680" y="1371600"/>
            <a:ext cx="609600" cy="914400"/>
          </a:xfrm>
          <a:prstGeom prst="line">
            <a:avLst/>
          </a:prstGeom>
          <a:noFill/>
          <a:ln w="9525">
            <a:solidFill>
              <a:schemeClr val="tx1">
                <a:lumMod val="95000"/>
                <a:lumOff val="5000"/>
              </a:schemeClr>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50187" name="Line 10"/>
          <p:cNvSpPr>
            <a:spLocks noChangeShapeType="1"/>
          </p:cNvSpPr>
          <p:nvPr/>
        </p:nvSpPr>
        <p:spPr bwMode="auto">
          <a:xfrm flipH="1">
            <a:off x="8700135" y="1371600"/>
            <a:ext cx="1524000" cy="1143000"/>
          </a:xfrm>
          <a:prstGeom prst="line">
            <a:avLst/>
          </a:prstGeom>
          <a:noFill/>
          <a:ln w="9525">
            <a:solidFill>
              <a:schemeClr val="tx1">
                <a:lumMod val="95000"/>
                <a:lumOff val="5000"/>
              </a:schemeClr>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
        <p:nvSpPr>
          <p:cNvPr id="50188" name="AutoShape 11"/>
          <p:cNvSpPr>
            <a:spLocks noChangeArrowheads="1"/>
          </p:cNvSpPr>
          <p:nvPr/>
        </p:nvSpPr>
        <p:spPr bwMode="auto">
          <a:xfrm>
            <a:off x="5103495" y="5116195"/>
            <a:ext cx="1219200" cy="381000"/>
          </a:xfrm>
          <a:prstGeom prst="rightArrow">
            <a:avLst>
              <a:gd name="adj1" fmla="val 50000"/>
              <a:gd name="adj2" fmla="val 80000"/>
            </a:avLst>
          </a:prstGeom>
          <a:solidFill>
            <a:srgbClr val="0DC1F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endParaRPr lang="en-US" altLang="en-US">
              <a:solidFill>
                <a:srgbClr val="1B28F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fld id="{0DA61262-BC56-4FF6-B790-0D4B958E24C8}" type="slidenum">
              <a:rPr lang="en-US" altLang="en-US" sz="1400">
                <a:solidFill>
                  <a:srgbClr val="1B28F6"/>
                </a:solidFill>
              </a:rPr>
              <a:t>33</a:t>
            </a:fld>
            <a:endParaRPr lang="en-US" altLang="en-US" sz="1400">
              <a:solidFill>
                <a:srgbClr val="1B28F6"/>
              </a:solidFill>
            </a:endParaRPr>
          </a:p>
        </p:txBody>
      </p:sp>
      <p:pic>
        <p:nvPicPr>
          <p:cNvPr id="52229" name="Picture 5" descr="LM3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3605" y="4205288"/>
            <a:ext cx="3227388"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2" name="Rectangle 2"/>
          <p:cNvSpPr>
            <a:spLocks noGrp="1" noChangeArrowheads="1"/>
          </p:cNvSpPr>
          <p:nvPr>
            <p:ph type="title"/>
          </p:nvPr>
        </p:nvSpPr>
        <p:spPr>
          <a:xfrm>
            <a:off x="697865" y="-76200"/>
            <a:ext cx="9284335" cy="1143000"/>
          </a:xfrm>
        </p:spPr>
        <p:txBody>
          <a:bodyPr/>
          <a:lstStyle/>
          <a:p>
            <a:pPr algn="ctr" eaLnBrk="1" hangingPunct="1">
              <a:defRPr/>
            </a:pPr>
            <a:r>
              <a:rPr lang="en-US" b="1"/>
              <a:t>Voltage Regulators</a:t>
            </a:r>
          </a:p>
        </p:txBody>
      </p:sp>
      <p:sp>
        <p:nvSpPr>
          <p:cNvPr id="97283" name="Rectangle 3"/>
          <p:cNvSpPr>
            <a:spLocks noGrp="1" noChangeArrowheads="1"/>
          </p:cNvSpPr>
          <p:nvPr>
            <p:ph type="body" idx="1"/>
          </p:nvPr>
        </p:nvSpPr>
        <p:spPr>
          <a:xfrm>
            <a:off x="697230" y="838200"/>
            <a:ext cx="8040370" cy="5562600"/>
          </a:xfrm>
        </p:spPr>
        <p:txBody>
          <a:bodyPr/>
          <a:lstStyle/>
          <a:p>
            <a:pPr algn="just" eaLnBrk="1" hangingPunct="1"/>
            <a:r>
              <a:rPr lang="en-US" altLang="en-US" sz="2500">
                <a:solidFill>
                  <a:schemeClr val="accent1">
                    <a:lumMod val="10000"/>
                  </a:schemeClr>
                </a:solidFill>
                <a:effectLst>
                  <a:outerShdw blurRad="38100" dist="38100" dir="2700000" algn="tl">
                    <a:srgbClr val="C0C0C0"/>
                  </a:outerShdw>
                </a:effectLst>
              </a:rPr>
              <a:t>The most common voltage regulators are the LM78XX (+ voltages) and LM79XX (</a:t>
            </a:r>
            <a:r>
              <a:rPr lang="en-US" altLang="en-US" sz="2500">
                <a:solidFill>
                  <a:schemeClr val="accent1">
                    <a:lumMod val="10000"/>
                  </a:schemeClr>
                </a:solidFill>
                <a:effectLst>
                  <a:outerShdw blurRad="38100" dist="38100" dir="2700000" algn="tl">
                    <a:srgbClr val="C0C0C0"/>
                  </a:outerShdw>
                </a:effectLst>
                <a:sym typeface="Symbol" panose="05050102010706020507" pitchFamily="18" charset="2"/>
              </a:rPr>
              <a:t> voltages)</a:t>
            </a:r>
            <a:endParaRPr lang="en-US" altLang="en-US" sz="2500">
              <a:solidFill>
                <a:schemeClr val="accent1">
                  <a:lumMod val="10000"/>
                </a:schemeClr>
              </a:solidFill>
              <a:effectLst>
                <a:outerShdw blurRad="38100" dist="38100" dir="2700000" algn="tl">
                  <a:srgbClr val="C0C0C0"/>
                </a:outerShdw>
              </a:effectLst>
            </a:endParaRPr>
          </a:p>
          <a:p>
            <a:pPr lvl="1" algn="just" eaLnBrk="1" hangingPunct="1"/>
            <a:r>
              <a:rPr lang="en-US" altLang="en-US" sz="2500">
                <a:solidFill>
                  <a:schemeClr val="accent1">
                    <a:lumMod val="10000"/>
                  </a:schemeClr>
                </a:solidFill>
              </a:rPr>
              <a:t>XX represents the voltage</a:t>
            </a:r>
          </a:p>
          <a:p>
            <a:pPr marL="1085850" lvl="2" algn="just" eaLnBrk="1" hangingPunct="1"/>
            <a:r>
              <a:rPr lang="en-US" altLang="en-US" sz="2500">
                <a:solidFill>
                  <a:schemeClr val="accent1">
                    <a:lumMod val="10000"/>
                  </a:schemeClr>
                </a:solidFill>
              </a:rPr>
              <a:t>7815 is +15; 7915 is </a:t>
            </a:r>
            <a:r>
              <a:rPr lang="en-US" altLang="en-US" sz="2500">
                <a:solidFill>
                  <a:schemeClr val="accent1">
                    <a:lumMod val="10000"/>
                  </a:schemeClr>
                </a:solidFill>
                <a:sym typeface="Symbol" panose="05050102010706020507" pitchFamily="18" charset="2"/>
              </a:rPr>
              <a:t>15; 7805 is +5, etc</a:t>
            </a:r>
          </a:p>
          <a:p>
            <a:pPr lvl="1" algn="just" eaLnBrk="1" hangingPunct="1"/>
            <a:r>
              <a:rPr lang="en-US" altLang="en-US" sz="2500">
                <a:solidFill>
                  <a:schemeClr val="accent1">
                    <a:lumMod val="10000"/>
                  </a:schemeClr>
                </a:solidFill>
              </a:rPr>
              <a:t>typically needs input &gt; 3 volts above output (reg.) voltage</a:t>
            </a:r>
            <a:endParaRPr lang="en-US" altLang="en-US" sz="2500">
              <a:solidFill>
                <a:schemeClr val="accent1">
                  <a:lumMod val="10000"/>
                </a:schemeClr>
              </a:solidFill>
              <a:effectLst>
                <a:outerShdw blurRad="38100" dist="38100" dir="2700000" algn="tl">
                  <a:srgbClr val="C0C0C0"/>
                </a:outerShdw>
              </a:effectLst>
            </a:endParaRPr>
          </a:p>
          <a:p>
            <a:pPr algn="just" eaLnBrk="1" hangingPunct="1"/>
            <a:r>
              <a:rPr lang="en-US" altLang="en-US" sz="2500">
                <a:solidFill>
                  <a:schemeClr val="accent1">
                    <a:lumMod val="10000"/>
                  </a:schemeClr>
                </a:solidFill>
                <a:effectLst>
                  <a:outerShdw blurRad="38100" dist="38100" dir="2700000" algn="tl">
                    <a:srgbClr val="C0C0C0"/>
                  </a:outerShdw>
                </a:effectLst>
              </a:rPr>
              <a:t>A versatile regulator is the LM317 (+) or LM337 (</a:t>
            </a:r>
            <a:r>
              <a:rPr lang="en-US" altLang="en-US" sz="2500">
                <a:solidFill>
                  <a:schemeClr val="accent1">
                    <a:lumMod val="10000"/>
                  </a:schemeClr>
                </a:solidFill>
                <a:effectLst>
                  <a:outerShdw blurRad="38100" dist="38100" dir="2700000" algn="tl">
                    <a:srgbClr val="C0C0C0"/>
                  </a:outerShdw>
                </a:effectLst>
                <a:sym typeface="Symbol" panose="05050102010706020507" pitchFamily="18" charset="2"/>
              </a:rPr>
              <a:t>)</a:t>
            </a:r>
          </a:p>
          <a:p>
            <a:pPr lvl="1" algn="just" eaLnBrk="1" hangingPunct="1"/>
            <a:r>
              <a:rPr lang="en-US" altLang="en-US" sz="2500">
                <a:solidFill>
                  <a:schemeClr val="accent1">
                    <a:lumMod val="10000"/>
                  </a:schemeClr>
                </a:solidFill>
              </a:rPr>
              <a:t>1.2–37 V output</a:t>
            </a:r>
          </a:p>
          <a:p>
            <a:pPr lvl="1" algn="just" eaLnBrk="1" hangingPunct="1"/>
            <a:r>
              <a:rPr lang="en-US" altLang="en-US" sz="2500" i="1">
                <a:solidFill>
                  <a:schemeClr val="accent1">
                    <a:lumMod val="10000"/>
                  </a:schemeClr>
                </a:solidFill>
              </a:rPr>
              <a:t>V</a:t>
            </a:r>
            <a:r>
              <a:rPr lang="en-US" altLang="en-US" sz="2500" baseline="-25000">
                <a:solidFill>
                  <a:schemeClr val="accent1">
                    <a:lumMod val="10000"/>
                  </a:schemeClr>
                </a:solidFill>
              </a:rPr>
              <a:t>out</a:t>
            </a:r>
            <a:r>
              <a:rPr lang="en-US" altLang="en-US" sz="2500">
                <a:solidFill>
                  <a:schemeClr val="accent1">
                    <a:lumMod val="10000"/>
                  </a:schemeClr>
                </a:solidFill>
              </a:rPr>
              <a:t> = 1.25(1+</a:t>
            </a:r>
            <a:r>
              <a:rPr lang="en-US" altLang="en-US" sz="2500" i="1">
                <a:solidFill>
                  <a:schemeClr val="accent1">
                    <a:lumMod val="10000"/>
                  </a:schemeClr>
                </a:solidFill>
              </a:rPr>
              <a:t>R</a:t>
            </a:r>
            <a:r>
              <a:rPr lang="en-US" altLang="en-US" sz="2500" baseline="-25000">
                <a:solidFill>
                  <a:schemeClr val="accent1">
                    <a:lumMod val="10000"/>
                  </a:schemeClr>
                </a:solidFill>
              </a:rPr>
              <a:t>2</a:t>
            </a:r>
            <a:r>
              <a:rPr lang="en-US" altLang="en-US" sz="2500">
                <a:solidFill>
                  <a:schemeClr val="accent1">
                    <a:lumMod val="10000"/>
                  </a:schemeClr>
                </a:solidFill>
              </a:rPr>
              <a:t>/</a:t>
            </a:r>
            <a:r>
              <a:rPr lang="en-US" altLang="en-US" sz="2500" i="1">
                <a:solidFill>
                  <a:schemeClr val="accent1">
                    <a:lumMod val="10000"/>
                  </a:schemeClr>
                </a:solidFill>
              </a:rPr>
              <a:t>R</a:t>
            </a:r>
            <a:r>
              <a:rPr lang="en-US" altLang="en-US" sz="2500" baseline="-25000">
                <a:solidFill>
                  <a:schemeClr val="accent1">
                    <a:lumMod val="10000"/>
                  </a:schemeClr>
                </a:solidFill>
              </a:rPr>
              <a:t>1</a:t>
            </a:r>
            <a:r>
              <a:rPr lang="en-US" altLang="en-US" sz="2500">
                <a:solidFill>
                  <a:schemeClr val="accent1">
                    <a:lumMod val="10000"/>
                  </a:schemeClr>
                </a:solidFill>
              </a:rPr>
              <a:t>) + </a:t>
            </a:r>
            <a:r>
              <a:rPr lang="en-US" altLang="en-US" sz="2500" i="1">
                <a:solidFill>
                  <a:schemeClr val="accent1">
                    <a:lumMod val="10000"/>
                  </a:schemeClr>
                </a:solidFill>
              </a:rPr>
              <a:t>I</a:t>
            </a:r>
            <a:r>
              <a:rPr lang="en-US" altLang="en-US" sz="2500" baseline="-25000">
                <a:solidFill>
                  <a:schemeClr val="accent1">
                    <a:lumMod val="10000"/>
                  </a:schemeClr>
                </a:solidFill>
              </a:rPr>
              <a:t>adj</a:t>
            </a:r>
            <a:r>
              <a:rPr lang="en-US" altLang="en-US" sz="2500" i="1">
                <a:solidFill>
                  <a:schemeClr val="accent1">
                    <a:lumMod val="10000"/>
                  </a:schemeClr>
                </a:solidFill>
              </a:rPr>
              <a:t>R</a:t>
            </a:r>
            <a:r>
              <a:rPr lang="en-US" altLang="en-US" sz="2500" baseline="-25000">
                <a:solidFill>
                  <a:schemeClr val="accent1">
                    <a:lumMod val="10000"/>
                  </a:schemeClr>
                </a:solidFill>
              </a:rPr>
              <a:t>2</a:t>
            </a:r>
            <a:endParaRPr lang="en-US" altLang="en-US" sz="2500" i="1" baseline="-25000">
              <a:solidFill>
                <a:schemeClr val="accent1">
                  <a:lumMod val="10000"/>
                </a:schemeClr>
              </a:solidFill>
            </a:endParaRPr>
          </a:p>
          <a:p>
            <a:pPr lvl="1" algn="just" eaLnBrk="1" hangingPunct="1"/>
            <a:r>
              <a:rPr lang="en-US" altLang="en-US" sz="2500">
                <a:solidFill>
                  <a:schemeClr val="accent1">
                    <a:lumMod val="10000"/>
                  </a:schemeClr>
                </a:solidFill>
              </a:rPr>
              <a:t>Up to 1.5 A</a:t>
            </a:r>
          </a:p>
          <a:p>
            <a:pPr lvl="1" algn="just" eaLnBrk="1" hangingPunct="1"/>
            <a:r>
              <a:rPr lang="en-US" altLang="en-US" sz="2500">
                <a:solidFill>
                  <a:schemeClr val="accent1">
                    <a:lumMod val="10000"/>
                  </a:schemeClr>
                </a:solidFill>
              </a:rPr>
              <a:t>picture at right can go to 25 V</a:t>
            </a:r>
          </a:p>
          <a:p>
            <a:pPr lvl="1" algn="just" eaLnBrk="1" hangingPunct="1"/>
            <a:r>
              <a:rPr lang="en-US" altLang="en-US" sz="2500">
                <a:solidFill>
                  <a:schemeClr val="accent1">
                    <a:lumMod val="10000"/>
                  </a:schemeClr>
                </a:solidFill>
              </a:rPr>
              <a:t>datasheetcatalog.com for details</a:t>
            </a:r>
          </a:p>
        </p:txBody>
      </p:sp>
      <p:pic>
        <p:nvPicPr>
          <p:cNvPr id="52232" name="Picture 4" descr="lmxxx_pi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85605" y="1865630"/>
            <a:ext cx="2465388"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3" name="Text Box 6"/>
          <p:cNvSpPr txBox="1">
            <a:spLocks noChangeArrowheads="1"/>
          </p:cNvSpPr>
          <p:nvPr/>
        </p:nvSpPr>
        <p:spPr bwMode="auto">
          <a:xfrm>
            <a:off x="8737600" y="3407410"/>
            <a:ext cx="327342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charset="-128"/>
              </a:defRPr>
            </a:lvl1pPr>
            <a:lvl2pPr marL="37931725" indent="-37474525">
              <a:defRPr sz="2400">
                <a:solidFill>
                  <a:schemeClr val="tx1"/>
                </a:solidFill>
                <a:latin typeface="Arial" panose="020B0604020202020204" pitchFamily="34" charset="0"/>
                <a:ea typeface="MS PGothic" panose="020B0600070205080204" charset="-128"/>
              </a:defRPr>
            </a:lvl2pPr>
            <a:lvl3pPr>
              <a:defRPr sz="2400">
                <a:solidFill>
                  <a:schemeClr val="tx1"/>
                </a:solidFill>
                <a:latin typeface="Arial" panose="020B0604020202020204" pitchFamily="34" charset="0"/>
                <a:ea typeface="MS PGothic" panose="020B0600070205080204" charset="-128"/>
              </a:defRPr>
            </a:lvl3pPr>
            <a:lvl4pPr>
              <a:defRPr sz="2400">
                <a:solidFill>
                  <a:schemeClr val="tx1"/>
                </a:solidFill>
                <a:latin typeface="Arial" panose="020B0604020202020204" pitchFamily="34" charset="0"/>
                <a:ea typeface="MS PGothic" panose="020B0600070205080204" charset="-128"/>
              </a:defRPr>
            </a:lvl4pPr>
            <a:lvl5pPr>
              <a:defRPr sz="2400">
                <a:solidFill>
                  <a:schemeClr val="tx1"/>
                </a:solidFill>
                <a:latin typeface="Arial" panose="020B0604020202020204" pitchFamily="34" charset="0"/>
                <a:ea typeface="MS PGothic" panose="020B060007020508020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MS PGothic" panose="020B0600070205080204" charset="-128"/>
              </a:defRPr>
            </a:lvl9pPr>
          </a:lstStyle>
          <a:p>
            <a:pPr eaLnBrk="0" fontAlgn="base" hangingPunct="0">
              <a:spcBef>
                <a:spcPct val="0"/>
              </a:spcBef>
              <a:spcAft>
                <a:spcPct val="0"/>
              </a:spcAft>
            </a:pPr>
            <a:r>
              <a:rPr lang="en-US" altLang="en-US" sz="1600">
                <a:solidFill>
                  <a:srgbClr val="FF2C2C"/>
                </a:solidFill>
              </a:rPr>
              <a:t>beware that housing is not always ground</a:t>
            </a:r>
          </a:p>
        </p:txBody>
      </p:sp>
      <p:sp>
        <p:nvSpPr>
          <p:cNvPr id="52234" name="Line 7"/>
          <p:cNvSpPr>
            <a:spLocks noChangeShapeType="1"/>
          </p:cNvSpPr>
          <p:nvPr/>
        </p:nvSpPr>
        <p:spPr bwMode="auto">
          <a:xfrm rot="3360000" flipH="1" flipV="1">
            <a:off x="9764395" y="3175000"/>
            <a:ext cx="533400" cy="14605"/>
          </a:xfrm>
          <a:prstGeom prst="line">
            <a:avLst/>
          </a:prstGeom>
          <a:noFill/>
          <a:ln w="9525">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sz="2400">
              <a:solidFill>
                <a:srgbClr val="1B28F6"/>
              </a:solidFill>
              <a:latin typeface="Arial" panose="020B0604020202020204" pitchFamily="34" charset="0"/>
              <a:ea typeface="MS PGothic" panose="020B0600070205080204" charset="-128"/>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A8C9-0FDD-498B-A0CA-A2048C9D32D0}"/>
              </a:ext>
            </a:extLst>
          </p:cNvPr>
          <p:cNvSpPr>
            <a:spLocks noGrp="1"/>
          </p:cNvSpPr>
          <p:nvPr>
            <p:ph type="title"/>
          </p:nvPr>
        </p:nvSpPr>
        <p:spPr/>
        <p:txBody>
          <a:bodyPr/>
          <a:lstStyle/>
          <a:p>
            <a:r>
              <a:rPr lang="en-US" dirty="0"/>
              <a:t>ASSIGNMENT 2</a:t>
            </a:r>
            <a:endParaRPr lang="en-GH" dirty="0"/>
          </a:p>
        </p:txBody>
      </p:sp>
      <p:sp>
        <p:nvSpPr>
          <p:cNvPr id="3" name="Content Placeholder 2">
            <a:extLst>
              <a:ext uri="{FF2B5EF4-FFF2-40B4-BE49-F238E27FC236}">
                <a16:creationId xmlns:a16="http://schemas.microsoft.com/office/drawing/2014/main" id="{A408873E-3F9D-4ABF-80FB-14CD8D37754F}"/>
              </a:ext>
            </a:extLst>
          </p:cNvPr>
          <p:cNvSpPr>
            <a:spLocks noGrp="1"/>
          </p:cNvSpPr>
          <p:nvPr>
            <p:ph idx="1"/>
          </p:nvPr>
        </p:nvSpPr>
        <p:spPr>
          <a:xfrm>
            <a:off x="609600" y="1524000"/>
            <a:ext cx="10972800" cy="4603750"/>
          </a:xfrm>
        </p:spPr>
        <p:txBody>
          <a:bodyPr/>
          <a:lstStyle/>
          <a:p>
            <a:r>
              <a:rPr lang="en-US" dirty="0"/>
              <a:t>Is uploaded on the E-learning</a:t>
            </a:r>
            <a:endParaRPr lang="en-GH" dirty="0"/>
          </a:p>
        </p:txBody>
      </p:sp>
      <p:sp>
        <p:nvSpPr>
          <p:cNvPr id="6" name="Slide Number Placeholder 5">
            <a:extLst>
              <a:ext uri="{FF2B5EF4-FFF2-40B4-BE49-F238E27FC236}">
                <a16:creationId xmlns:a16="http://schemas.microsoft.com/office/drawing/2014/main" id="{07BCF633-FD21-43DB-8669-FC86B2F2B283}"/>
              </a:ext>
            </a:extLst>
          </p:cNvPr>
          <p:cNvSpPr>
            <a:spLocks noGrp="1"/>
          </p:cNvSpPr>
          <p:nvPr>
            <p:ph type="sldNum" sz="quarter" idx="12"/>
          </p:nvPr>
        </p:nvSpPr>
        <p:spPr/>
        <p:txBody>
          <a:bodyPr/>
          <a:lstStyle/>
          <a:p>
            <a:fld id="{56B950AF-1E29-4457-8775-32F51CE1BEDC}" type="slidenum">
              <a:rPr lang="en-US" altLang="en-US" smtClean="0"/>
              <a:t>34</a:t>
            </a:fld>
            <a:endParaRPr lang="en-US" altLang="en-US"/>
          </a:p>
        </p:txBody>
      </p:sp>
    </p:spTree>
    <p:extLst>
      <p:ext uri="{BB962C8B-B14F-4D97-AF65-F5344CB8AC3E}">
        <p14:creationId xmlns:p14="http://schemas.microsoft.com/office/powerpoint/2010/main" val="1458689540"/>
      </p:ext>
    </p:extLst>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2599</Words>
  <Application>Microsoft Office PowerPoint</Application>
  <PresentationFormat>Widescreen</PresentationFormat>
  <Paragraphs>346</Paragraphs>
  <Slides>34</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34</vt:i4>
      </vt:variant>
    </vt:vector>
  </HeadingPairs>
  <TitlesOfParts>
    <vt:vector size="40" baseType="lpstr">
      <vt:lpstr>Arial</vt:lpstr>
      <vt:lpstr>Calibri</vt:lpstr>
      <vt:lpstr>Times</vt:lpstr>
      <vt:lpstr>Wingdings</vt:lpstr>
      <vt:lpstr>Gear Drives</vt:lpstr>
      <vt:lpstr>1_Gear Drives</vt:lpstr>
      <vt:lpstr>BASIC ELECTRONICS (CENG 102)</vt:lpstr>
      <vt:lpstr>INFO:</vt:lpstr>
      <vt:lpstr>ASSIGNMENT </vt:lpstr>
      <vt:lpstr>Diode  Applications</vt:lpstr>
      <vt:lpstr>Diode  Applications</vt:lpstr>
      <vt:lpstr>Important Terminology</vt:lpstr>
      <vt:lpstr>Direct Current and its Voltage Waveform</vt:lpstr>
      <vt:lpstr>Characteristics of DC</vt:lpstr>
      <vt:lpstr>Alternating Current (AC)</vt:lpstr>
      <vt:lpstr>Waveform of AC Voltage</vt:lpstr>
      <vt:lpstr>Comparison of DC &amp; AC</vt:lpstr>
      <vt:lpstr>DC power supply: Batteries</vt:lpstr>
      <vt:lpstr>Power Supplies and Regulation</vt:lpstr>
      <vt:lpstr>Diodes</vt:lpstr>
      <vt:lpstr>Diode Makeup</vt:lpstr>
      <vt:lpstr>LEDs: Light-Emitting Diodes</vt:lpstr>
      <vt:lpstr>Getting DC back out of AC</vt:lpstr>
      <vt:lpstr>Doing Better: Full-wave Diode Bridge</vt:lpstr>
      <vt:lpstr>Full-Wave Dual-Supply</vt:lpstr>
      <vt:lpstr>Smoothing out the Bumps</vt:lpstr>
      <vt:lpstr>How smooth is smooth?</vt:lpstr>
      <vt:lpstr>Regulating the Voltage</vt:lpstr>
      <vt:lpstr>The Zener Regulator</vt:lpstr>
      <vt:lpstr>Zener diodes as voltage regulators</vt:lpstr>
      <vt:lpstr>PowerPoint Presentation</vt:lpstr>
      <vt:lpstr>Diagram</vt:lpstr>
      <vt:lpstr>Key points</vt:lpstr>
      <vt:lpstr>Key points</vt:lpstr>
      <vt:lpstr>PowerPoint Presentation</vt:lpstr>
      <vt:lpstr>Sample problem</vt:lpstr>
      <vt:lpstr>Solution</vt:lpstr>
      <vt:lpstr>Voltage Regulator IC</vt:lpstr>
      <vt:lpstr>Voltage Regulators</vt:lpstr>
      <vt:lpstr>ASSIGNMENT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JOWUSU</dc:creator>
  <cp:lastModifiedBy>OJoseph</cp:lastModifiedBy>
  <cp:revision>28</cp:revision>
  <dcterms:created xsi:type="dcterms:W3CDTF">2018-03-08T09:36:00Z</dcterms:created>
  <dcterms:modified xsi:type="dcterms:W3CDTF">2020-05-07T15:17:39Z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1033-11.2.0.9232</vt:lpwstr>
  </property>
</Properties>
</file>